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dos estudiantes que escriban el algoritmo de "hacer un mate" y leerlos en voz alta: siempre falta algún paso (calentar el agua, cargar la yerba).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versión exacta depende de cada máquina; lo importante es que empiece con "Python 3".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programar? Entorno y primer programa en Python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un algoritmo, cómo ejecuta la compu un programa y cómo escribir y correr tu primer archivo .py.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qué es un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cuáles son sus propiedades.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Describir qué pasa en CPU, RAM y disco al ejecutar un programa.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Diferenciar un lenguaje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compilado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uno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interpretado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Python, configurar el PATH y usar VS Code con la terminal.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un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leer un error.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son, sus propiedades y en qué se diferencian de un programa.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compu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hacen el disco, la RAM y la CPU cuando corrés un programa.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Compilado vs interpretado y por qué elegimos Python.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Python, el PATH, VS Code y la terminal.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 programa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 vs archivo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un error de sintaxis y cómo leer el mensaje.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la primera clase: no hace falta saber nada de antes. Sólo traé curiosidad, ganas de equivocarte y una compu (propia o del instituto). Todo lo que veamos hoy lo vas a usar en cada clase de la cursada.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programar?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Programar no es escribir en inglés raro: es explicarle a una máquina, paso por paso y sin ambigüedades, cómo resolver un problema.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algoritmo?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algoritmo es una lista ordenada y finita de pasos claros que transforma datos de entrada en un resultado.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problema tiene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(los datos que tenés), un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 que hacés con ellos) y una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(el resultado que querés).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593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41064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algoritmo es la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orden exacto de los pasos. Existe antes de la compu: lo podés escribir en papel o en castellano.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960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77740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computadora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tiene sentido común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adivina lo que quisiste decir. Si un paso es confuso o falta, no lo completa sola.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269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8676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programar es, antes que nada,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pensar bien los pasos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Escribirlos en Python viene después.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910840"/>
          </a:xfrm>
          <a:prstGeom prst="roundRect">
            <a:avLst>
              <a:gd name="adj" fmla="val 3770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🍳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Pensalo como una receta de cocina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 ingredientes (entrada), pasos en orden (proceso) y un plato final (salida). Si dice "cociná un rato", cada uno hace algo distinto; una buena dice "hervir 8 minutos". Un algoritmo es una receta tan precisa que una máquina la sigue sin preguntar.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PROPIEDADES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propiedades que todo algoritmo debe cumplir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5 / 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713771"/>
                <a:gridCol w="3788337"/>
                <a:gridCol w="2705955"/>
                <a:gridCol w="2886352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Propiedad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significa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Mal escrito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Bien escrito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Precisión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paso se entiende de una sola manera: no deja lugar a interpretaciones.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"Poné un poco de sal."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"Agregá 5 gramos de sal."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Determinismo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los mismos datos de entrada, siempre da la misma salida.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"Elegí un número que te guste."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"Tomá el número mayor de la lista."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Finitud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Termina después de una cantidad finita de pasos. No se queda dando vueltas para siempre.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"Revolvé hasta que esté rico."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"Revolvé 2 minutos."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Entrada y salida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Recibe datos (pueden ser cero) y produce al menos un resultado.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"Calculá el total." (¿de qué?)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"Con precio y cantidad, calculá precio × cantidad."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 pasos se ejecutan en una secuencia definida: cambiar el orden cambia el resultado.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"Serví el agua. Calentá el agua."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"Calentá el agua. Serví el agua."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 algoritmo falla en papel, va a fallar en la compu. Por eso primero se piensa y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escribe código.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HARDWARE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pasa dentro de la compu cuando ejecutás un programa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archivo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vive guardado en el disco o SSD. El disco es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aunque apagues la compu, el archivo sigue ahí.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ejecutarlo, el sistema operativo lo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 a la RAM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la memoria de trabajo. Es muy rápida pero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volátil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borra al apagar.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553048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procesador toma una instrucción, la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decodifica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Repite ese ciclo millones de veces por segundo.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3" name="Shape 19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9440951" y="2331720"/>
            <a:ext cx="2019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resultado aparece en la pantalla, se guarda en un archivo o se manda por la red. Recién ahí "ves" que el programa hizo algo.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Pensalo en una cocina: el disco es la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alacena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(guarda), la RAM es la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mesada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(donde trabajás ahora) y la CPU es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quien cocina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Lenguajes compilados vs interpretados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7 / 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74565"/>
                <a:gridCol w="4509925"/>
                <a:gridCol w="450992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Compilado (C, Rust, Go)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Interpretado (Python)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traduce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compilador traduce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el programa a código de máquina antes de ejecutarlo.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lee el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.py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lo pasa a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bytecode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una máquina virtual lo ejecuta instrucción por instrucción.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obtenés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ejecutable (por ejemplo, un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.exe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 que corre sin el compilador.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hay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.exe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para correrlo necesitás tener Python instalado.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Velocidad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Muy rápido: ya está traducido a lenguaje de máquina.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Más lento, pero de sobra para la mayoría de los programas.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Probar un cambio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Hay que volver a compilar cada vez.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Guardás y ejecutás al instante. Ideal para aprender.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Cuándo aparecen los errores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Muchos se detectan al compilar, antes de ejecutar.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 de sintaxis, antes de empezar; los demás, cuando se llega a esa línea.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Técnicamente Python es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mixto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compila a bytecode y lo interpreta la PVM (Python Virtual Machine). Para vos, en la práctica, se comporta como interpretado.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PYTHON POR DENTRO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hace Python con tu archivo .py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lee tu código, revisa que esté bien escrito, lo traduce y lo ejecuta línea por línea, de arriba hacia abajo.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archivo, que para la compu es sólo texto. Todavía no "sabe" lo que significa.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86784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 la sintaxis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(las reglas de escritura del lenguaje). Si falta un paréntesis, frena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ejecutar nada.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103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92040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Traduce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bytecode, un código intermedio que no está pensado para que lo lean personas.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869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68696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máquina virtual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(PVM) ejecuta ese bytecode en orden. Por eso lo que está más abajo en el archivo ocurre después.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intérprete en una conferencia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traductor de libros traduce la obra entera y te entrega el libro terminado: eso es compilar. Un intérprete en una charla escucha una frase y la traduce en el momento: eso hace Python. Es más lento, pero podés cambiar lo que decís y ver el efecto enseguida.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02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50" dirty="0"/>
          </a:p>
        </p:txBody>
      </p:sp>
      <p:sp>
        <p:nvSpPr>
          <p:cNvPr id="29" name="Text 25"/>
          <p:cNvSpPr txBox="1"/>
          <p:nvPr/>
        </p:nvSpPr>
        <p:spPr>
          <a:xfrm>
            <a:off x="7791450" y="4160520"/>
            <a:ext cx="378759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"Primero"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"Segundo"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"Tercero"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Primero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Segundo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Tercero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aprendemos con Python?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lee casi como texto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Creado por Guido van Rossum en 1991 con una meta: que el código sea fácil de leer. No usa llaves ni punto y coma, así que te concentrás en la lógica y no en los símbolos.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🧰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Sirve para todo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usa en páginas web, análisis de datos, inteligencia artificial, automatización y ciencia. Lo que aprendas acá lo vas a poder aplicar en muchos trabajos distintos.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aprendido se transfiere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Variables, decisiones, ciclos y funciones existen en todos los lenguajes. Si los entendés en Python, después aprender Java o JavaScript es mucho más fácil.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33008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101688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 enorme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gratuito y tiene miles de tutoriales, foros y bibliotecas. Casi cualquier error que te aparezca ya le pasó a otra persona y la solución está documentada.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nombre viene del grupo de humor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Monty Python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de la víbora. Probá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this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el REPL: aparece el Zen de Python ("la legibilidad cuenta").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OFICIO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Junior, semisenior y senior: cómo crece un programador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10 / 25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43176"/>
                <a:gridCol w="1713771"/>
                <a:gridCol w="4509925"/>
                <a:gridCol w="3427543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Nivel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Experiencia aprox.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 en el día a día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qué se enfoca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Junior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a 2 años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Resuelve tareas acotadas con acompañamiento. Su código lo revisa alguien con más experiencia (code review).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Dominar los fundamentos, Git y buenas prácticas. Preguntar con criterio.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Semisenior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a 5 años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Implementa funcionalidades completas con poca supervisión. Detecta fallas de seguridad en código ajeno.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Justificar sus decisiones técnicas y trabajar con autonomía.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Senior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años o más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Diseña la arquitectura, decide qué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construir y responde ante problemas graves en producción.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Liderar, enseñar al equipo y elevar la calidad de todo el proyecto.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nivel se mide por la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autonomía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resolver problemas, no por los años. Hoy empezás el camino del junior: fundamentos sólidos primero.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entorno y primer programa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Hoy dejamos la compu lista para trabajar toda la cursada y escribimos el primer programa que funciona de verdad.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Python en Windows paso a paso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Entrá a </a:t>
            </a:r>
            <a:pPr algn="l" indent="0" marL="0">
              <a:buNone/>
            </a:pPr>
            <a:r>
              <a:rPr lang="en-US" sz="16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python.org</a:t>
            </a:r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sección Downloads, y bajá la última versión de </a:t>
            </a:r>
            <a:pPr algn="l" indent="0" marL="0">
              <a:buNone/>
            </a:pPr>
            <a:r>
              <a:rPr lang="en-US" sz="16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</a:t>
            </a:r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 hace falta instalar distribuciones enormes como Anaconda.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Marcar PATH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primera pantalla del instalador marcá </a:t>
            </a:r>
            <a:pPr algn="l" indent="0" marL="0">
              <a:buNone/>
            </a:pPr>
            <a:r>
              <a:rPr lang="en-US" sz="16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python.exe to PATH</a:t>
            </a:r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 la casilla más importante de todo el proceso.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Abrí una terminal nueva y escribí el comando. Si responde con un número de versión, Python quedó instalado.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507328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644488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5" name="Shape 21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Instalá Visual Studio Code y, dentro de él, la extensión </a:t>
            </a:r>
            <a:pPr algn="l" indent="0" marL="0">
              <a:buNone/>
            </a:pPr>
            <a:r>
              <a:rPr lang="en-US" sz="16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pPr algn="l" indent="0" marL="0">
              <a:buNone/>
            </a:pPr>
            <a:r>
              <a:rPr lang="en-US" sz="16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Microsoft: colorea el código y ayuda a encontrar errores.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ya habías abierto la terminal antes de instalar, cerrala y abrí otra: la terminal lee el PATH sólo cuando arranca.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SISTEMA OPERATIVO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el PATH y por qué hay que marcarlo?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PATH es una lista de carpetas donde Windows busca los programas cuando escribís su nombre en la terminal.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escribís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Windows no revisa todo el disco: sólo busca en las carpetas anotadas en la variable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86784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carpeta donde se instaló Python no está en esa lista, aparece el error "python no se reconoce como un comando interno o externo".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103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92040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Marcar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python.exe to PATH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agrega esa carpeta automáticamente. Por eso es la casilla clave del instalador.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869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68696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comprobarlo: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la versión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python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en qué carpeta está.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12620"/>
          </a:xfrm>
          <a:prstGeom prst="roundRect">
            <a:avLst>
              <a:gd name="adj" fmla="val 573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📒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agenda del celular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le decís al celular "llamá a Juan" y Juan no está agendado, no puede llamarlo aunque Juan exista. El PATH es la agenda de Windows: si Python no está anotado ahí, la terminal no lo encuentra aunque esté instalado.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604260"/>
            <a:ext cx="4327855" cy="841248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505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505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505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591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(PowerShell)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61460"/>
            <a:ext cx="224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061460"/>
            <a:ext cx="378378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4628388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47198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012436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3.14.7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y la terminal: lo que vas a usar todos los días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14 / 25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74565"/>
                <a:gridCol w="3788337"/>
                <a:gridCol w="5231513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Acción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hace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 qué sirve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Abrir una carpeta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Archivo → Abrir carpeta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Trabajar con todos los archivos de la clase juntos en el explorador lateral.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Crear un archivo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Nuevo archivo, con nombre terminado en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extensión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.py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le avisa a VS Code y a Python que es código Python.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Abrir la terminal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Menú Terminal → Nueva terminal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terminal es la ventana donde le das órdenes escritas a la compu.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Ejecutar un archivo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hola.py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lee y ejecuta el archivo. Tenés que estar en la carpeta donde está guardado.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 dónde estás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pwd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(carpeta actual) y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(archivos)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Python dice que no encuentra el archivo, casi siempre estás en otra carpeta.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Cambiar de carpeta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nombre_carpeta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..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para subir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Moverte hasta la carpeta del proyecto antes de ejecutar.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Repetir un comando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Flecha ↑ del teclado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 el último comando: no hace falta volver a escribirlo.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Cortar un programa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 + 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Frena un programa que se colgó o que no termina nunca.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guardá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antes de ejecutar: Python corre lo que está en el disco, no lo que ves sin guardar en el editor.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formas de usar Python: REPL y archivo .py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 (consola interactiva &gt;&gt;&gt;)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495"/>
              </a:spcAft>
              <a:buSzPct val="100000"/>
              <a:buChar char="•"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abre escribiendo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terminal. Se sale con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algn="l" marL="203200" indent="-203200">
              <a:spcAft>
                <a:spcPts val="495"/>
              </a:spcAft>
              <a:buSzPct val="100000"/>
              <a:buChar char="•"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una línea, la evalúa, </a:t>
            </a:r>
            <a:pPr algn="l" indent="0" marL="0">
              <a:buNone/>
            </a:pPr>
            <a:r>
              <a:rPr lang="en-US" sz="1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muestra el resultado solo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espera otra.</a:t>
            </a:r>
            <a:endParaRPr lang="en-US" sz="1100" dirty="0"/>
          </a:p>
          <a:p>
            <a:pPr algn="l" marL="203200" indent="-203200">
              <a:spcAft>
                <a:spcPts val="495"/>
              </a:spcAft>
              <a:buSzPct val="100000"/>
              <a:buChar char="•"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 para probar ideas rápidas. Lo que escribís se pierde al cerrar.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77240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49680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'53'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Archivo .py (script)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7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Escribís el programa completo y lo guardás en el disco.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ejecuta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archivo.py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 arriba hacia abajo.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 muestra lo que le pedís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resto se calcula y se descarta.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07328" y="4142232"/>
            <a:ext cx="4907128" cy="1069848"/>
          </a:xfrm>
          <a:prstGeom prst="roundRect">
            <a:avLst>
              <a:gd name="adj" fmla="val 854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428853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428853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428853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419709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599432"/>
            <a:ext cx="21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979768" y="4599432"/>
            <a:ext cx="43706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lnSpc>
                <a:spcPts val="1750"/>
              </a:lnSpc>
              <a:buNone/>
            </a:pPr>
            <a:r>
              <a:rPr lang="en-US" sz="14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muestra nada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algn="l" indent="0" marL="0">
              <a:lnSpc>
                <a:spcPts val="1750"/>
              </a:lnSpc>
              <a:buNone/>
            </a:pPr>
            <a:r>
              <a:rPr lang="en-US" sz="14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muestra 4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 = Read-Eval-Print Loop: leer, evaluar, imprimir y repetir. Es tu laboratorio. 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lo que se guarda, se versiona y se entrega.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clase02_primer_programa.py: las tres primeras acciones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clase02_primer_programa.py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ACCION 1: mostrar texto en pantalla ---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 mundo!"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ACCION 2: print puede recibir varios valores separados por comas ---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 + 2 es"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¿Que hace la coma? print evalua cada cosa: el texto queda igual y la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EXPRESION 2 + 2 se CALCULA (da 4). print los muestra separados por espacio.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calcula? Porque antes de imprimir, Python resuelve la expresion.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ACCION 3: f-strings ---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f"Bienvenida, {nombre}"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f activa el "modo plantilla": lo que va entre {} se EVALUA.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"Hola, mundo" es la prueba clásica: si se ve, editor, intérprete y terminal funcionan.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2037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L58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185416"/>
            <a:ext cx="3139135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coma separa </a:t>
            </a:r>
            <a:pPr algn="l" indent="0" marL="0">
              <a:buNone/>
            </a:pPr>
            <a:r>
              <a:rPr lang="en-US" sz="1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varios valores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texto queda igual y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+ 2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calcula antes de mostrar.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2608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L59–61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907792"/>
            <a:ext cx="3139135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Líneas con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</a:t>
            </a:r>
            <a:pPr algn="l" indent="0" marL="0">
              <a:buNone/>
            </a:pPr>
            <a:r>
              <a:rPr lang="en-US" sz="1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Python las ignora. Sirven para explicar el código a personas.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6484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630168"/>
            <a:ext cx="3139135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"Ana"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 un texto con un nombre. Las variables las vemos a fondo en la clase 2.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37083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L65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352544"/>
            <a:ext cx="3139135" cy="426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las comillas reemplaza </a:t>
            </a:r>
            <a:pPr algn="l" indent="0" marL="0">
              <a:buNone/>
            </a:pPr>
            <a:r>
              <a:rPr lang="en-US" sz="11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{nombre}</a:t>
            </a:r>
            <a:pPr algn="l"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su valor: es una f-string.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Hola, mundo!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+ 2 es 4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Bienvenida, Ana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SALIDA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print() a fondo: sep y end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valores en pantalla. Con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elegís qué va entre ellos y con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qué va al final.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le pasás varios valores separados por coma,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muestra con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espacio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el medio. Ese espacio es el valor por defecto de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sep="/"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cambiás el separador: sirve para armar fechas, rutas o listas sin pegar textos a mano.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agrega 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salto de línea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por eso cada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aparece en un renglón nuevo. Ese es el valor por defecto de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end="... 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cursor se queda en la misma línea y el próximo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sigue a continuación.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🖨️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escribir una lista en el pizarrón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lo que ponés entre cada palabra (un espacio, una barra, una coma).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lo que hacés al terminar: bajar al renglón de abajo o quedarte en el mismo para seguir escribiendo.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print_sep_end.py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"mundo"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"Cargando"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"listo"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 mundo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7/9/2026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Cargando... listo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ERRORES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error de sintaxis?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código que rompe las reglas de escritura de Python. El programa no llega a ejecutar ni la primera línea.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lenguaje tiene una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gramática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dónde van los paréntesis, las comillas y los dos puntos. Esas reglas se llaman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sintaxis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ejecutar, Python revisa el archivo entero. Si encuentra algo mal escrito, frena y muestra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mensaje dice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qué línea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está el problema y marca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lugar aproximado. A veces el error real está justo en la línea anterior.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Otros errores aparecen recién al ejecutar esa línea: por ejemplo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usás un nombre que no existe.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formulario mal completado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en la AFIP ponés letras donde va el CUIT, el sistema ni siquiera procesa el trámite: te rechaza el formulario y te marca el campo. Python hace lo mismo con tu archivo: primero revisa que esté bien escrito y recién después lo "procesa".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841248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472744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481888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11149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print("Hola"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^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SyntaxError: '(' was never closed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ERRORES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leer los primeros mensajes de error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19 / 25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74565"/>
                <a:gridCol w="4419726"/>
                <a:gridCol w="460012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Código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Mensaje de Python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significa y cómo se arregla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print("Hola"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SyntaxError: '(' was never closed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Abriste un paréntesis y no lo cerraste. Agregá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al final.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 "Hola"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SyntaxError: Missing parentheses in call to 'print'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Python 3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siempre lleva paréntesis: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print("Hola")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print(Hola)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NameError: name 'Hola' is not defined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comillas, Python busca una variable llamada Hola. Si es texto, va entre comillas.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Print("Hola")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NameError: name 'Print' is not defined. Did you mean: 'print'?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distingue mayúsculas: sólo existe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 minúscula.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print("x")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IndentationError: unexpected indent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Hay espacios al principio de la línea sin motivo. Borralos.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Leé el error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abajo hacia arriba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última línea dice qué pasó y las de arriba dicen dónde. Copiá ese texto exacto si tenés que buscar ayuda.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clase02_primer_programa.py: comillas y experimentos en el REPL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20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clase02_primer_programa.py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¿QUE ES UNA CADENA (string) Y POR QUE LAS COMILLAS?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 texto es una SECUENCIA de caracteres guardada en memoria. Las comillas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 dicen al interprete "esto es texto, no codigo". Sin comillas, print(Hola)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busca una VARIABLE llamada Hola -&gt; NameError: name 'Hola' is not defined.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¿Simple o dobles? Python acepta "..." y '...' por igual: son lo mismo.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Las f-strings (la f antes de las comillas) permiten incrustar variables: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f"Bienvenida, {nombre}" -&gt; Python reemplaza {nombre} por su valor.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EXPERIMENTOS: probá en el REPL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&gt;&gt;&gt; 2 + 2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&gt;&gt;&gt; "Pro" + "gramacion"      (¿que hace el + con textos?)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&gt;&gt;&gt; print("linea1\nlinea2")  (\n = salto de linea)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&gt;&gt;&gt; exit()                   (para salir del REPL)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L40–41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comillas le dicen a Python "esto es texto, no código".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513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33016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comillas,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Hola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toma como un nombre de variable que no existe: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62128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L43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02992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Comillas simples o dobles dan lo mismo. Elegí unas y usalas siempre igual.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1912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L92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172968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textos,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suma: </a:t>
            </a:r>
            <a:pPr algn="l" indent="0" marL="0">
              <a:buNone/>
            </a:pPr>
            <a:r>
              <a:rPr lang="en-US" sz="11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 texto al lado del otro.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76123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L93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742944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dentro de un texto es un salto de línea.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"Pro" + "gramacion"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'Programacion'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print("linea1\nlinea2")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linea1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linea2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Mayúsculas en print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distingue mayúsculas: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existe y da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Print("Hola")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print("Hola")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sin comillas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comillas Python busca una variable con ese nombre.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print(Hola mundo)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 mundo")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Esperar resultado sin print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cuenta suelta se calcula y no se muestra.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+ 2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+ 2)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el PATH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terminal no encuentra Python aunque esté instalado.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se reconoce...)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Reinstalar marcando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python.exe to PATH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¿Necesito saber mucha matemática para programar?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Hace falta razonamiento lógico, atención al detalle y paciencia para dividir un problema en pasos chicos. La matemática de primer año es aritmética básica y lógica de verdadero/falso.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Python y no C++ o Java?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tiene menos símbolos que distraen (llaves, punto y coma, tipos declarados) y te deja concentrarte en la lógica. Los fundamentos que aprendas después sirven en cualquier lenguaje.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¿Python compila o interpreta?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dos cosas: compila tu código a bytecode y la máquina virtual lo ejecuta. Desde afuera se comporta como interpretado: no genera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necesitás Python instalado.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en el REPL no necesito print() y en el archivo sí?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REPL muestra solo el valor de cada expresión que escribís. Un archivo sólo hace lo que le ordenás: sin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el resultado se calcula y se descarta en silencio.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en papel el algoritmo de "cepillarse los dientes" en no más de 10 pasos precisos.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tres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tu nombre, tu ciudad y tu comida favorita.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en el REPL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+ 3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"5" + "3"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 / 2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anotar qué da cada uno.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entrada, proceso y salida de "preparar un sándwich".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la fecha de hoy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sep="-"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tres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aparezcan en una sola línea usando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un algoritmo cotidiano con decisiones ("si llueve...") y repeticiones ("mientras haya...").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Dibujar un rectángulo de asteriscos de 3 × 10 usando sólo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Provocar a propósito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explicar cada mensaje.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Codigos/clase02_primer_programa.py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Ejecutalo, cambiá los textos y rompelo a propósito para leer los errores.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 el mensaje exacto de error de la terminal y pedir que te explique qué significa.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una analogía de cómo trabajan juntos el disco, la RAM y la CPU.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Mostrarle un algoritmo tuyo en castellano y pedir que marque los pasos ambiguos.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piense la solución antes de que intentes separar entrada, proceso y salida.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comandos de administrador que te sugiera sin entender qué modifican.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programas gigantes o extraños sólo porque la IA los nombró.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“Actuá como docente de introducción a la programación. Te voy a pasar un algoritmo escrito en castellano para hacer un mate. Señalame qué pasos son ambiguos o infinitos y haceme dos preguntas para que lo corrija yo, sin darme la solución.”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receta precisa, finita y ordenada; el programa es su código.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 guarda, RAM trabaja y CPU ejecuta: así corre cualquier programa.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traduce a bytecode y lo ejecuta de arriba hacia abajo, línea por línea.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el PATH la terminal no encuentra Python: marcá la casilla al instalar.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ves lo que mostrás con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los errores se leen de abajo hacia arriba.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Python y VS Code en casa, ejecutar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clase02_primer_programa.py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escribir en papel un algoritmo cotidiano.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1, pp. 7–11.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Cap. 2 «Mi primer programa en Python», pp. 12–14.</a:t>
            </a:r>
            <a:endParaRPr lang="en-US" sz="12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</a:t>
            </a:r>
            <a:pPr algn="l" indent="0" marL="0">
              <a:buNone/>
            </a:pPr>
            <a:r>
              <a:rPr lang="en-US" sz="12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Codigos/clase02_primer_programa.py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Variables, tipos de datos y entrada/salida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01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01 - ¿Qué es programar? Entorno y primer programa en Python</dc:title>
  <dc:subject>PptxGenJS Presentation</dc:subject>
  <dc:creator>Prof. Ricardo Fernández</dc:creator>
  <cp:lastModifiedBy>Prof. Ricardo Fernández</cp:lastModifiedBy>
  <cp:revision>1</cp:revision>
  <dcterms:created xsi:type="dcterms:W3CDTF">2026-09-14T09:55:36Z</dcterms:created>
  <dcterms:modified xsi:type="dcterms:W3CDTF">2026-09-14T09:55:36Z</dcterms:modified>
</cp:coreProperties>
</file>