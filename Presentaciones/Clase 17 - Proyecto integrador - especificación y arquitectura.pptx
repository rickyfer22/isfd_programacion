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integrador: especificación y arquitectura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programar, se piensa: qué tiene que hacer el sistema, cómo se organiza el código y cómo trabaja el equipo hasta la entrega.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Diferenciar un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requerimiento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una idea vaga.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historias de usuario con criterio de aceptación.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Organizar el programa en capas: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datos, lógica e interfaz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Recorrer la plantilla del TP y explicar cada función.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Conocer criterios de evaluación, roles y cronograma de entrega.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Requerimientos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tiene que hacer el sistema, dicho sin ambigüedad.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Especificación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documento corto que se escribe antes del código.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Capas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Datos, lógica e interfaz: cada parte con su tarea.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Recorremos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capa por capa.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Criterios, coloquio y qué te pueden preguntar.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Equipos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y cronograma hasta la entrega.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guardamos datos en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(tablas planas) y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(listas y diccionarios con su forma), y armamos un ABM con el patrón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→ modificar en memoria → guardar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Ese patrón es el corazón del proyecto integrador.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enunciado a la especificación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mayoría de los proyectos no fallan por el código: fallan porque nadie definió bien qué había que construir.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requerimiento?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requerimiento es una frase que dice algo concreto que el sistema debe hacer, de forma que se pueda comprobar si lo hace.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"Un sistema para la veterinaria" es una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un requerimiento: no dice qué hace ni cómo sabemos que está terminado.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593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41064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"El sistema permite registrar una mascota con nombre, especie y edad" sí es un requerimiento: se puede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decir sí o no.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5902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572000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dos clases: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(qué hace: alta, listado, búsqueda) y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funcionales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(cómo lo hace: guarda en JSON, no se cae con datos inválidos).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269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8676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importa? Porque en equipo cada uno imagina algo distinto. Escribirlo evita discutir al final "yo pensé que era otra cosa".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667000"/>
          </a:xfrm>
          <a:prstGeom prst="roundRect">
            <a:avLst>
              <a:gd name="adj" fmla="val 4114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🎂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encargar una torta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"Quiero una torta" no alcanza. "De chocolate, para 20 personas, que diga Feliz cumple Ana, para el sábado a las 18" sí: la pastelera sabe qué hacer y vos podés verificar si te dio lo que pediste. Eso es un requerimiento.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REQUERIMIENTOS DEL TP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tu proyecto integrador tiene que cumplir sí o sí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5 / 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3850954"/>
                <a:gridCol w="4859537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Requisito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significa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ve en tu código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Menú interactivo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usuario elige opciones hasta que decide salir.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True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if/elif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una opción de salida con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ABM completo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Alta, Baja, Modificación y Listado de registros.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función por operación: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alta()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baja()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modificar()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listado()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 de datos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registros viven en memoria mientras el programa corre.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 de diccionarios: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[{"nombre": ..., "notas": [...]}]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Persistencia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datos no se pierden al cerrar.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guardar()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JSON (o CSV).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 documentadas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función hace una cosa y dice cuál.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Nombres claros en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snake_case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docstring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cada función.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Validación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programa no se cae con datos inválidos.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True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try/except ValueError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al pedir números.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 y GitHub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Historial del trabajo de todo el equipo.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 con commits frecuentes de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todos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los integrantes y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chico y completo le gana a uno enorme a medias. Primero que funcione lo obligatorio; los extras, después.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ESPECIFICACIÓN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especificación: el plano antes de construir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especificación es un documento corto que junta los requerimientos y define los datos antes de escribir código.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Contiene: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y problema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resuelve,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lo usa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(como historias de usuario) y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queda afuera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 de usuario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requerimiento contado desde quien lo usa: "Como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quiero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para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historia lleva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de aceptación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prueba concreta que dice si está terminada.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último,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 datos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cómo es un registro. Si el equipo la acuerda desde el día uno, las funciones de todos encajan.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plano de una casa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Nadie empieza a poner ladrillos sin plano. El plano dice cuántas habitaciones hay y dónde van las cañerías, y así el albañil y el plomero no se pisan. La especificación es el plano de tu programa y del trabajo de tu equipo.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64208"/>
          </a:xfrm>
          <a:prstGeom prst="roundRect">
            <a:avLst>
              <a:gd name="adj" fmla="val 549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estructura_de_datos.py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 = {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 Perez"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HISTORIAS DE USUARIO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Historias de usuario con criterio de aceptación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7030"/>
                <a:gridCol w="3117439"/>
                <a:gridCol w="2475613"/>
                <a:gridCol w="403433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Como...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quiero...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para...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Está terminada cuando...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dar de alta un alumno con 3 notas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tener el registro del curso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Cargo "ana perez" y 8, 9, 10, y en el listado aparece "Ana Perez".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 el listado ordenado por promedio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saber quién va mejor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de promedio más alto aparece primero.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 los datos queden guardados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volver a cargarlos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Doy de alta, salgo, vuelvo a entrar y el alumno sigue.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 el programa no se caiga si me equivoco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perder lo cargado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Escribo "diez" o 11 como nota y me la vuelve a pedir.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 el promedio general del curso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evaluar al grupo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notas 8, 9, 10, 6, 5 y 7 muestra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7.50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podés escribir el criterio de aceptación, la historia todavía es una idea vaga. Estas cinco son las que resuelve la plantilla de la cátedra.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en capas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Separar el código en partes con una sola tarea cada una es lo que permite crecer, probar y trabajar en equipo sin pisarse.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ARQUITECTURA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Capas: la analogía del restaurante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arquitectura en capas divide el programa en partes con una responsabilidad cada una: interfaz, lógica y datos.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única parte que habla con la persona. Muestra el menú, hace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las reglas del problema. Calcula promedios, ordena, valida que la nota esté entre 0 y 10. Recibe datos y devuelve resultados.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(persistencia)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única parte que toca archivos.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cargar()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lee el JSON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guardar()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escribe.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qué? Si mañana cambiás JSON por una base de datos, sólo tocás la capa de datos. Y la lógica se puede probar sin tipear nada en el teclado.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667000"/>
          </a:xfrm>
          <a:prstGeom prst="roundRect">
            <a:avLst>
              <a:gd name="adj" fmla="val 4114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🍝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restaurante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mozo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(interfaz) toma el pedido y te lleva el plato, pero no cocina. La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cocina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(lógica) prepara, pero no atiende mesas. El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depósito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(datos) guarda los ingredientes. Si cambian de proveedor, el mozo ni se entera.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CAPAS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tres capas en la plantilla del TP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10 / 25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50808"/>
                <a:gridCol w="2474908"/>
                <a:gridCol w="2218883"/>
                <a:gridCol w="2474908"/>
                <a:gridCol w="247490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Responsabilidad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Puede usar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debería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la plantilla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🗄️ Datos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Leer y escribir el archivo.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json.load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json.dump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Hacer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ni decidir reglas del negocio.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ARCHIVO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guardar()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⚙️ Lógica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Aplicar las reglas: calcular, ordenar, filtrar, validar rangos.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Listas, diccionarios,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Abrir archivos. Idealmente, tampoco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Cálculo de promedios, orden con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🖥️ Interfaz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Conversar con la persona y coordinar el resto.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llamar a las otras capas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Tener fórmulas o tocar el archivo directamente.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alta()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pedir_nota()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plantilla está en un solo archivo, ordenada por capas. En el proyecto pueden separarla en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datos.py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logica.py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 · CAPA DE DATOS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clase27_plantilla_proyecto.py: constante, cargar y guardar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"alumnos_tp.json"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constante: configuracion en un solo lugar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"""Carga los alumnos desde el archivo JSON (o devuelve lista vacia)."""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(ARCHIVO,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primera ejecucion: archivo todavia no existe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"""Guarda todos los alumnos en el archivo JSON."""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(ARCHIVO,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(alumnos, f, indent=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ensure_ascii=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 en MAYÚSCULAS: si cambia el nombre del archivo, se toca en un solo lugar.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L39–40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Docstring: una línea que dice qué hace la función. Es requisito del TP.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L41–45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JSON no existe es la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ejecución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devuelve una lista vacía.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L47–50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escribe la lista entera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Son las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únicas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funciones que tocan el disco.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 · VALIDACIÓN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clase27_plantilla_proyecto.py: pedir_nota nunca devuelve basura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133088"/>
          </a:xfrm>
          <a:prstGeom prst="roundRect">
            <a:avLst>
              <a:gd name="adj" fmla="val 22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35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(mensaje):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"""Pide una nota (0-10) validando con excepciones. Nunca devuelve basura."""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(mensaje))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v &lt;=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"Dato inválido"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¿pass en el except? "No hago nada especial con el error": el print de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abajo es comun a ambos fallos (fuera de rango o no-numero).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repite hasta que haya un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patrón de validación de la clase de excepciones.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27228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253996"/>
            <a:ext cx="3139135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escriben letras,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saltea el resto del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0632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L57–58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44952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negocio con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sólo sale del ciclo con una nota entre 0 y 10.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66369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L59–61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645408"/>
            <a:ext cx="3139135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hace nada especial. El mensaje de la 61 sirve para los dos fallos.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diez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inválido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11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inválido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 · FLUJO DEL DATO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clase27_plantilla_proyecto.py: alta y el menú principal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8498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89660" y="1920240"/>
            <a:ext cx="611581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"""Carga un alumno nuevo con sus tres notas."""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notas = 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f"Nota {i}: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alumnos.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nombre,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notas})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"""Programa principal: menu con while."""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alumnos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"\n1) Alta  2) Listado  3) Promedio general  4) Salir"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      </a:t>
            </a:r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persistir tras cada alta: anti Ctrl+C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listado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strip().title()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limpia espacios y pone mayúsculas: "  ana perez " → "Ana Perez".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208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L68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02536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Comprensión de listas: llama 3 veces a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junta las notas en una lista.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5603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L69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542032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modifica la lista que recibió: las listas son mutables, no hace falta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0998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L90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081528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carga los datos una vez y se los </a:t>
            </a:r>
            <a:pPr algn="l" indent="0" marL="0">
              <a:buNone/>
            </a:pPr>
            <a:r>
              <a:rPr lang="en-US" sz="10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cada función: nada de variables globales.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63931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L95–96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621024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agrega en memoria; después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decide guardar. Protege contra Ctrl+C.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  ana perez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1: 8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9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3: 10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 agregado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LÓGICA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 con key: ordenar por tu propia regla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sorted() ordena una lista; con key le decís por qué valor comparar cada elemento.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sorted(lista)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una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nueva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ordenada y no modifica la original. Con números y textos sabe ordenar solo.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307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12464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Pero ¿cómo ordena diccionarios? No sabe si por nombre o por promedio.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función que recibe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elemento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devuelve el valor a comparar.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360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17720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lambda a: a["prom"]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anónima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una línea: "para cada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usá su promedio". Es lo mismo que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corto sin nombre.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412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2297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reverse=True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invierte el orden: de mayor a menor. Así el mejor promedio queda primero.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armar la tabla de posiciones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equipos son los mismos, pero la tabla se puede ordenar por puntos, por goles o por nombre. El criterio lo elegís vos: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decir "ordená por puntos"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reverse=True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"el que más tiene, arriba".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sorted_key.py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[{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{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{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(alumnos, key=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a: a[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reverse=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([a[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top])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'Eva', 'Luis']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 · CAPA DE LÓGICA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clase27_plantilla_proyecto.py: listado ordenado y promedio general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4688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1920240"/>
            <a:ext cx="615391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listado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(alumnos):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"""Muestra el listado con promedios, ordenado por promedio descendente."""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(alumnos, key=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x: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/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]), reverse=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 =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/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f"{a['nombre']:&lt;20} {a['notas']} -&gt; {prom:.1f}"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promedio_general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(alumnos):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"""Promedio general del curso."""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alumnos:                 </a:t>
            </a:r>
            <a:pPr algn="l" indent="0" marL="0">
              <a:lnSpc>
                <a:spcPts val="1125"/>
              </a:lnSpc>
              <a:buNone/>
            </a:pPr>
            <a:r>
              <a:rPr lang="en-US" sz="9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 vacia -&gt; False: patron pythonico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alumnos"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todas = [n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alumnos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 general: {sum(todas) / len(todas):.2f}"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L76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 el promedio de cada alumno;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reverse=True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pone el más alto primero.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408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L78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22576"/>
            <a:ext cx="3139135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:&lt;20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alinea el nombre en 20 espacios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:.1f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un decimal.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870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L82–84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968752"/>
            <a:ext cx="3139135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vacía equivale 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evita dividir por cero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len(todas)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igual a 0.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846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L85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28288"/>
            <a:ext cx="3139135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Comprensión con dos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junta todas las notas de todos los alumnos en una sola lista.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635240" y="4882896"/>
            <a:ext cx="4007815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974336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266944"/>
            <a:ext cx="3687775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Perez            [8.0, 9.0, 10.0] -&gt; 9.0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                 [6.0, 5.0, 7.0] -&gt; 6.0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general: 7.50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Evaluación, equipos y cronograma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proyecto se construye en equipo, pero se defiende de a uno: cada integrante tiene que poder explicar todo el código.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EVALUACIÓN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se mira al corregir el proyecto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17 / 25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4584469"/>
                <a:gridCol w="430940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se espera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Señal de alerta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Cumple todos los requisitos obligatorios y se ejecuta sin errores.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Traceback al elegir una opción del menú o al arrancar sin archivo.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Robustez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inválidos se vuelven a pedir; archivo inexistente no rompe nada.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float(input())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;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except: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vacío que esconde errores.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Organización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Capas separadas, funciones cortas con una tarea y docstring.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el programa dentro de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funciones de 100 líneas.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Legibilidad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Nombres claros, constantes, código indentado con 4 espacios.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Variables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aux2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código comentado sin usar.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Trabajo con Git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Commits frecuentes, con mensajes claros, de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los integrantes.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único commit el día de la entrega o todo subido por una sola persona.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Defensa individual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Explicar cualquier línea y hacer un cambio chico en vivo.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"Eso lo hizo mi compañero" o "lo sacó la IA".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 COLOQUIO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es la defensa del proyecto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individual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Aunque el proyecto sea en equipo, cada integrante defiende </a:t>
            </a:r>
            <a:pPr algn="l" indent="0" marL="0">
              <a:buNone/>
            </a:pPr>
            <a:r>
              <a:rPr lang="en-US" sz="15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Te pueden preguntar por cualquier parte, no sólo por la que programaste vos.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en vivo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pueden pedir un cambio chico en el momento: agregar una validación, ordenar por otro campo, sumar una opción al menú.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de "por qué"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alcanza con qué hace una línea: ¿por qué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guardar()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está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¿por qué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solo?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233008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101688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Demostrar que anda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→ salir → volver a entrar: el dato sigue. Borrar el JSON y ejecutar: arranca con lista vacía sin explotar.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mejor preparación: explicarle el código a tu compañero de equipo, turnándose, antes de la entrega.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dentro del equipo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19 / 25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456016"/>
                <a:gridCol w="3556988"/>
                <a:gridCol w="1947874"/>
                <a:gridCol w="313353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Parte del código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Ojo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🗄️ Responsable de datos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 la estructura de un registro y escribe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guardar()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 de datos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lo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primero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que tiene que andar: el resto depende de esto.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⚙️ Responsable de lógica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Escribe las funciones que calculan, buscan, ordenan y validan reglas.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 de lógica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 que reciben datos y devuelven resultados, fáciles de probar.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🖥️ Responsable de interfaz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Arma el menú, pide los datos con validación y muestra resultados.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 de interfaz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Mensajes claros para el usuario, nada de tracebacks.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🔀 Integración y repo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 el repo, el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.gitignore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el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; coordina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pull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quién toca qué archivo.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el repositorio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Rota entre integrantes: todos tienen que saber usar Git.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Equipos en parejas: cada integrante toma dos roles. Los roles ordenan el trabajo, pero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tienen que entender todo el código.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hoy a la entrega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20 / 25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7030"/>
                <a:gridCol w="4584469"/>
                <a:gridCol w="504291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se hace en clase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tiene que estar listo al terminar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 (hoy)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Especificación, arquitectura y armado de equipos.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Equipo armado, especificación escrita y repo en GitHub con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Taller: capa de datos, ABM completo, validaciones y listados con Git.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guardar()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todas las opciones funcionando, con commits de todos los integrantes.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Entrega del TP integrador y coloquios de defensa.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 final con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sin errores; cada integrante explica y modifica el código en vivo.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Recuperatorios y cierre de la cursada.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Quienes lo necesiten, recuperan con las devoluciones del coloquio.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Dejar la persistencia para el final es el error más caro: los datos son la base de todo lo demás.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Mezclar capas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de cálculo que pide datos no se puede reusar ni probar.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promedio():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float(input())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promedio(notas):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sum(notas) / len(notas)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sólo al salir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programa se corta con Ctrl+C, se pierde todo lo cargado.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guardar(alumnos) al final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alta(alumnos)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guardar(alumnos)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globales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ve de dónde salen los datos ni quién los cambia.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listado():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 in alumnos: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listado(alumnos):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 in alumnos: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 de lista vacía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alumnos,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vale 0 y aparece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sum(todas) / len(todas)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alumnos: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de nivel coloquio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cargar() se llama dentro de main y no afuera?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el flujo de datos queda a la vista: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carga, recibe la lista y se la pasa a cada función. Las variables globales esconden de dónde salen las cosas.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dos integrantes editan el mismo archivo y hacen push?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rechaza el segundo push. Hay que hacer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resolver el conflicto si tocaron las mismas líneas y volver a subir. Por eso se coordina quién toca qué.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el README es obligatorio?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primero que pregunta cualquiera frente a tu proyecto es "qué es y cómo lo corro". Si no está escrito, para quien llega es como si no existiera.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probás que guardar y cargar funcionan?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→ salir → volver a entrar: el dato tiene que seguir. Después borrás el JSON y ejecutás: tiene que arrancar con la lista vacía sin explotar.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la especificación del proyecto: nombre, problema, usuarios y estructura de un registro.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Redactar 5 historias de usuario, cada una con su criterio de aceptación.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Dibujar en papel las funciones del proyecto agrupadas en las tres capas.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el esqueleto: menú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funciones vacías con docstring.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cargar()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guardar()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probarlos con la prueba "salir y volver a entrar".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a la plantilla la opción "Buscar alumno por nombre".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a la plantilla la opción "Baja" usando una comprensión de listas.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Separar la plantilla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datos.py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logica.py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funcionalidad completa de punta a punta con commit y push de cada integrante.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Codigos/clase27_plantilla_proyecto.py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Ejecutalo en una carpeta de prueba: crea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alumnos_tp.json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Contarle la idea de tu proyecto y pedirle qué historias de usuario le faltan.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revise si alguna función tuya mezcla capas (un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dentro del cálculo).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ayuda para redactar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cómo instalar y ejecutar.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el proyecto completo: la defensa es individual y con cambios en vivo.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código que no podés explicar línea por línea.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Sumar librerías o frameworks que no vimos en la materia.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“Estoy diseñando el TP integrador de primer año en Python: un sistema de turnos para una veterinaria. Ayudame a escribir historias de usuario con criterio de aceptación y a repartir funciones en datos.py, logica.py y main.py. No escribas el código.”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requerimiento se puede comprobar; una idea vaga, no.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Especificación = requerimientos + historias de usuario + estructura de datos.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capas: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toca archivos,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calcula,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conversa.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sorted(lista, key=..., reverse=True)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ordena por la regla que elijas.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proyecto se hace en equipo, pero cada integrante lo defiende solo.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Tener el equipo armado, la especificación escrita y el repo en GitHub con estructura inicial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 del TP: </a:t>
            </a:r>
            <a:pPr algn="l"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Codigos/clase27_plantilla_proyecto.py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Pautas de la cátedra para el proyecto integrador.</a:t>
            </a:r>
            <a:endParaRPr lang="en-US" sz="11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Repaso: clases 14 a 16 (excepciones, archivos, JSON).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del proyecto en equipo con Git y GitHub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17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17 - Proyecto integrador: especificación y arquitectura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