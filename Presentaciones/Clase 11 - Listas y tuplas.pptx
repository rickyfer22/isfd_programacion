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Dibujar una sola caja con dos etiquetas (a y b) y otra caja aparte con la etiqueta c. Recién después ejecutar.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cuánto cuesta el Teclado. El programa no dio ningún error y sin embargo está mal: ese es el peligro.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DE 20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875520" y="438912"/>
            <a:ext cx="176479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512064"/>
            <a:ext cx="731520" cy="73152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512064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25880"/>
            <a:ext cx="6675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Listas y tuplas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56616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guardar muchos datos bajo un mismo nombre, modificarlos, ordenarlos y protegerlos de cambios.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4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760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Instituto Superior de Formación Docente “Juan García de Cossio”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Tecnicatura Superior en Desarrollo de Software  ·  Cátedra de Programación (1er año)  ·  Prof. Ricardo Fernández  ·  Ciclo 2026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589520" y="1463040"/>
            <a:ext cx="4050792" cy="4023360"/>
          </a:xfrm>
          <a:prstGeom prst="roundRect">
            <a:avLst>
              <a:gd name="adj" fmla="val 272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45552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 VAS A PODER…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845552" y="21671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302752" y="2148840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 por qué necesitamos colecciones y crear listas.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2816352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302752" y="2798064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índices y métodos: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845552" y="3465576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302752" y="3447288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Distinguir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sort()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sorted()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evitar el error del alias.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845552" y="4114800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302752" y="4096512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Filtrar y transformar con listas por comprensión.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7845552" y="4764024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302752" y="4745736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Elegir entre lista y tupla según si los datos cambian.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vamos a hacer hoy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207008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Colecciones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nota1, nota2, nota3...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escala y qué es una lista.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3056077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2397709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397709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2397709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Agregar, insertar, quitar y ordenar elementos.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490514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424677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24677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Memoria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424677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Alias y copias: el error que confunde a todos.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675421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609584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09584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Comprensión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09584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Filtrar y transformar listas en una sola línea.</a:t>
            </a:r>
            <a:endParaRPr lang="en-US" sz="1550" dirty="0"/>
          </a:p>
        </p:txBody>
      </p:sp>
      <p:sp>
        <p:nvSpPr>
          <p:cNvPr id="24" name="Shape 20"/>
          <p:cNvSpPr/>
          <p:nvPr/>
        </p:nvSpPr>
        <p:spPr>
          <a:xfrm>
            <a:off x="8603285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7944917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944917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Tuplas</a:t>
            </a:r>
            <a:endParaRPr lang="en-US" sz="1550" dirty="0"/>
          </a:p>
        </p:txBody>
      </p:sp>
      <p:sp>
        <p:nvSpPr>
          <p:cNvPr id="27" name="Text 23"/>
          <p:cNvSpPr txBox="1"/>
          <p:nvPr/>
        </p:nvSpPr>
        <p:spPr>
          <a:xfrm>
            <a:off x="7944917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que van juntos y no deben cambiar.</a:t>
            </a:r>
            <a:endParaRPr lang="en-US" sz="1550" dirty="0"/>
          </a:p>
        </p:txBody>
      </p:sp>
      <p:sp>
        <p:nvSpPr>
          <p:cNvPr id="28" name="Text 24"/>
          <p:cNvSpPr txBox="1"/>
          <p:nvPr/>
        </p:nvSpPr>
        <p:spPr>
          <a:xfrm>
            <a:off x="9793986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9793986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Taller</a:t>
            </a:r>
            <a:endParaRPr lang="en-US" sz="1550" dirty="0"/>
          </a:p>
        </p:txBody>
      </p:sp>
      <p:sp>
        <p:nvSpPr>
          <p:cNvPr id="30" name="Text 26"/>
          <p:cNvSpPr txBox="1"/>
          <p:nvPr/>
        </p:nvSpPr>
        <p:spPr>
          <a:xfrm>
            <a:off x="9793986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Promedio, mediana, listas paralelas y ordenar con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50" dirty="0"/>
          </a:p>
        </p:txBody>
      </p:sp>
      <p:sp>
        <p:nvSpPr>
          <p:cNvPr id="31" name="Shape 27"/>
          <p:cNvSpPr/>
          <p:nvPr/>
        </p:nvSpPr>
        <p:spPr>
          <a:xfrm>
            <a:off x="548640" y="4526280"/>
            <a:ext cx="11094415" cy="1691640"/>
          </a:xfrm>
          <a:prstGeom prst="roundRect">
            <a:avLst>
              <a:gd name="adj" fmla="val 5405"/>
            </a:avLst>
          </a:prstGeom>
          <a:solidFill>
            <a:srgbClr val="E7EFF8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04672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1371600" y="47091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de la clase anterior</a:t>
            </a:r>
            <a:endParaRPr lang="en-US" sz="1350" dirty="0"/>
          </a:p>
        </p:txBody>
      </p:sp>
      <p:sp>
        <p:nvSpPr>
          <p:cNvPr id="34" name="Text 30"/>
          <p:cNvSpPr txBox="1"/>
          <p:nvPr/>
        </p:nvSpPr>
        <p:spPr>
          <a:xfrm>
            <a:off x="1371600" y="5056632"/>
            <a:ext cx="9997135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clase pasada trabajamos con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cadenas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índices desde 0, slicing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[inicio:fin]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inmutabilidad (todo método devuelve texto nuevo) y el dúo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join()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Hoy vas a ver que las listas se indexan y se cortan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igual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los textos, con una gran diferencia: se pueden modificar.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Listas: muchos datos, un solo nombre</a:t>
            </a:r>
            <a:endParaRPr lang="en-US" sz="4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variable guarda un valor. Pero un curso tiene 30 notas y un carrito, 15 productos. Para eso existen las colecciones.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necesitamos colecciones?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lista guarda muchos valores en orden bajo un solo nombre, y un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puede recorrer entera.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listas, 30 notas serían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nota1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nota2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...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nota30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30 variables, 30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un promedio con 30 sumas. Y si mañana son 31, a reescribir.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879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69664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colección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agrupa varios datos en una sola variable. La lista va entre corchetes, separando con comas: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[8, 6, 9]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04748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502920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Hay funciones que trabajan con la colección entera: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len(notas)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cuenta,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sum(notas)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suma,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buscan los extremos.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936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7537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pareja perfecta: la lista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agrupa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el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recorre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El mismo código sirve para 3 notas o para 3.000.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🛒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la lista del súper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anotás cada producto en un papelito distinto: usás una sola hoja con renglones en orden. Podés agregar algo al final, tachar un renglón o contar cuántas cosas faltan. Esa hoja es la lista.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colecciones.py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8973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760970" y="4160520"/>
            <a:ext cx="381807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 /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[8, 6, 9]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7.666666666666667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MEMORIA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Índices y mutabilidad: la lista sí se modifica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5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listas se indexan igual que los textos, pero a diferencia de ellos se pueden cambiar en el lugar.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elemento tiene su índice desde 0 y valen los negativos: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notas[0]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el primero y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notas[-1]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último. El slicing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notas[1:3]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también funciona.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4223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23944"/>
            <a:ext cx="5879592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memoria, la lista es una fila de </a:t>
            </a:r>
            <a:pPr algn="l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casilleros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apuntan a valores. Cambiar un casillero es legal: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notas[1] = 7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Con un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daba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95604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937760"/>
            <a:ext cx="5879592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Mutable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significa que se modifica "en el lugar": no se crea una lista nueva, cambia la misma. Por eso muchos métodos devuelven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57174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553456"/>
            <a:ext cx="5879592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elemento puede ser de cualquier tipo, hasta otra lista. Pero lo prolijo es que sean del mismo tipo: todas notas, todos nombres.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los lockers de un gimnasio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lockers están numerados y en fila. Podés sacar lo que hay en el 1 y guardar otra cosa: el locker es el mismo, cambió su contenido. Un texto, en cambio, es una placa grabada: no se regraba.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435608"/>
          </a:xfrm>
          <a:prstGeom prst="roundRect">
            <a:avLst>
              <a:gd name="adj" fmla="val 636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mutable.py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087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780020" y="4160520"/>
            <a:ext cx="3799027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notas[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(notas[-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notas[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[8, 7, 9]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[8, 7]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MÉTODOS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 de listas, partiendo siempre de l = [3, 1, 2]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6 / 25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83924"/>
                <a:gridCol w="5134605"/>
                <a:gridCol w="2200545"/>
                <a:gridCol w="1375341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Método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hace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Cómo queda 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Devuelve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l.append(5)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Agrega un elemento al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final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 Es rápido.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[3, 1, 2, 5]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l.insert(0, 9)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Inserta en esa posición y corre el resto a la derecha.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[9, 3, 1, 2]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l.extend([4, 5])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Agrega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cada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elemento de otra lista.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[3, 1, 2, 4, 5]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l.remove(1)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Quita la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primera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aparición de ese valor. Si no está: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ValueError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[3, 2]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l.pop()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Quita el último y te lo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entrega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[3, 1]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l.pop(0)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Quita el de esa posición y lo entrega.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2]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l.sort()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Ordena la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misma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lista de menor a mayor.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2, 3]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l.index(2)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Dice en qué posición está un valor. No cambia la lista.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[3, 1, 2]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 práctica: los métodos que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modifican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lista devuelven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pop()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la excepción: quita y además devuelve.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TRAZADO PASO A PASO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Seguimiento de una lista, línea por línea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7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Pone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la posición 1. Lo que estaba desde ahí se corre un lugar: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[3, 99, 1, 2]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31520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 = [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070784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5" name="Shape 11"/>
          <p:cNvSpPr/>
          <p:nvPr/>
        </p:nvSpPr>
        <p:spPr>
          <a:xfrm>
            <a:off x="3436544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3665144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241216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3665144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 el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 (no el índice 2) y lo quita: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[3, 99, 1]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3619424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756584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95868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2" name="Shape 18"/>
          <p:cNvSpPr/>
          <p:nvPr/>
        </p:nvSpPr>
        <p:spPr>
          <a:xfrm>
            <a:off x="6324448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7129120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6553048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Saca el último y lo guarda en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ultimo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La lista queda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[3, 99]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ultimo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vale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6507328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644488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ultimo = lista.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8846591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9" name="Shape 25"/>
          <p:cNvSpPr/>
          <p:nvPr/>
        </p:nvSpPr>
        <p:spPr>
          <a:xfrm>
            <a:off x="9212351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9440951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10017023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9440951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Ordena en el lugar.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[3, 99]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ya estaba en orden, así que no cambia.</a:t>
            </a:r>
            <a:endParaRPr lang="en-US" sz="1700" dirty="0"/>
          </a:p>
        </p:txBody>
      </p:sp>
      <p:sp>
        <p:nvSpPr>
          <p:cNvPr id="33" name="Shape 29"/>
          <p:cNvSpPr/>
          <p:nvPr/>
        </p:nvSpPr>
        <p:spPr>
          <a:xfrm>
            <a:off x="9395231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9532391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insert(0, x)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remove(x)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corren muchos elementos: en listas enormes son lentos.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pop()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trabajan en el final y son rápidos.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ORDENAR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sort() o sorted(): ¿ordeno la original o una copia?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8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lista.sort()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ordena la misma lista y devuelve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sorted(lista)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deja la original igual y te da una lista nueva.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sorted(notas)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una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función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fabrica una lista nueva con los mismos valores en orden.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sigue como estaba.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0507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86784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notas.sort()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reordena los casilleros de la propia lista. No crea nada nuevo, por eso devuelve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817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63440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error clásico: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= notas.sort()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La lista quedó ordenada, pero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vale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el programa falla más adelante.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35838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340096"/>
            <a:ext cx="5879592" cy="7772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¿Cuál uso? Si necesitás conservar el orden de carga,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Si no importa,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ahorra memoria. De mayor a menor: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reverse=True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📚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ordenar los libros de un estante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acomodar los libros del estante: el estante es el mismo, cambió el orden.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anotar en una hoja los títulos ya ordenados: el estante queda igual y vos tenés una lista nueva.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435608"/>
          </a:xfrm>
          <a:prstGeom prst="roundRect">
            <a:avLst>
              <a:gd name="adj" fmla="val 636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ordenar.py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89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760970" y="4160520"/>
            <a:ext cx="3818077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copia 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(notas, copia)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notas.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(notas, x)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[8, 6, 9] [6, 8, 9]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[6, 8, 9] None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MEMORIA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Referencias y copias: b = a no copia la lista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9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Asignar una lista a otra variable no la duplica: las dos variables pasan a ser dos nombres de la misma lista.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vimos en la Unidad 1, una variable es una </a:t>
            </a:r>
            <a:pPr algn="l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etiqueta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 = a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pega una segunda etiqueta sobre </a:t>
            </a:r>
            <a:pPr algn="l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misma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lista. Eso se llama </a:t>
            </a:r>
            <a:pPr algn="l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alias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4411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25824"/>
            <a:ext cx="5879592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números o textos no se nota, porque no se modifican. Con listas sí: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b.append(99)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cambia la única lista que hay, y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"también" cambia.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579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739640"/>
            <a:ext cx="5879592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tener una lista independiente hacé una </a:t>
            </a:r>
            <a:pPr algn="l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copia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 = a.copy()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 = a[:]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El operador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dice si dos nombres son el mismo objeto.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37362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355336"/>
            <a:ext cx="5879592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copy()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una copia </a:t>
            </a:r>
            <a:pPr algn="l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superficial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Si la lista tiene listas adentro, esas internas siguen compartidas.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988820"/>
          </a:xfrm>
          <a:prstGeom prst="roundRect">
            <a:avLst>
              <a:gd name="adj" fmla="val 5517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documento compartido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compartís un Google Doc, tu compañero y vos editan el mismo archivo: lo que él borra, desaparece para vos. Eso es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 = a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Descargar una copia y editarla en tu compu es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a.copy()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cada uno tiene la suya.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7315200" y="3680460"/>
            <a:ext cx="4327855" cy="1458468"/>
          </a:xfrm>
          <a:prstGeom prst="roundRect">
            <a:avLst>
              <a:gd name="adj" fmla="val 627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2676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2676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267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3532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37660"/>
            <a:ext cx="17830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7749540" y="4137660"/>
            <a:ext cx="3829507" cy="891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a.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b, c)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b, a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c)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3, 99] [1, 2, 3, 99] [1, 2, 3]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False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COMPRENSIÓN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Listas por comprensión: filtrar y transformar en una línea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10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914400"/>
          </a:xfrm>
          <a:prstGeom prst="roundRect">
            <a:avLst>
              <a:gd name="adj" fmla="val 10000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[n for n in notas if n &gt;= 6]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lee "armá una lista con cada n de notas que cumpla n &gt;= 6".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65176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05409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035808"/>
            <a:ext cx="5879592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un atajo del patrón que ya conocés: lista vacía,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Cuatro líneas se vuelven una y se lee casi como una frase.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364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18204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parte de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adelante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dice qué se guarda (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 * 2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n.upper()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 El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dice de dónde salen. El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opcional, filtra.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59790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579620"/>
            <a:ext cx="5879592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Filtrar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quedarte con algunos elementos;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cambiar cada uno. La comprensión hace las dos cosas y crea una lista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nueva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03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62016"/>
            <a:ext cx="5879592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Límite de sensatez: si necesita varias condiciones o no entra en una línea, volvé al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clásico. En el parcial, el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también vale.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🍝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colador de fideos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Volcás la olla (la lista original): el colador deja ir el agua y se queda con los fideos (el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 Si además le ponés salsa a cada porción antes de servir, eso es transformar (la parte de adelante).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435608"/>
          </a:xfrm>
          <a:prstGeom prst="roundRect">
            <a:avLst>
              <a:gd name="adj" fmla="val 636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comprension.py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89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760970" y="4160520"/>
            <a:ext cx="3818077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aprobadas = [n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notas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&gt;=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dobles = [n *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notas]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(aprobadas)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(dobles)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[8, 6, 9, 7]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[16, 12, 18, 8, 14]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clase19_listas_tuplas.py: agregar, promediar, filtrar y recorrer</a:t>
            </a:r>
            <a:endParaRPr lang="en-US" sz="21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11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2971800"/>
          </a:xfrm>
          <a:prstGeom prst="roundRect">
            <a:avLst>
              <a:gd name="adj" fmla="val 3077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clase19_listas_tuplas.py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7736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082040" y="1920240"/>
            <a:ext cx="6123432" cy="2404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      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agrega al final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 /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    </a:t>
            </a:r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sum() y len(): funciones para listas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aprobadas = [n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notas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&gt;=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(notas), promedio, aprobadas)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i, n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f"Nota {i + 1}: {n}"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663440"/>
            <a:ext cx="6720840" cy="1554480"/>
          </a:xfrm>
          <a:prstGeom prst="roundRect">
            <a:avLst>
              <a:gd name="adj" fmla="val 5882"/>
            </a:avLst>
          </a:prstGeom>
          <a:solidFill>
            <a:srgbClr val="01040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475488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5047488"/>
            <a:ext cx="640080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[4, 6, 7, 8, 9] 6.8 [8, 6, 9, 7]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1: 8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2: 6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5: 7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L40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8503920" y="1463040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modifica la lista original: ahora tiene 5 notas.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7635240" y="214274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L41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8503920" y="2124456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trabajan sobre la lista entera: 34 / 5 = 6.8.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7635240" y="280416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L42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8503920" y="2785872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Comprensión: se queda con las notas de 6 o más, en su orden original.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368655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L43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8503920" y="3668268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sorted(notas)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muestra una copia ordenada;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cambia.</a:t>
            </a:r>
            <a:endParaRPr lang="en-US" sz="1450" dirty="0"/>
          </a:p>
        </p:txBody>
      </p:sp>
      <p:sp>
        <p:nvSpPr>
          <p:cNvPr id="26" name="Text 22"/>
          <p:cNvSpPr txBox="1"/>
          <p:nvPr/>
        </p:nvSpPr>
        <p:spPr>
          <a:xfrm>
            <a:off x="7635240" y="434797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L48–49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8503920" y="4329684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índice y valor juntos;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 + 1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muestra la posición "humana".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TUPLAS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Tuplas: datos que van juntos y no cambian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12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tupla es como una lista, pero inmutable: se crea con paréntesis y después ya no se modifica.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escribe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punto = (10, 20)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Se lee por índice igual que una lista (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punto[0]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), pero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punto[0] = 5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como en los textos.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879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69664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¿Para qué algo que no se modifica?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Protección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una fecha o una coordenada no deberían cambiar por error en otra parte del programa.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04748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502920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Desempaquetado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x, y = punto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reparte cada valor en una variable. Es lo que pasaba cuando una función hacía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a, b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936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7537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tuplas pueden ser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claves de diccionario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las listas no. Detalle: una tupla de un solo elemento lleva coma,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(5,)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950720"/>
          </a:xfrm>
          <a:prstGeom prst="roundRect">
            <a:avLst>
              <a:gd name="adj" fmla="val 562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🪪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los datos impresos en tu DNI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Nombre, fecha de nacimiento y número van juntos y no se corrigen con birome: si algo cambia, se hace un DNI nuevo. Tu lista de tareas del día, en cambio, se tacha y se agranda todo el tiempo: eso es una lista.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315200" y="3642360"/>
            <a:ext cx="4327855" cy="1496568"/>
          </a:xfrm>
          <a:prstGeom prst="roundRect">
            <a:avLst>
              <a:gd name="adj" fmla="val 611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78866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78866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7886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69722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tuplas.py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099560"/>
            <a:ext cx="21640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7787640" y="4099560"/>
            <a:ext cx="3791407" cy="929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punto = (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punto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(x, y)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(punto[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(punto))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10 20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10 2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COMPARATIVO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¿Lista o tupla? Cómo elegir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13 / 25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83924"/>
                <a:gridCol w="4401090"/>
                <a:gridCol w="4309401"/>
              </a:tblGrid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Aspecto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Lista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Tupla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Cómo se escribe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[8, 6, 9]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con corchetes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(10, 20)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con paréntesis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¿Se modifica?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Sí: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append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remove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l[0] = x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No: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t[0] = x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da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TypeError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Índices y slicing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Sí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Sí, igual que la lista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Métodos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Muchos: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append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insert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...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Sólo dos: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count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index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Uso típico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Colecciones que </a:t>
                      </a:r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crecen o cambian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notas del curso, carrito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Datos </a:t>
                      </a:r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fijos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que van juntos: fecha, coordenada, color RGB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¿Clave de diccionario?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No se puede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Sí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funciones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pasa para procesar muchos datos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 suma, promedio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devuelve una tupla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 clave: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¿estos datos pueden cambiar mientras corre el programa?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 sí, lista. Si son un registro fijo, tupla.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clase19_listas_tuplas.py: métodos y tuplas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14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630168"/>
          </a:xfrm>
          <a:prstGeom prst="roundRect">
            <a:avLst>
              <a:gd name="adj" fmla="val 251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clase19_listas_tuplas.py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7736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082040" y="1920240"/>
            <a:ext cx="6123432" cy="306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 = [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</a:t>
            </a:r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 posicion 1, corrido el resto a la derecha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quita el PRIMER 2 que encuentra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ultimo = lista.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</a:t>
            </a:r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quita y DEVUELVE el ultimo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(lista, ultimo)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punto = 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punto    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desempaquetado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f"x={x}, y={y}"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punto[0] = 5  # TypeError: 'tuple' object does not support item assignment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5321808"/>
            <a:ext cx="6720840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5413248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5705856"/>
            <a:ext cx="64008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99] 1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x=10, y=20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L54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8503920" y="1463040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insert(1, 99)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pone el 99 en la posición 1 y corre el resto.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7635240" y="214274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L55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8503920" y="2124456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remove(2)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busca el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2, no la posición 2.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7635240" y="280416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L56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8503920" y="2785872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pop()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quita el último (el 1) y lo guarda en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ultimo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346557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L61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8503920" y="3447288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Desempaquetado: el primer valor va 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el segundo 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26" name="Text 22"/>
          <p:cNvSpPr txBox="1"/>
          <p:nvPr/>
        </p:nvSpPr>
        <p:spPr>
          <a:xfrm>
            <a:off x="7635240" y="412699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L63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8503920" y="4108704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quitás el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esa línea: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la tupla no se modifica.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Taller: colecciones en problemas reales</a:t>
            </a:r>
            <a:endParaRPr lang="en-US" sz="3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Encuestas, carritos de compra y rankings: con listas y un par de funciones resolvemos problemas de cualquier trabajo.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15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TALLER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Promedio y mediana: dos formas de resumir datos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16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promedio reparte el total entre todos; la mediana es el valor que queda justo en el medio cuando ordenás los datos.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Promedio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sum(datos) / len(datos)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Cuidado con la lista vacía: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0 y dividir por cero es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ZeroDivisionError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primero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porque "el del medio" sólo tiene sentido en orden. Con cantidad impar está en el índice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len(ordenadas) // 2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dos medidas? En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[1, 2, 100]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promedio da 34,3 y no representa a nadie; la mediana, 2, sí. Un valor extremo "tira" del promedio.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936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7537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cantidad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hay un único centro: se promedian los dos del medio,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ordenadas[n // 2 - 1]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ordenadas[n // 2]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los sueldos de un local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Cuatro empleados ganan poco y el dueño gana muchísimo. El promedio dice que "en ese local se gana bien", pero nadie cobra eso. La mediana cuenta mejor lo que cobra una persona típica.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435608"/>
          </a:xfrm>
          <a:prstGeom prst="roundRect">
            <a:avLst>
              <a:gd name="adj" fmla="val 636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mediana.py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087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780020" y="4160520"/>
            <a:ext cx="3799027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= [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(datos) /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(datos))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ordenadas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(datos)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(ordenadas[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(ordenadas) //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34.333333333333336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DEL TALLER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clase20_taller_colecciones.py: encuesta de edades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17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584448"/>
          </a:xfrm>
          <a:prstGeom prst="roundRect">
            <a:avLst>
              <a:gd name="adj" fmla="val 2551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clase20_taller_colecciones.py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773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082040" y="1920240"/>
            <a:ext cx="6123432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Encuesta de edades: promedio, mediana, mayores de edad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edades = []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edades.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f"Edad {i + 1}: 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f"Promedio: {sum(edades) / len(edades):.1f}"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ordenadas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(edades)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f"Mediana: {ordenadas[len(ordenadas) // 2]}"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f"Mayores de edad: {sum(1 for e in edades if e &gt;= 18)}"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sum(1 for e in ... if e &gt;= 18): cuenta los que cumplen (True=1). ¿Por que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len(ordenadas)//2? Indice del medio: 5 elementos -&gt; 5//2 = 2 (tercero).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L31–33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 vacía +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dentro de un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el patrón para cargar datos.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34086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L35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322576"/>
            <a:ext cx="3139135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la mediana: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edades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conserva el orden en que se cargó.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9870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L36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968752"/>
            <a:ext cx="3139135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5 elementos,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 // 2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2: el tercero de la lista ordenada.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63321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L37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614928"/>
            <a:ext cx="3139135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Suma 1 por cada edad que cumple: cuenta los mayores de edad.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635240" y="4443984"/>
            <a:ext cx="4007815" cy="1773936"/>
          </a:xfrm>
          <a:prstGeom prst="roundRect">
            <a:avLst>
              <a:gd name="adj" fmla="val 5155"/>
            </a:avLst>
          </a:prstGeom>
          <a:solidFill>
            <a:srgbClr val="01040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18120" y="4535424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7818120" y="4828032"/>
            <a:ext cx="3687775" cy="1316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1: 17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2: 20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(se cargan 35, 18 y 16)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Promedio: 21.2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Mediana: 18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Mayores de edad: 3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TALLER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Listas paralelas: una solución frágil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18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 dos listas donde el dato de la posición i de una corresponde al de la posición i de la otra: sólo las une el índice.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 = ["Teclado", "Mouse"]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precios = [12500, 8000]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el precio del Teclado es el que está en la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misma posición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recorrerlas juntas: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range(len(productos))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leer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productos[i]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precios[i]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O más claro: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zip()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que las empareja.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problema: si ordenás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sola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o agregás un producto y te olvidás el precio, todo queda desalineado sin ningún aviso.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03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62016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Aparecen mucho en planillas viejas, por eso hay que conocerlas. La clase que viene las reemplazamos por diccionarios, que no se desalinean.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988820"/>
          </a:xfrm>
          <a:prstGeom prst="roundRect">
            <a:avLst>
              <a:gd name="adj" fmla="val 5517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dos planillas separadas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una hoja anotás los nombres de los alumnos y en otra sus notas, en el mismo orden. Si alguien ordena alfabéticamente sólo la hoja de nombres, cada alumno queda con la nota de otro. Y nadie se da cuenta.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7315200" y="3680460"/>
            <a:ext cx="4327855" cy="1458468"/>
          </a:xfrm>
          <a:prstGeom prst="roundRect">
            <a:avLst>
              <a:gd name="adj" fmla="val 627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2676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2676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267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3532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paralelas.py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37660"/>
            <a:ext cx="18973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760970" y="4137660"/>
            <a:ext cx="3818077" cy="891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 = [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"Teclado"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"Mouse"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precios = [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12500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8000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precios.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p, pre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(productos, precios):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(p, pre)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Teclado 8000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 12500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DEL TALLER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clase20_taller_colecciones.py: carrito y top 3 de ventas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19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133088"/>
          </a:xfrm>
          <a:prstGeom prst="roundRect">
            <a:avLst>
              <a:gd name="adj" fmla="val 2212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clase20_taller_colecciones.py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33832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920240"/>
            <a:ext cx="6062472" cy="3566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Carrito con listas paralelas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 = [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"Teclado"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"Mouse"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"Monitor"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precios = [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12500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95000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(productos)):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f"{productos[i]:&lt;10} ${precios[i]:&gt;8}"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precios[i]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f"TOTAL: ${total}"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Top 3 de ventas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ventas = [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top3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(ventas, reverse=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)[: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L45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range(len(productos))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los índices 0, 1 y 2 para leer las dos listas.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3637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L46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345436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:&lt;10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alinea el nombre a la izquierda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:&gt;8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precio a la derecha.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324612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L47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3227832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Acumulador: suma cada precio al total.</a:t>
            </a:r>
            <a:endParaRPr lang="en-US" sz="14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90753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L56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889248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N: ordenar de mayor a menor y cortar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[:3]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7635240" y="4663440"/>
            <a:ext cx="4007815" cy="1554480"/>
          </a:xfrm>
          <a:prstGeom prst="roundRect">
            <a:avLst>
              <a:gd name="adj" fmla="val 5882"/>
            </a:avLst>
          </a:prstGeom>
          <a:solidFill>
            <a:srgbClr val="01040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18120" y="4754880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7818120" y="5047488"/>
            <a:ext cx="3687775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Teclado    $   12500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      $    8000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    $   95000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 $115500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3: [300, 150, 120]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TALLER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Ordenar con criterio propio: el parámetro key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20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 dice a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sorted()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qué mirar de cada elemento para compararlo, en lugar del elemento completo.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los textos se ordenan alfabéticamente y los números de menor a mayor. Pero a veces querés ordenar palabras por su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largo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650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46804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sorted(palabras, key=len)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calcula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len()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cada palabra y ordena por ese número. Las palabras no cambian: cambia el criterio.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960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777740"/>
            <a:ext cx="5879592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tuplas se usa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una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función de una línea sin nombre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key=lambda v: v[1]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significa "de cada venta, mirá la posición 1".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327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14416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combina con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reverse=True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ir de mayor a menor. No se pueden mezclar tipos: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sorted([3, "a"])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📏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formar una fila en la escuela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mismos chicos se pueden formar por apellido, por altura o por edad. Los chicos son los mismos; lo que cambia es qué mira la maestra para ubicarlos.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eso que mira.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435608"/>
          </a:xfrm>
          <a:prstGeom prst="roundRect">
            <a:avLst>
              <a:gd name="adj" fmla="val 636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04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7776210" y="4160520"/>
            <a:ext cx="3802837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palabras = [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"sol"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"casa"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(palabras, key=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ventas = [(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(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"Luis"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(ventas, key=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v: v[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]))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['a', 'sol', 'casa', 'python']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[('Luis', 120), ('Ana', 300)]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 AQUÍ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frecuentes y cómo corregirlos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21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Guardar lo que da sort()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19385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sort()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ordena en el lugar y devuelve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26280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90872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690872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notas.sort()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print(x)  # None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47508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112100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112100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sorted(notas)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6974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77240" y="2807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Creer que b = a copia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1729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dos variables son la misma lista: cambiar una cambia "la otra".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26280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90872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690872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b.append(99)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947508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112100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12100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a.copy()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b.append(99)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48640" y="3931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77240" y="40416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 de algo que no está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777240" y="44074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lanza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 el valor no existe.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526280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690872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4690872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lista.remove(x)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7947508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112100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112100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in lista: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lista.remove(x)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777240" y="5276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Modificar una tupla</a:t>
            </a:r>
            <a:endParaRPr lang="en-US" sz="1450" dirty="0"/>
          </a:p>
        </p:txBody>
      </p:sp>
      <p:sp>
        <p:nvSpPr>
          <p:cNvPr id="37" name="Text 33"/>
          <p:cNvSpPr txBox="1"/>
          <p:nvPr/>
        </p:nvSpPr>
        <p:spPr>
          <a:xfrm>
            <a:off x="777240" y="56418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tuplas son inmutables: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26280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690872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4690872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punto = (10, 20)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punto[0] = 5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7947508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8112100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8112100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punto = (10, 20)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punto = (5, punto[1])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DUDAS DE AULA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que seguro aparecen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22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diferencia hay entre append() y extend()?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[1, 2]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append([4, 5])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queda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[1, 2, [4, 5]]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una lista adentro.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extend([4, 5])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queda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[1, 2, 4, 5]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El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une igual que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extend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pero crea una lista nueva.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10248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¿Cómo ordeno de mayor a menor?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lista.sort(reverse=True)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sorted(lista, reverse=True)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Por ejemplo,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sorted([9, 3, 7], reverse=True)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[9, 7, 3]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325880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hace zip()?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Empareja listas elemento a elemento: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zip(["a", "b"], [1, 2])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los pares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("a", 1)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("b", 2)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Si una lista es más corta, se corta ahí.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010248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no ordenar edades directamente?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sort()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pisaría el orden de carga.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sorted()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devuelve una copia y deja el original intacto. Elegí según si el orden de ingreso te importa.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de ejercicios por niveles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23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BÁSICO  ★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una lista con 5 materias y mostrar la primera y la última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[-1]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y quitar elementos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mostrando la lista después de cada paso.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Cargar 5 precios y mostrar el más caro y el más barato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38218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66818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INTERMEDIO  ★★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Cargar 6 números y mostrar promedio, máximo y mínimo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usar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ni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Separar aprobados y desaprobados de una lista de notas con dos comprensiones.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Calcular la mediana de una lista con cantidad par de elementos.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56397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6A4F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DESAFÍO  ★★★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356397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Quitar duplicados de una lista conservando el orden, sin usar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Contar cuántos elementos de una lista son mayores que el promedio.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Ranking de ventas con posiciones (1º, 2º, 3º) usando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 base: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Codigos/clase19_listas_tuplas.py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Codigos/clase20_taller_colecciones.py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usar la IA en este tema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24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E5F4E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Sí: la IA como tutor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un dibujo en texto de qué pasa en memoria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 = a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 = a.copy()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Pegarle un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pedirle que te muestre la versión con comprensión.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Preguntarle cuándo conviene una tupla en vez de una lista, con ejemplos cotidianos.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78728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No: la IA como atajo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Aceptar código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antes de dominar las listas comunes.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Copiar comprensiones anidadas ilegibles: si no la podés explicar, no la uses.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Olvidar que en el parcial un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clásico bien escrito es 100% válido.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467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46304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SUGERIDO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5276088"/>
            <a:ext cx="9905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“Tengo dos listas en Python y quiero combinarlas. Explicame con ejemplos cortos la diferencia entre el operador +, extend() y append(), y qué le pasa a la lista original en cada caso. No resuelvas mi ejercicio.”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 de la clase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LLEVAR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8308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lista agrupa datos en orden; se indexa como un texto pero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modifica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9384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7556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métodos que modifican devuelven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nunca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lista.sort()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63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6804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copia: para una lista independiente,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a.copy()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7880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6052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 for x in datos if cond]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filtra y transforma en una línea.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7128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95300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 para datos que cambian; tupla para registros fijos.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87768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15179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975104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Terminar la guía por niveles con clase19 y clase20 y traer escrita una duda sobre alias o copias.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86600" y="2971800"/>
            <a:ext cx="4556455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1181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 y repasar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75304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para todos (R. González Duque): cap. 4, listas y tuplas.</a:t>
            </a:r>
            <a:endParaRPr lang="en-US" sz="10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Intermedio: cap. 3.9 (copias) y 3.15 (comprensiones).</a:t>
            </a:r>
            <a:endParaRPr lang="en-US" sz="10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Códigos: clase19_listas_tuplas.py y clase20.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86600" y="475488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FFD4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490118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PRÓXIMA CLASE  ·  CLASE 12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5212080"/>
            <a:ext cx="4007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Diccionarios y conjuntos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11  ·  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ISFD Juan García de Cossio · TSDS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11 - Listas y tuplas</dc:title>
  <dc:subject>PptxGenJS Presentation</dc:subject>
  <dc:creator>Prof. Ricardo Fernández</dc:creator>
  <cp:lastModifiedBy>Prof. Ricardo Fernández</cp:lastModifiedBy>
  <cp:revision>1</cp:revision>
  <dcterms:created xsi:type="dcterms:W3CDTF">2026-09-14T09:55:37Z</dcterms:created>
  <dcterms:modified xsi:type="dcterms:W3CDTF">2026-09-14T09:55:37Z</dcterms:modified>
</cp:coreProperties>
</file>