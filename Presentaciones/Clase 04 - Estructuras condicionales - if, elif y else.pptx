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DE 20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875520" y="438912"/>
            <a:ext cx="176479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512064"/>
            <a:ext cx="731520" cy="73152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512064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25880"/>
            <a:ext cx="6675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Estructuras condicionales: if, elif y else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56616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hace un programa para elegir un camino, por qué importa la indentación y cómo probar que todas las ramas funcionan.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2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760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Instituto Superior de Formación Docente “Juan García de Cossio”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Tecnicatura Superior en Desarrollo de Software  ·  Cátedra de Programación (1er año)  ·  Prof. Ricardo Fernández  ·  Ciclo 2026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589520" y="1463040"/>
            <a:ext cx="4050792" cy="4023360"/>
          </a:xfrm>
          <a:prstGeom prst="roundRect">
            <a:avLst>
              <a:gd name="adj" fmla="val 272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45552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 VAS A PODER…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845552" y="21671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302752" y="2148840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 para qué sirve una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condicional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un programa.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2816352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302752" y="2798064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la indentación correcta.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845552" y="3465576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302752" y="3447288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Elegir entre una cadena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if/elif/else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varios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separados.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845552" y="4114800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302752" y="4096512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Ordenar y combinar condiciones con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7845552" y="4764024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302752" y="4745736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Probar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todas las ramas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una tabla de casos de prueba.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vamos a hacer hoy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207008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Decidir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 un programa necesita elegir caminos.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3056077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2397709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397709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Sintaxis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2397709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los dos puntos y la indentación.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490514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424677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24677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elige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424677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rama ejecuta Python y por qué sólo una.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675421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609584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09584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09584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Varios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vs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orden y condiciones compuestas.</a:t>
            </a:r>
            <a:endParaRPr lang="en-US" sz="1550" dirty="0"/>
          </a:p>
        </p:txBody>
      </p:sp>
      <p:sp>
        <p:nvSpPr>
          <p:cNvPr id="24" name="Shape 20"/>
          <p:cNvSpPr/>
          <p:nvPr/>
        </p:nvSpPr>
        <p:spPr>
          <a:xfrm>
            <a:off x="8603285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7944917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944917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Probar</a:t>
            </a:r>
            <a:endParaRPr lang="en-US" sz="1550" dirty="0"/>
          </a:p>
        </p:txBody>
      </p:sp>
      <p:sp>
        <p:nvSpPr>
          <p:cNvPr id="27" name="Text 23"/>
          <p:cNvSpPr txBox="1"/>
          <p:nvPr/>
        </p:nvSpPr>
        <p:spPr>
          <a:xfrm>
            <a:off x="7944917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 de ramas y valores límite.</a:t>
            </a:r>
            <a:endParaRPr lang="en-US" sz="1550" dirty="0"/>
          </a:p>
        </p:txBody>
      </p:sp>
      <p:sp>
        <p:nvSpPr>
          <p:cNvPr id="28" name="Text 24"/>
          <p:cNvSpPr txBox="1"/>
          <p:nvPr/>
        </p:nvSpPr>
        <p:spPr>
          <a:xfrm>
            <a:off x="9793986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9793986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Taller</a:t>
            </a:r>
            <a:endParaRPr lang="en-US" sz="1550" dirty="0"/>
          </a:p>
        </p:txBody>
      </p:sp>
      <p:sp>
        <p:nvSpPr>
          <p:cNvPr id="30" name="Text 26"/>
          <p:cNvSpPr txBox="1"/>
          <p:nvPr/>
        </p:nvSpPr>
        <p:spPr>
          <a:xfrm>
            <a:off x="9793986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Taxi, normalizar entradas, beca y año bisiesto.</a:t>
            </a:r>
            <a:endParaRPr lang="en-US" sz="1550" dirty="0"/>
          </a:p>
        </p:txBody>
      </p:sp>
      <p:sp>
        <p:nvSpPr>
          <p:cNvPr id="31" name="Shape 27"/>
          <p:cNvSpPr/>
          <p:nvPr/>
        </p:nvSpPr>
        <p:spPr>
          <a:xfrm>
            <a:off x="548640" y="4526280"/>
            <a:ext cx="11094415" cy="1691640"/>
          </a:xfrm>
          <a:prstGeom prst="roundRect">
            <a:avLst>
              <a:gd name="adj" fmla="val 5405"/>
            </a:avLst>
          </a:prstGeom>
          <a:solidFill>
            <a:srgbClr val="E7EFF8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04672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1371600" y="47091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de la clase anterior</a:t>
            </a:r>
            <a:endParaRPr lang="en-US" sz="1350" dirty="0"/>
          </a:p>
        </p:txBody>
      </p:sp>
      <p:sp>
        <p:nvSpPr>
          <p:cNvPr id="34" name="Text 30"/>
          <p:cNvSpPr txBox="1"/>
          <p:nvPr/>
        </p:nvSpPr>
        <p:spPr>
          <a:xfrm>
            <a:off x="1371600" y="5056632"/>
            <a:ext cx="9997135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clase pasada vimos los operadores: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contar y quedarnos con el resto, la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precedencia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las comparaciones que devuelven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los lógicos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Hoy esas comparaciones se convierten en decisiones.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Decidir: if, elif y else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Hasta hoy los programas ejecutaban todas sus líneas, siempre. Desde hoy pueden elegir qué hacer según los datos.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decidir en un programa?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condicional ejecuta un bloque de código sólo si una condición es verdadera. Así el programa elige un camino.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Hasta ahora todo era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secuencia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cada línea se ejecutaba una vez, en orden. Pero la vida real tiene caminos distintos: aprobado o no, de día o de noche.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879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6966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selección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evalúa una condición, que siempre da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y según eso ejecuta o saltea un bloque.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Secuencia, selección y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repetición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(los ciclos, la clase que viene) son los tres pilares: con ellos se escribe cualquier programa (teorema de Böhm-Jacopini).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936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7537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línea del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termina en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puntos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Lo que va adentro del bloque se escribe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indentado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(con sangría) debajo.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🗺️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el GPS del celular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GPS no sigue siempre la misma ruta: si hay un corte en la avenida, te manda por otra calle. Evalúa una condición ("¿está cortado?") y elige un camino. Un programa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hace exactamente eso.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435608"/>
          </a:xfrm>
          <a:prstGeom prst="roundRect">
            <a:avLst>
              <a:gd name="adj" fmla="val 636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decidir.py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087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780020" y="4160520"/>
            <a:ext cx="3799027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temp &gt;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"Hace calor"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Hace calor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SINTAXIS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la indentación es obligatoria?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5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Python la sangría no es decoración: indica qué líneas pertenecen al bloque del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cuáles no.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C o Java los bloques van entre llaves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la sangría es opcional. Python decidió: si igual indentamos para leer, que la sangría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bloque.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879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69664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lo que está indentado debajo del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ejecuta sólo si la condición es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La primera línea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sangría ya está afuera.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04748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502920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regla (PEP 8) es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espacios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 nivel. En VS Code la tecla Tab ya pone 4 espacios: no lo cambies.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936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7537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falta la sangría aparece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IndentationError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Si mezclás tabs y espacios,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TabError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📑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los subpasos de una receta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una receta, "si la masa está pegajosa:" y debajo, corridos hacia la derecha, "agregá harina" y "amasá 2 minutos". Los pasos corridos sólo se hacen si se cumple la condición. "Horneá 30 minutos", sin sangría, se hace siempre.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655064"/>
          </a:xfrm>
          <a:prstGeom prst="roundRect">
            <a:avLst>
              <a:gd name="adj" fmla="val 552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indentacion.py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0878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780020" y="4160520"/>
            <a:ext cx="3799027" cy="108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&gt;=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"Promociona"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"¡Felicitaciones!"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 del programa"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315200" y="5541264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632704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925312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 del programa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CÓMO ELIGE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elige Python la rama cuando nota vale 5.5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6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Evalúa el if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 &gt;= 7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 Con 5.5 da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así que saltea ese bloque sin ejecutarlo.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31520" y="4617720"/>
            <a:ext cx="2064944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4754880"/>
            <a:ext cx="188206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&gt;=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</a:t>
            </a:r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070784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5" name="Shape 11"/>
          <p:cNvSpPr/>
          <p:nvPr/>
        </p:nvSpPr>
        <p:spPr>
          <a:xfrm>
            <a:off x="3436544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3665144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241216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 el elif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3665144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 &gt;= 4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 Da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ejecuta su bloque. Ya sabe que la nota es menor a 7, porque el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falló.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3619424" y="4617720"/>
            <a:ext cx="2064944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756584" y="4754880"/>
            <a:ext cx="188206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&gt;=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</a:t>
            </a:r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95868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2" name="Shape 18"/>
          <p:cNvSpPr/>
          <p:nvPr/>
        </p:nvSpPr>
        <p:spPr>
          <a:xfrm>
            <a:off x="6324448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7129120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Saltea el resto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6553048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ya entró en una rama, el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 se mira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En una cadena se ejecuta una sola rama.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6507328" y="4617720"/>
            <a:ext cx="2064944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644488" y="4754880"/>
            <a:ext cx="188206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</a:t>
            </a:r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se evalúa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8846591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9" name="Shape 25"/>
          <p:cNvSpPr/>
          <p:nvPr/>
        </p:nvSpPr>
        <p:spPr>
          <a:xfrm>
            <a:off x="9212351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9440951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10017023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Sigue abajo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9440951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programa continúa en la primera línea sin sangría que está después de toda la cadena.</a:t>
            </a:r>
            <a:endParaRPr lang="en-US" sz="1700" dirty="0"/>
          </a:p>
        </p:txBody>
      </p:sp>
      <p:sp>
        <p:nvSpPr>
          <p:cNvPr id="33" name="Shape 29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significa "si no, si…": sólo se evalúa si todo lo anterior dio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Si ninguna condición es verdadera, se ejecuta el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clase07_condicionales.py: promociona, aprueba o desaprueba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7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630168"/>
          </a:xfrm>
          <a:prstGeom prst="roundRect">
            <a:avLst>
              <a:gd name="adj" fmla="val 251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clase07_condicionales.py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8498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89660" y="1920240"/>
            <a:ext cx="6115812" cy="306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=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 (0 a 10): 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&gt;=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"Promociona"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&gt;=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"Aprueba"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"Desaprobado"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¿Por que elif nota &gt;= 4 y no elif nota &gt;= 4 and nota &lt; 7?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Porque si llego al elif, ya sabemos que nota &lt; 7 (el if fallo). Las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condiciones siguientes APROVECHAN lo ya descartado. Orden descendente.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5321808"/>
            <a:ext cx="6720840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5413248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5705856"/>
            <a:ext cx="64008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(0 a 10): 5.5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Aprueba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L36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8503920" y="1463040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porque la nota puede tener decimales.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7635240" y="214274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L37–38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8503920" y="2124456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Primera pregunta: la más exigente. Si da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se muestra y termina la cadena.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7635240" y="30251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L39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8503920" y="3006852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hace falta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and nota &lt; 7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si llegó acá, el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ya dio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368655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L41–42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8503920" y="3668268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lleva condición: atrapa todo lo que no entró antes.</a:t>
            </a:r>
            <a:endParaRPr lang="en-US" sz="1450" dirty="0"/>
          </a:p>
        </p:txBody>
      </p:sp>
      <p:sp>
        <p:nvSpPr>
          <p:cNvPr id="26" name="Text 22"/>
          <p:cNvSpPr txBox="1"/>
          <p:nvPr/>
        </p:nvSpPr>
        <p:spPr>
          <a:xfrm>
            <a:off x="7635240" y="434797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L43–45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8503920" y="4329684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 descendente: cada condición aprovecha lo que ya se descartó.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TABLA DE RAMAS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evalúa Python según la nota ingresada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8 / 25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172580"/>
                <a:gridCol w="1984367"/>
                <a:gridCol w="1984367"/>
                <a:gridCol w="3247146"/>
                <a:gridCol w="270595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¿nota &gt;= 7?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¿nota &gt;= 4?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Rama que se ejecuta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Salida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se evalúa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Promociona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se evalúa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(7 cumple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&gt;=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Promociona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elif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Aprueba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elif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(4 cumple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&gt;=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Aprueba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3.9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Desaprobado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Fijate en 7 y 4: son los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valores límite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Ahí es donde un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lugar de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cambia el resultado, y ahí conviene probar siempre.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Cadena if/elif/else vs varios if separados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9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/ elif / else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1216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ramas son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excluyentes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se ejecuta una sola.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Sirve para clasificar en categorías: notas, edades, tarifas.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una da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las siguientes ni se miran.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777240" y="3593592"/>
            <a:ext cx="4907128" cy="1618488"/>
          </a:xfrm>
          <a:prstGeom prst="roundRect">
            <a:avLst>
              <a:gd name="adj" fmla="val 565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60120" y="37398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9"/>
          <p:cNvSpPr/>
          <p:nvPr/>
        </p:nvSpPr>
        <p:spPr>
          <a:xfrm>
            <a:off x="1143000" y="37398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0"/>
          <p:cNvSpPr/>
          <p:nvPr/>
        </p:nvSpPr>
        <p:spPr>
          <a:xfrm>
            <a:off x="1325880" y="37398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554480" y="3648456"/>
            <a:ext cx="399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886968" y="4050792"/>
            <a:ext cx="216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249680" y="4050792"/>
            <a:ext cx="4370680" cy="1051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&gt;=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"Promociona"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&gt;=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"Aprueba"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278728" y="1463040"/>
            <a:ext cx="536432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Varios if independientes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507328" y="2286000"/>
            <a:ext cx="4952848" cy="1216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una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decisión distinta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Pueden cumplirse ninguna, una o todas.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Sirve para ajustes que se acumulan: viaje corto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nocturno.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507328" y="3593592"/>
            <a:ext cx="4907128" cy="1618488"/>
          </a:xfrm>
          <a:prstGeom prst="roundRect">
            <a:avLst>
              <a:gd name="adj" fmla="val 565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690208" y="37398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3" name="Shape 19"/>
          <p:cNvSpPr/>
          <p:nvPr/>
        </p:nvSpPr>
        <p:spPr>
          <a:xfrm>
            <a:off x="6873088" y="37398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4" name="Shape 20"/>
          <p:cNvSpPr/>
          <p:nvPr/>
        </p:nvSpPr>
        <p:spPr>
          <a:xfrm>
            <a:off x="7055968" y="37398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284568" y="3648456"/>
            <a:ext cx="399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6617056" y="4050792"/>
            <a:ext cx="216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6979768" y="4050792"/>
            <a:ext cx="4370680" cy="1051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km &lt;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tarifa = bandera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noche: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tarifa = tarifa *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1.20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 clave: ¿pueden ser verdaderas las dos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hay que aplicar ambas? Entonces,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separados. ¿Es una elección entre opciones? Entonces,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DISEÑO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orden de las condiciones importa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10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se queda con la primera condición verdadera. Si una condición amplia va primero, las más exigentes nunca se alcanzan.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nota &gt;= 4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primero, un 9 entra ahí (9 es mayor que 4) y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nunca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llega a preguntar si es mayor o igual a 7.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2031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002024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Ese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elif nota &gt;= 7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vuelve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muerto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está escrito, pero ningún dato lo puede ejecutar.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1220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93920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Regla: ordená de lo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más exigente a lo más general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Con rangos numéricos, de mayor a menor.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041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385816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Terminá con un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como red de seguridad: así ninguna entrada rara queda sin respuesta.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950720"/>
          </a:xfrm>
          <a:prstGeom prst="roundRect">
            <a:avLst>
              <a:gd name="adj" fmla="val 562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🛒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los descuentos del súper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la cajera pregunta primero "¿gastaste más de $10.000?" y recién después "¿más de $50.000?", al que gastó $60.000 le da el descuento chico y ya no pregunta más. Hay que preguntar primero por el premio mayor.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315200" y="3642360"/>
            <a:ext cx="4327855" cy="1716024"/>
          </a:xfrm>
          <a:prstGeom prst="roundRect">
            <a:avLst>
              <a:gd name="adj" fmla="val 532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78866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78866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7886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69722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orden_mal.py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099560"/>
            <a:ext cx="216408" cy="114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7787640" y="4099560"/>
            <a:ext cx="3791407" cy="1149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=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&gt;=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"Aprueba"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&gt;=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"Promociona"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7315200" y="5541264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632704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925312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Aprueba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clase07_condicionales.py: el mayor de tres números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11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584448"/>
          </a:xfrm>
          <a:prstGeom prst="roundRect">
            <a:avLst>
              <a:gd name="adj" fmla="val 2551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clase07_condicionales.py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3383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920240"/>
            <a:ext cx="6062472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Mayor de tres numeros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"Primer número: 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"Segundo número: 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"Tercer número: 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mayor = a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&gt; mayor: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mayor = b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&gt; mayor: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mayor = c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f"El mayor es {mayor}"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L51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Algoritmo "campeonato": el primero arranca como campeón provisorio.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3637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L52–53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345436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 gana, pasa a ser el nuevo campeón.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30251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L54–55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3006852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compite contra el campeón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sea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68655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L52, 54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668268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no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la segunda comparación depende del resultado de la primera.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7635240" y="4882896"/>
            <a:ext cx="4007815" cy="1335024"/>
          </a:xfrm>
          <a:prstGeom prst="roundRect">
            <a:avLst>
              <a:gd name="adj" fmla="val 6849"/>
            </a:avLst>
          </a:prstGeom>
          <a:solidFill>
            <a:srgbClr val="01040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18120" y="4974336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7818120" y="5266944"/>
            <a:ext cx="3687775" cy="87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Primer número: 3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Segundo número: 9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Tercer número: 4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mayor es 9.0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LÓGICA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Condiciones compuestas con and, or y not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12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una decisión depende de varios requisitos, se combinan en una sola condición con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todos los requisitos juntos. Beca si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 &gt;= 7 and ingresos &lt; 500000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alcanza con uno. Nota inválida si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 &lt; 1 or nota &gt; 10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40740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389120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lado tiene que ser una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comparación completa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opcion == "1" or "2"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pregunta dos cosas: el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"2"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suelto siempre cuenta como verdadero.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26694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248656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una condición se vuelve muy larga o anidás más de dos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guardá partes en variables con nombre: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es_nocturno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tiene_beca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🎓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los requisitos de una beca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beca pide buen promedio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ingresos bajos: con uno solo no alcanza. En cambio, para justificar una falta sirve certificado médico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laboral: cualquiera de los dos vale.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655064"/>
          </a:xfrm>
          <a:prstGeom prst="roundRect">
            <a:avLst>
              <a:gd name="adj" fmla="val 552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or_mal.py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0878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780020" y="4160520"/>
            <a:ext cx="3799027" cy="108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opcion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"5"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opcion ==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"Entró"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opcion ==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opcion ==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"Esto no se ve"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315200" y="5541264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632704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925312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Entró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clase07_condicionales.py: menú con if/elif/else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13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clase07_condicionales.py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338328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920240"/>
            <a:ext cx="6062472" cy="4187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Menu con if/elif/else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"1) Sumar  2) Restar  3) Multiplicar  4) Salir"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opcion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"Elegí una opción: 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"Primer operando: 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"Segundo operando: 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opcion ==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"Resultado:"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x + y)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opcion ==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"Resultado:"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x - y)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opcion ==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"Resultado:"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x * y)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opcion ==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"Chau!"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"Opción inválida"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L64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devuelve texto: la opción se guarda como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"2"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 como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12750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L67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109216"/>
            <a:ext cx="3139135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eso se compara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entre comillas.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nunca sería igual.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9870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L67–74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968752"/>
            <a:ext cx="3139135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sola operación por vez: son opciones excluyentes, van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84657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L75–76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828288"/>
            <a:ext cx="3139135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atrapa cualquier otra cosa: "7", "hola" o un Enter vacío.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635240" y="4663440"/>
            <a:ext cx="4007815" cy="1554480"/>
          </a:xfrm>
          <a:prstGeom prst="roundRect">
            <a:avLst>
              <a:gd name="adj" fmla="val 5882"/>
            </a:avLst>
          </a:prstGeom>
          <a:solidFill>
            <a:srgbClr val="01040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18120" y="4754880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7818120" y="5047488"/>
            <a:ext cx="3687775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Sumar  2) Restar  3) Multiplicar  4) Salir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Elegí una opción: 2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Primer operando: 10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Segundo operando: 4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Resultado: 6.0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Taller: problemas de decisión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funcione con un dato no alcanza: un programa con decisiones está probado recién cuando probaste todos sus caminos.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14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TESTING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 de ramas: probar todos los caminos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15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rama es código distinto que puede estar mal. Para confiar en un programa hay que ejecutar cada rama al menos una vez.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"Promociona", eso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prueba que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dé "Aprueba": esa línea ni se ejecutó. Un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if/elif/else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3 ramas necesita al menos 3 pruebas.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650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46804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independientes se multiplican los caminos: dos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separados dan 4 combinaciones (ninguno, uno, el otro, ambos).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960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777740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Probá los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valores límite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justo en el borde (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), apenas abajo (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6.9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y apenas arriba. Ahí se esconden la mayoría de los errores.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269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08676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Armá la tabla de casos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programar, con el resultado calculado a mano. Después comparás contra lo que da el programa.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423160"/>
          </a:xfrm>
          <a:prstGeom prst="roundRect">
            <a:avLst>
              <a:gd name="adj" fmla="val 4528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🚨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simulacro de evacuación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alcanza con probar la puerta principal: hay que abrir cada salida de emergencia. La que nunca se probó es justo la que va a estar trabada el día que la necesites. Cada rama de tu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una salida.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CASOS DE PRUEBA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Tabla de prueba del taxi: bandera $500 y $90 por km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16 / 25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901985"/>
                <a:gridCol w="1082382"/>
                <a:gridCol w="1623573"/>
                <a:gridCol w="4960917"/>
                <a:gridCol w="252555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Caso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km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¿Nocturno?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ramas se activan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esperado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km &lt; 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$500.00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km &lt; 2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noche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$600.00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ninguna: 500 + 10 × 90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$1400.00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noche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1400 × 1.20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$1680.00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ninguna (límite: 2 no es menor que 2)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$680.00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1.9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km &lt; 2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(apenas debajo del límite)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$500.00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4 casos ya cubrís las 4 combinaciones de los dos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Los casos 5 y 6 prueban el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borde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¿el enunciado decía "menos de 2 km" o "hasta 2 km"?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ENTRADAS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Normalizar entradas antes de comparar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17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Normalizar es limpiar lo que escribió el usuario (mayúsculas, espacios) para que la comparación no falle por detalles.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Python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"S"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"s"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"S "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son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textos distintos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Si comparás directo con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"s"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dos de ellos fallan.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2031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002024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.lower()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pasa todo a minúsculas: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"S"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convierte en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"s"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1220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93920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.strip()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quita los espacios del principio y del final: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"S "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convierte en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"S"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041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385816"/>
            <a:ext cx="5879592" cy="800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Combinados,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respuesta.strip().lower() == "s"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acepta todas las variantes. Normalizá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vez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apenas leés el dato.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950720"/>
          </a:xfrm>
          <a:prstGeom prst="roundRect">
            <a:avLst>
              <a:gd name="adj" fmla="val 562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🧾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validar un DNI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persona escribe 30.123.456, otra 30123456 y otra deja un espacio al final. Es el mismo DNI, pero si el sistema compara el texto tal cual, dice que no existe. Primero se limpia el dato y después se compara.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315200" y="3642360"/>
            <a:ext cx="4327855" cy="1310945"/>
          </a:xfrm>
          <a:prstGeom prst="roundRect">
            <a:avLst>
              <a:gd name="adj" fmla="val 697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78866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78866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7886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69722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normalizar.py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099560"/>
            <a:ext cx="193548" cy="744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7764780" y="4099560"/>
            <a:ext cx="3814267" cy="74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 "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(resp ==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(resp.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(resp.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315200" y="5136185"/>
            <a:ext cx="4327855" cy="1081735"/>
          </a:xfrm>
          <a:prstGeom prst="roundRect">
            <a:avLst>
              <a:gd name="adj" fmla="val 8453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27625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20233"/>
            <a:ext cx="4007815" cy="624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clase08_taller_decision.py: tarifa de taxi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18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858768"/>
          </a:xfrm>
          <a:prstGeom prst="roundRect">
            <a:avLst>
              <a:gd name="adj" fmla="val 237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clase08_taller_decision.py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926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097280" y="1920240"/>
            <a:ext cx="6108192" cy="329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Tarifa de taxi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bandera =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500.0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constante del problema: se escribe MAYUSCULA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por_km =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90.0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 =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"Kilómetros recorridos: 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noche =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"¿Viaje nocturno? (s/n): 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==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"s"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tarifa = bandera + km * por_km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km &lt;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tarifa = bandera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noche: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tarifa = tarifa *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1.20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f"Total del viaje: ${tarifa:.2f}"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L21–22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fijos del problema. Por convención se escriben en MAYÚSCULA.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3637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L24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345436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comparación guarda un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noche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Ojo: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"S "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sumá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.strip()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324612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L26–27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3227832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Primera decisión: si el viaje es corto, se cobra sólo la bajada de bandera.</a:t>
            </a:r>
            <a:endParaRPr lang="en-US" sz="14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412851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L28–29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4110228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Segunda decisión, independiente: recargo del 20% = multiplicar por 1.20.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7635240" y="5102352"/>
            <a:ext cx="4007815" cy="1115568"/>
          </a:xfrm>
          <a:prstGeom prst="roundRect">
            <a:avLst>
              <a:gd name="adj" fmla="val 8197"/>
            </a:avLst>
          </a:prstGeom>
          <a:solidFill>
            <a:srgbClr val="01040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18120" y="5193792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7818120" y="5486400"/>
            <a:ext cx="3687775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Kilómetros recorridos: 10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¿Viaje nocturno? (s/n): S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del viaje: $1680.00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TALLER · REGLAS REALES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regla del año bisiesto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19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año es bisiesto si es divisible por 4, salvo los divisibles por 100, salvo a su vez los divisibles por 400.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Tierra tarda unos 365,2425 días en dar la vuelta al Sol. Sumar un día cada 4 años corrige casi todo, pero se pasa un poquito.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21081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92524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eso los años terminados en 00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son bisiestos (1900, 2100)… salvo que sean divisibles por 400 (2000 sí lo fue).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722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53940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Python: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(anio % 4 == 0 and anio % 100 != 0) or anio % 400 == 0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Los paréntesis dejan clara la regla.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53364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515356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trabajo del programador es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traducir la regla completa sin simplificarla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"divisible por 4" solo falla con 1900.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una regla con excepciones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como "se entra con entrada, salvo los menores de 6, salvo que el menor ocupe butaca". Cada "salvo" corrige al anterior. Si te olvidás de uno, el sistema deja entrar o frena a quien no corresponde.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655064"/>
          </a:xfrm>
          <a:prstGeom prst="roundRect">
            <a:avLst>
              <a:gd name="adj" fmla="val 552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bisiesto.py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0878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780020" y="4160520"/>
            <a:ext cx="3799027" cy="108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anio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1900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div4 = anio %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div100 = anio %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div400 = anio %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((div4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div100)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div400)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315200" y="5541264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632704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925312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CASOS DE PRUEBA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Probando la regla del bisiesto con años elegidos a propósito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20 / 25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172580"/>
                <a:gridCol w="1623573"/>
                <a:gridCol w="1713771"/>
                <a:gridCol w="1713771"/>
                <a:gridCol w="1713771"/>
                <a:gridCol w="3156947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Año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D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 4 == 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D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 100 != 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D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 400 == 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¿Bisiesto?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rama prueba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2024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caso común: divisible por 4.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divisible por 4.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1900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Primera excepción: múltiplo de 100.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Excepción de la excepción: múltiplo de 400.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2100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Confirma la primera excepción a futuro.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sólo probás con 2024 y 2023, un programa que diga "divisible por 4" parece correcto.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1900 y 2000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son los casos que lo desenmascaran.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 AQUÍ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frecuentes y cómo corregirlos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21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Olvidar los dos puntos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19385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 línea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termina en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26280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90872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690872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nota &gt;= 7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print("Promociona")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47508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112100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112100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nota &gt;= 7: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print("Promociona")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6974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77240" y="2807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Bloque sin sangría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1729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no sabe qué va adentro: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IndentationError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26280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90872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690872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nota &gt;= 7: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print("Promociona")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947508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112100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12100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nota &gt;= 7: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print("Promociona")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48640" y="3931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77240" y="40416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con un valor suelto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777240" y="44074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"2"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solo es verdadero: la condición entra siempre.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526280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690872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4690872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op == "1" or "2":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7947508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112100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112100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op == "1" or op == "2":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777240" y="5276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Comparar con un número</a:t>
            </a:r>
            <a:endParaRPr lang="en-US" sz="1450" dirty="0"/>
          </a:p>
        </p:txBody>
      </p:sp>
      <p:sp>
        <p:nvSpPr>
          <p:cNvPr id="37" name="Text 33"/>
          <p:cNvSpPr txBox="1"/>
          <p:nvPr/>
        </p:nvSpPr>
        <p:spPr>
          <a:xfrm>
            <a:off x="777240" y="56418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texto y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"1" == 1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26280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690872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4690872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opcion == 1: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7947508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8112100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8112100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opcion == "1":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DUDAS DE AULA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que seguro aparecen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22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¿Puedo tener un if sin else?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Sí. El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opcional: si la condición da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no hay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simplemente no pasa nada y el programa sigue.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10248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¿Puedo poner un if adentro de otro if?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Sí, se llama </a:t>
            </a:r>
            <a:pPr algn="l" indent="0" marL="0">
              <a:buNone/>
            </a:pPr>
            <a:r>
              <a:rPr lang="en-US" sz="145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anidar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se indenta un nivel más. Pero si pasás de dos niveles, suele quedar más claro combinar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325880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elif y no else if como en otros lenguajes?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una abreviatura: evita escribir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otro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indentado adentro. Hace lo mismo y el código queda plano y fácil de leer.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010248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anio % 4 == 0 y no sólo anio % 4?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anio % 4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un número (0, 1, 2 o 3). Python lo acepta como condición, pero confunde: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cuenta como falso. Escribí la comparación explícita.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de ejercicios por niveles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23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BÁSICO  ★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un número e informar si es positivo, negativo o cero.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la edad e informar si es mayor de edad.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un número e informar si es par o impar.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38218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66818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INTERMEDIO  ★★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Calculadora con menú que avise si se intenta dividir por cero.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Precio de la entrada de cine según la edad: menor, adulto o jubilado.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Armar la tabla de casos de prueba, con valores límite, de uno de tus ejercicios.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56397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6A4F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DESAFÍO  ★★★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356397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Ordenar 3 números de menor a mayor usando sólo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mes y año y mostrar cuántos días tiene el mes (febrero bisiesto incluido).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Estacionamiento: tarifa por hora, fracciones y tope diario.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 base: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Codigos/clase07_condicionales.py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Codigos/clase08_taller_decision.py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usar la IA en este tema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24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E5F4E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Sí: la IA como tutor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Pegar tu cadena de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preguntar si hay alguna rama que nunca se ejecuta.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una tabla de casos de prueba con valores límite para tu enunciado.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que actúe como usuario "molesto" que ingresa datos raros.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78728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No: la IA como atajo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la estructura de decisiones antes de haberla pensado en papel.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Copiar condiciones gigantes que no podrías defender en el pizarrón.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Creer que el código cubre todos los casos sin probar vos cada rama.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467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46304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SUGERIDO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5276088"/>
            <a:ext cx="9905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“Tengo un problema de tarifa de luz con 3 escalones de consumo: 0 a 150 kWh, 151 a 300 y más de 300. Armame una tabla con 6 casos de prueba que incluyan los valores límite e indicá qué rama debería ejecutarse en cada uno. No me escribas el código.”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 de la clase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LLEVAR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8308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ejecuta un bloque sólo si la condición es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9384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7556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sangría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define qué está adentro del bloque: 4 espacios.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63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6804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if/elif/else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ejecuta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sola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rama; varios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son decisiones independientes.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7880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6052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Ordená de lo más exigente a lo más general y cerrá con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7128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95300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programa está probado cuando probaste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todas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sus ramas y sus límites.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87768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15179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975104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Resolver la guía por niveles y entregar, para dos ejercicios, su tabla de casos de prueba con los valores límite.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86600" y="2971800"/>
            <a:ext cx="4556455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1181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 y repasar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75304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para todos (R. González Duque): cap. 5 «Control de flujo», pp. 29–32.</a:t>
            </a:r>
            <a:endParaRPr lang="en-US" sz="12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PEP 8: sección «Indentation».</a:t>
            </a:r>
            <a:endParaRPr lang="en-US" sz="12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Códigos: clase07 y clase08.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86600" y="475488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FFD4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490118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PRÓXIMA CLASE  ·  CLASE 05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5212080"/>
            <a:ext cx="4007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while: repetir mientras se cumpla una condición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04  ·  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ISFD Juan García de Cossio · TSDS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04 - Estructuras condicionales: if, elif y else</dc:title>
  <dc:subject>PptxGenJS Presentation</dc:subject>
  <dc:creator>Prof. Ricardo Fernández</dc:creator>
  <cp:lastModifiedBy>Prof. Ricardo Fernández</cp:lastModifiedBy>
  <cp:revision>1</cp:revision>
  <dcterms:created xsi:type="dcterms:W3CDTF">2026-09-14T09:55:36Z</dcterms:created>
  <dcterms:modified xsi:type="dcterms:W3CDTF">2026-09-14T09:55:36Z</dcterms:modified>
</cp:coreProperties>
</file>