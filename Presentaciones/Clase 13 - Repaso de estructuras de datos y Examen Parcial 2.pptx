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13  ·  DE 20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875520" y="438912"/>
            <a:ext cx="176479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512064"/>
            <a:ext cx="731520" cy="73152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64" y="512064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25880"/>
            <a:ext cx="6675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de estructuras de datos y Examen Parcial 2</a:t>
            </a:r>
            <a:endParaRPr lang="en-US" sz="4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56616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Ordenamos las Unidades 3 y 4, practicamos ejercicios tipo parcial y repasamos reglas y criterios del examen.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4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760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Instituto Superior de Formación Docente “Juan García de Cossio”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71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Tecnicatura Superior en Desarrollo de Software  ·  Cátedra de Programación (1er año)  ·  Prof. Ricardo Fernández  ·  Ciclo 2026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589520" y="1463040"/>
            <a:ext cx="4050792" cy="4023360"/>
          </a:xfrm>
          <a:prstGeom prst="roundRect">
            <a:avLst>
              <a:gd name="adj" fmla="val 272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45552" y="1664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TERMINAR VAS A PODER…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845552" y="21671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302752" y="2148840"/>
            <a:ext cx="3136392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Ubicar cada tema de las Unidades 3 y 4 y su código de referencia.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845552" y="2801112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302752" y="2782824"/>
            <a:ext cx="3136392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Resolver ejercicios tipo parcial combinando funciones y colecciones.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845552" y="3435096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302752" y="3416808"/>
            <a:ext cx="3136392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Conocer reglamento, entrega y criterios de corrección.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845552" y="4069080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302752" y="4050792"/>
            <a:ext cx="3136392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Aplicar una estrategia para usar bien el tiempo del examen.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7845552" y="4703064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302752" y="4684776"/>
            <a:ext cx="3136392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Evitar los errores que más puntos restan.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vamos a hacer hoy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13  ·  2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207008" y="2066544"/>
            <a:ext cx="1469075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496312"/>
            <a:ext cx="2036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880360"/>
            <a:ext cx="199028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entra en el parcial: Unidades 3 y 4 en dos cuadros.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3425891" y="2066544"/>
            <a:ext cx="1469075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2767523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767523" y="2496312"/>
            <a:ext cx="2036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Ejercicios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2767523" y="2880360"/>
            <a:ext cx="199028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problemas tipo parcial resueltos paso a paso.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5644774" y="2066544"/>
            <a:ext cx="1469075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4986406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986406" y="2496312"/>
            <a:ext cx="2036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Reglamento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4986406" y="2880360"/>
            <a:ext cx="199028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Duración, material permitido, entrega y escala de notas.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7863657" y="2066544"/>
            <a:ext cx="1469075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7205289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205289" y="2496312"/>
            <a:ext cx="2036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Criterios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7205289" y="2880360"/>
            <a:ext cx="199028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pesa cada cosa en la corrección.</a:t>
            </a:r>
            <a:endParaRPr lang="en-US" sz="1550" dirty="0"/>
          </a:p>
        </p:txBody>
      </p:sp>
      <p:sp>
        <p:nvSpPr>
          <p:cNvPr id="24" name="Text 20"/>
          <p:cNvSpPr txBox="1"/>
          <p:nvPr/>
        </p:nvSpPr>
        <p:spPr>
          <a:xfrm>
            <a:off x="9424172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9424172" y="2496312"/>
            <a:ext cx="2036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Estrategia</a:t>
            </a:r>
            <a:endParaRPr lang="en-US" sz="1550" dirty="0"/>
          </a:p>
        </p:txBody>
      </p:sp>
      <p:sp>
        <p:nvSpPr>
          <p:cNvPr id="26" name="Text 22"/>
          <p:cNvSpPr txBox="1"/>
          <p:nvPr/>
        </p:nvSpPr>
        <p:spPr>
          <a:xfrm>
            <a:off x="9424172" y="2880360"/>
            <a:ext cx="199028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encarar el examen y los errores que más restan.</a:t>
            </a:r>
            <a:endParaRPr lang="en-US" sz="1550" dirty="0"/>
          </a:p>
        </p:txBody>
      </p:sp>
      <p:sp>
        <p:nvSpPr>
          <p:cNvPr id="27" name="Shape 23"/>
          <p:cNvSpPr/>
          <p:nvPr/>
        </p:nvSpPr>
        <p:spPr>
          <a:xfrm>
            <a:off x="548640" y="4526280"/>
            <a:ext cx="11094415" cy="1691640"/>
          </a:xfrm>
          <a:prstGeom prst="roundRect">
            <a:avLst>
              <a:gd name="adj" fmla="val 5405"/>
            </a:avLst>
          </a:prstGeom>
          <a:solidFill>
            <a:srgbClr val="E7EFF8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804672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000" dirty="0"/>
          </a:p>
        </p:txBody>
      </p:sp>
      <p:sp>
        <p:nvSpPr>
          <p:cNvPr id="29" name="Text 25"/>
          <p:cNvSpPr txBox="1"/>
          <p:nvPr/>
        </p:nvSpPr>
        <p:spPr>
          <a:xfrm>
            <a:off x="1371600" y="47091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de la clase anterior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1371600" y="5056632"/>
            <a:ext cx="9997135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clase pasada vimos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diccionarios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(pares clave → valor,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items()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), la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 de diccionarios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como tabla en memoria y los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sets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unión, intersección y diferencia. Con eso cerramos los temas del Parcial 2: hoy los ordenamos y practicamos.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para el parcial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 trata de memorizar código: se trata de reconocer qué herramienta pide cada problema.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13  ·  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 DE LA UNIDAD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3: funciones, módulos y Git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13  ·  4 / 17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200545"/>
                <a:gridCol w="4217712"/>
                <a:gridCol w="3484197"/>
                <a:gridCol w="1191962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Tema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 que tenés que poder hacer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Ejemplo mínimo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Código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Definir y llamar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guarda la función; se ejecuta recién al llamarla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 doble(n):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…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doble(21)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clase14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vs 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función que calcula 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devuelve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; el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va afuera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 nota &gt;= 4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clase14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 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función devuelve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print("hola")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clase14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Parámetros por defecto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Van después de los obligatorios; se pueden nombrar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presentacion("Ana", curso="2do")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clase15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Ámbito local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 creado adentro no existe afuera: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NameError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resultado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dentro de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doble()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clase15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Docstring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Una frase entre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"""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que dice qué hace y qué devuelve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"""Devuelve True si aprueba."""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clase14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Módulos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import math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from datetime import date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math.sqrt(144)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12.0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clase16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init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commit -m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con un mensaje claro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commit -m "Agrega alta"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clase16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 DE LA UNIDAD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4: texto y estructuras de datos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13  ·  5 / 17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467030"/>
                <a:gridCol w="3117439"/>
                <a:gridCol w="5042916"/>
                <a:gridCol w="146703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Estructura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Idea clave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Operaciones que no pueden faltar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Código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Secuencia inmutable de caracteres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s[-1]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s[a:b]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strip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lower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split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join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clase17–18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Colección ordenada y mutable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append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remove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sorted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comprensiones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clase19–20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tuple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Registro fijo e inmutable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Desempaquetado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x, y = punto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 a, b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clase19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dict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Pares clave → valor, búsqueda por clave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d[k]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get(k, 0)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items()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lista de diccionarios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clase21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 orden y sin repetidos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set(lista)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&amp;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|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clase21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no podés decir en una frase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qué sirve cada estructura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repasá esa clase antes que ninguna otra.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TIPO PARCIAL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Filtrar notas aprobadas con una función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13  ·  6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Entender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 una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notas; sale otra lista sólo con las de 4 o más. La original no se toca.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31520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070784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5" name="Shape 11"/>
          <p:cNvSpPr/>
          <p:nvPr/>
        </p:nvSpPr>
        <p:spPr>
          <a:xfrm>
            <a:off x="3436544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3665144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241216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Función chica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3665144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función que decide sobre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nota y devuelve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Con docstring.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3619424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756584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es_aprobado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&gt;=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95868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2" name="Shape 18"/>
          <p:cNvSpPr/>
          <p:nvPr/>
        </p:nvSpPr>
        <p:spPr>
          <a:xfrm>
            <a:off x="6324448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7129120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Recorrer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6553048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 vacía,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las que cumplen. La función se reutiliza en cada vuelta.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6507328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644488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es_aprobado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aprobadas.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846591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9" name="Shape 25"/>
          <p:cNvSpPr/>
          <p:nvPr/>
        </p:nvSpPr>
        <p:spPr>
          <a:xfrm>
            <a:off x="9212351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9440951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10017023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Probar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9440951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[8, 3, 6, 9, 2]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[8, 6, 9]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Con una lista vacía da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sin error.</a:t>
            </a:r>
            <a:endParaRPr lang="en-US" sz="1700" dirty="0"/>
          </a:p>
        </p:txBody>
      </p:sp>
      <p:sp>
        <p:nvSpPr>
          <p:cNvPr id="33" name="Shape 29"/>
          <p:cNvSpPr/>
          <p:nvPr/>
        </p:nvSpPr>
        <p:spPr>
          <a:xfrm>
            <a:off x="9395231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9532391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(aprobadas)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Versión corta equivalente: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[n for n in notas if es_aprobado(n)]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Las dos formas son válidas en el parcial.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1 RESUELTO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clase14_intro_funciones.py: la solución del ejercicio 1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13  ·  7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849624"/>
          </a:xfrm>
          <a:prstGeom prst="roundRect">
            <a:avLst>
              <a:gd name="adj" fmla="val 237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clase14_intro_funciones.py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300228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104900" y="1920240"/>
            <a:ext cx="6100572" cy="3282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es_aprobado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(nota):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"""Devuelve True si la nota alcanza para aprobar (4 o más)."""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&gt;=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aprobadas = []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notas: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es_aprobado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(n):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aprobadas.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"Aprobadas:"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aprobadas)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5541264"/>
            <a:ext cx="6720840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5632704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5925312"/>
            <a:ext cx="6400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Aprobadas: [8, 6, 9]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L36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8503920" y="1463040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sólo guarda la función: no se ejecuta hasta que alguien la llama.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7635240" y="23637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L37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8503920" y="2345436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docstring dice qué hace. Es uno de los requisitos del parcial.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7635240" y="324612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L38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8503920" y="3227832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entrega un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por eso la llamada entra directo en un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412851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L53–56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8503920" y="4110228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Acumulador: lista vacía que crece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sólo con las aprobadas.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TIPO PARCIAL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Contar palabras: texto + diccionario (clase21)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13  ·  8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630168"/>
          </a:xfrm>
          <a:prstGeom prst="roundRect">
            <a:avLst>
              <a:gd name="adj" fmla="val 251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clase21_diccionarios_sets.py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31546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350" dirty="0"/>
          </a:p>
          <a:p>
            <a:pPr algn="r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350" dirty="0"/>
          </a:p>
          <a:p>
            <a:pPr algn="r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1350" dirty="0"/>
          </a:p>
          <a:p>
            <a:pPr algn="r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350" dirty="0"/>
          </a:p>
          <a:p>
            <a:pPr algn="r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350" dirty="0"/>
          </a:p>
          <a:p>
            <a:pPr algn="r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1120140" y="1920240"/>
            <a:ext cx="6085332" cy="306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Frecuencia de palabras: el patron .get() + 1</a:t>
            </a:r>
            <a:endParaRPr lang="en-US" sz="1350" dirty="0"/>
          </a:p>
          <a:p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 = 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 profe dijo que el examen es fácil y el TP también"</a:t>
            </a:r>
            <a:endParaRPr lang="en-US" sz="1350" dirty="0"/>
          </a:p>
          <a:p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frecuencia = {}</a:t>
            </a:r>
            <a:endParaRPr lang="en-US" sz="1350" dirty="0"/>
          </a:p>
          <a:p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palabra 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texto.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350" dirty="0"/>
          </a:p>
          <a:p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frecuencia[palabra] = frecuencia.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(palabra, 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+ 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50" dirty="0"/>
          </a:p>
          <a:p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(frecuencia)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5321808"/>
            <a:ext cx="6720840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5413248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5705856"/>
            <a:ext cx="64008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{'el': 3, 'profe': 1, 'dijo': 1, 'que': 1, 'examen': 1,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'es': 1, 'fácil': 1, 'y': 1, 'tp': 1, 'también': 1}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L43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8503920" y="1463040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Enunciado: contar cuántas veces aparece cada palabra, sin importar mayúsculas.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7635240" y="23637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L45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8503920" y="2345436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Cadenas: normalizar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lower()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separar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7635240" y="30251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L46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8503920" y="3006852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Diccionarios: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get(palabra, 0) + 1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porque que falte la palabra es normal.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390753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L47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8503920" y="3889248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el parcial: pasalo a una función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contar_palabras(texto)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TIPO PARCIAL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Promedios con una lista de diccionarios y una función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13  ·  9 / 17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463040"/>
            <a:ext cx="6400800" cy="402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935"/>
              </a:spcAft>
              <a:buSzPct val="100000"/>
              <a:buChar char="•"/>
            </a:pPr>
            <a:r>
              <a:rPr lang="en-US" sz="17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Enunciado: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escribí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promedio(alumno)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que reciba un diccionario con la clave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devuelva el promedio. Mostrá el de cada alumno.</a:t>
            </a:r>
            <a:endParaRPr lang="en-US" sz="1700" dirty="0"/>
          </a:p>
          <a:p>
            <a:pPr algn="l" marL="203200" indent="-203200">
              <a:spcAft>
                <a:spcPts val="935"/>
              </a:spcAft>
              <a:buSzPct val="100000"/>
              <a:buChar char="•"/>
            </a:pPr>
            <a:r>
              <a:rPr lang="en-US" sz="17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1, la estructura: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cada alumno es un diccionario y todos juntos forman una lista. Afuera va un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adentro se accede por clave.</a:t>
            </a:r>
            <a:endParaRPr lang="en-US" sz="1700" dirty="0"/>
          </a:p>
          <a:p>
            <a:pPr algn="l" marL="203200" indent="-203200">
              <a:spcAft>
                <a:spcPts val="935"/>
              </a:spcAft>
              <a:buSzPct val="100000"/>
              <a:buChar char="•"/>
            </a:pPr>
            <a:r>
              <a:rPr lang="en-US" sz="17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2, la función: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calcula y hace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imprime. Usa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get("notas", [])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por si falta la clave y cuida la lista vacía.</a:t>
            </a:r>
            <a:endParaRPr lang="en-US" sz="1700" dirty="0"/>
          </a:p>
          <a:p>
            <a:pPr algn="l" marL="203200" indent="-203200">
              <a:spcAft>
                <a:spcPts val="935"/>
              </a:spcAft>
              <a:buSzPct val="100000"/>
              <a:buChar char="•"/>
            </a:pPr>
            <a:r>
              <a:rPr lang="en-US" sz="17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3, programa principal y prueba: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recorre, llama y muestra. Un alumno sin notas tiene que dar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ZeroDivisionError</a:t>
            </a:r>
            <a:pPr algn="l"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360920" y="1463040"/>
            <a:ext cx="4282135" cy="2944368"/>
          </a:xfrm>
          <a:prstGeom prst="roundRect">
            <a:avLst>
              <a:gd name="adj" fmla="val 3106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54380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7"/>
          <p:cNvSpPr/>
          <p:nvPr/>
        </p:nvSpPr>
        <p:spPr>
          <a:xfrm>
            <a:off x="772668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Shape 8"/>
          <p:cNvSpPr/>
          <p:nvPr/>
        </p:nvSpPr>
        <p:spPr>
          <a:xfrm>
            <a:off x="790956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138160" y="1517904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parcial_ej3.py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7470648" y="1920240"/>
            <a:ext cx="2773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894320" y="1920240"/>
            <a:ext cx="3684727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"""Promedio de notas; 0.0 si no hay."""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notas = alumno.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[])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notas: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 /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alumnos = [{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]},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{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"Luis"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[]}]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alumnos: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(a[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(a))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60920" y="4590288"/>
            <a:ext cx="428213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543800" y="4681728"/>
            <a:ext cx="3916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7543800" y="4974336"/>
            <a:ext cx="396209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 8.5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Luis 0.0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el patrón de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clase21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(líneas 53 a 59), separado en una función con docstring, como pide el parcial.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Examen Parcial 2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Reglas claras, criterios conocidos y un plan para usar bien los 120 minutos.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13  ·  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REGLAMENTO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Condiciones del Examen Parcial 2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13  ·  11 / 17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83924"/>
                <a:gridCol w="8710491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Aspecto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Cómo es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Modalidad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Individual, presencial y obligatoria, en el laboratorio.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Duración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120 minutos.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Material permitido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Apuntes teóricos propios en papel y la documentación oficial de Python instalada en la compu.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Prohibido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IA generativa, chats, foros externos y consultas entre compañeros. Usarlos anula el examen.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Entrega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 archivo por ejercicio,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apellido_parcial2_ejX.py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por la plataforma o en USB según indique el docente.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Requisitos del código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Cada función con su docstring. Cada archivo corre desde la terminal sin errores.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Temas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Unidades 3 y 4: funciones, cadenas, listas, tuplas, diccionarios y conjuntos.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Escala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o más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mantenés la promoción directa.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a 6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regularizás la materia.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CRITERIOS DE CORRECCIÓN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se corrige: qué pesa cada cosa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13  ·  12 / 17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658992"/>
                <a:gridCol w="1008583"/>
                <a:gridCol w="3667575"/>
                <a:gridCol w="375926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Criterio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Peso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mira el profe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Cómo sumar puntos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Corrección lógica y algorítmica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40%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 el programa haga lo pedido con cualquier dato válido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Probá casos normales y raros: vacío, mayúsculas, clave inexistente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Modularización y docstrings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25%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Funciones con una sola responsabilidad y documentadas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Una función, una tarea. Calcular con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mostrar afuera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Estructuras de datos adecuadas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20%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 elijas bien entre lista, tupla, diccionario y set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Búsqueda por código: diccionario. Sin repetidos: set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Calidad de código y PEP 8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15%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Nombres claros, sangría prolija, sin código muerto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snake_case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; nada de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aux2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ni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de prueba olvidados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programa que no corre pierde la parte que más pesa. Antes de entregar,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ejecutá cada archivo una última vez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ESTRATEGIA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encarar cada ejercicio del parcial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13  ·  13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Leer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Leé el enunciado completo antes de tocar el teclado. Anotá qué entra, qué sale y con qué datos probar.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3070784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3" name="Shape 9"/>
          <p:cNvSpPr/>
          <p:nvPr/>
        </p:nvSpPr>
        <p:spPr>
          <a:xfrm>
            <a:off x="3436544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3665144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241216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Elegir estructura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3665144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¿Importa el orden? Lista. ¿Buscás por nombre o código? Diccionario. ¿Sin repetidos? Set.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595868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8" name="Shape 14"/>
          <p:cNvSpPr/>
          <p:nvPr/>
        </p:nvSpPr>
        <p:spPr>
          <a:xfrm>
            <a:off x="6324448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7129120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Funciones chicas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6553048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Empezá por la función más simple, con docstring y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Probala sola antes de seguir.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6507328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644488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es_aprobado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&gt;=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846591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5" name="Shape 21"/>
          <p:cNvSpPr/>
          <p:nvPr/>
        </p:nvSpPr>
        <p:spPr>
          <a:xfrm>
            <a:off x="9212351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9440951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10017023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Probar y entregar</a:t>
            </a:r>
            <a:endParaRPr lang="en-US" sz="1350" dirty="0"/>
          </a:p>
        </p:txBody>
      </p:sp>
      <p:sp>
        <p:nvSpPr>
          <p:cNvPr id="28" name="Text 24"/>
          <p:cNvSpPr txBox="1"/>
          <p:nvPr/>
        </p:nvSpPr>
        <p:spPr>
          <a:xfrm>
            <a:off x="9440951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Probá casos raros: lista vacía, clave que no existe, texto con espacios. Corré el archivo y entregá.</a:t>
            </a:r>
            <a:endParaRPr lang="en-US" sz="1700" dirty="0"/>
          </a:p>
        </p:txBody>
      </p:sp>
      <p:sp>
        <p:nvSpPr>
          <p:cNvPr id="29" name="Shape 25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Consejo: si te trabás mucho en un ejercicio, pasá al siguiente y volvé después con la cabeza fresca.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 AQUÍ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 que más restan en el parcial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13  ·  14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5727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en lugar de return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19385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función muestra el resultado pero devuelve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no se puede usar.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26280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90872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690872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doble(n):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 * 2)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47508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112100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112100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doble(n):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* 2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69748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77240" y="2807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Borrar mientras recorrés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1729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quitar dentro del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saltean elementos.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526280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90872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690872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 in notas: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 4: notas.remove(n)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947508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112100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112100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[n for n in notas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if n &gt;= 4]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48640" y="3931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77240" y="40416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Guardar lo que da sort()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777240" y="44074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sort()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devuelve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la variable queda sin la lista.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526280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690872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4690872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orden = notas.sort()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7947508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112100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8112100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orden = sorted(notas)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777240" y="5276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Corchetes con clave dudosa</a:t>
            </a:r>
            <a:endParaRPr lang="en-US" sz="1450" dirty="0"/>
          </a:p>
        </p:txBody>
      </p:sp>
      <p:sp>
        <p:nvSpPr>
          <p:cNvPr id="37" name="Text 33"/>
          <p:cNvSpPr txBox="1"/>
          <p:nvPr/>
        </p:nvSpPr>
        <p:spPr>
          <a:xfrm>
            <a:off x="777240" y="56418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la clave no está,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KeyError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corta el programa.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26280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690872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4690872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stock[codigo]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7947508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8112100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8112100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stock.get(codigo, 0)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DUDAS DE AULA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que seguro aparecen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13  ·  15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lista de diccionarios y no listas paralelas?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paralelas se desalinean si ordenás o borrás en una sola. En la lista de diccionarios cada registro viaja con sus claves: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alumno["nombre"]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alumno["nota"]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nunca se separan.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010248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falla borrar de una lista mientras la recorro?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los elementos se corren un lugar, pero el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avanza igual y saltea el siguiente.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[3, 2, 8]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quitando los menores a 4, queda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[2, 8]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Usá una comprensión.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325880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¿Buscar con in es igual de rápido en lista que en set?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No. En una lista recorre elemento por elemento; en un set o en las claves de un diccionario usa el hash y es casi instantáneo, tenga 10 o un millón de datos.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010248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¿Cuándo sí o sí conviene una tupla?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Cuando el dato es un registro fijo que no debe cambiar por error, como una coordenada, o cuando lo necesitás como clave de un diccionario: una lista ahí da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usar la IA para preparar el parcial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13  ·  16 / 17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E5F4E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Sí: la IA como tutor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un simulacro que combine una función con docstring, una lista de diccionarios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Resolver ese simulacro solo, con cronómetro, y recién después pedirle una revisión.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3 preguntas de defensa oral sobre tu código para ver si lo entendés de verdad.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78728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No: la IA como atajo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Usarla durante el examen: cualquier consulta a una IA anula el parcial.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Estudiar leyendo soluciones hechas: en el parcial las vas a tener que escribir vos.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Aceptar soluciones con librerías externas cuando se evalúan estructuras nativas.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0467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1463040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SUGERIDO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463040" y="5276088"/>
            <a:ext cx="9905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“Actuá como profesor de Programación de 1er año. Armame un ejercicio tipo parcial con una lista de diccionarios de productos, una función con docstring y una búsqueda con get(). No me des la solución: sólo el enunciado y 3 casos de prueba.”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 de la clase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LLEVAR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8308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funciones calculan con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el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 en el programa principal.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9384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7556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Elegí la estructura por la pregunta: orden, búsqueda por clave o unicidad.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63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6804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Normalizá el texto y usá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get()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los datos reales vienen sucios e incompletos.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7880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6052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Probá cada función con casos raros antes de entregar.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7128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95300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Leé el enunciado entero y ejecutá cada archivo una última vez.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86600" y="137160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87768" y="1517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15179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975104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Rehacer sin mirar clase14, clase19 y clase21, resolver un simulacro en 120 minutos y descansar antes del parcial.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86600" y="2971800"/>
            <a:ext cx="4556455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7768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1181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 y repasar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75304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para todos (R. González Duque): caps. 4, 6 y 8.</a:t>
            </a:r>
            <a:endParaRPr lang="en-US" sz="135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Códigos de repaso: clase14 a clase21.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086600" y="475488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FFD4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60920" y="4901184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PRÓXIMA CLASE  ·  CLASE 14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5212080"/>
            <a:ext cx="4007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Excepciones y GitHub: trabajar con un repositorio remoto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13  ·  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ISFD Juan García de Cossio · TSDS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13 - Repaso de estructuras de datos y Examen Parcial 2</dc:title>
  <dc:subject>PptxGenJS Presentation</dc:subject>
  <dc:creator>Prof. Ricardo Fernández</dc:creator>
  <cp:lastModifiedBy>Prof. Ricardo Fernández</cp:lastModifiedBy>
  <cp:revision>1</cp:revision>
  <dcterms:created xsi:type="dcterms:W3CDTF">2026-09-14T09:55:37Z</dcterms:created>
  <dcterms:modified xsi:type="dcterms:W3CDTF">2026-09-14T09:55:37Z</dcterms:modified>
</cp:coreProperties>
</file>