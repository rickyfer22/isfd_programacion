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en el proyector el repo del TP de un equipo: pestaña Commits, autores y fechas.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real de git merge feature-carpeta. Conviene provocar un conflicto en vivo con dos alumnos editando la misma constante.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recortada: en pantalla aparecen también la línea 5, la ruta completa y los ~~~^ que señalan la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66928"/>
            <a:ext cx="2331720" cy="420624"/>
          </a:xfrm>
          <a:prstGeom prst="roundRect">
            <a:avLst>
              <a:gd name="adj" fmla="val 50000"/>
            </a:avLst>
          </a:prstGeom>
          <a:solidFill>
            <a:srgbClr val="FFD43B"/>
          </a:solidFill>
          <a:ln/>
        </p:spPr>
        <p:txBody>
          <a:bodyPr wrap="square" lIns="0" tIns="0" rIns="0" bIns="0" rtlCol="0" anchor="ctr"/>
          <a:lstStyle/>
          <a:p>
            <a:pPr algn="ctr" indent="0" marL="0">
              <a:buNone/>
            </a:pPr>
            <a:r>
              <a:rPr lang="en-US" sz="1300" b="1" spc="100" kern="0" dirty="0">
                <a:solidFill>
                  <a:srgbClr val="0B1220"/>
                </a:solidFill>
                <a:latin typeface="Segoe UI" pitchFamily="34" charset="0"/>
                <a:ea typeface="Segoe UI" pitchFamily="34" charset="-122"/>
                <a:cs typeface="Segoe UI" pitchFamily="34" charset="-120"/>
              </a:rPr>
              <a:t>CLASE 18  ·  DE 20</a:t>
            </a:r>
            <a:endParaRPr lang="en-US" sz="1300" dirty="0"/>
          </a:p>
        </p:txBody>
      </p:sp>
      <p:sp>
        <p:nvSpPr>
          <p:cNvPr id="3" name="Shape 1"/>
          <p:cNvSpPr/>
          <p:nvPr/>
        </p:nvSpPr>
        <p:spPr>
          <a:xfrm>
            <a:off x="9875520" y="438912"/>
            <a:ext cx="1764792" cy="877824"/>
          </a:xfrm>
          <a:prstGeom prst="roundRect">
            <a:avLst>
              <a:gd name="adj" fmla="val 16667"/>
            </a:avLst>
          </a:prstGeom>
          <a:solidFill>
            <a:srgbClr val="FFFFFF"/>
          </a:solidFill>
          <a:ln/>
        </p:spPr>
      </p:sp>
      <p:pic>
        <p:nvPicPr>
          <p:cNvPr id="4" name="Image 0" descr="C:\Users\Ricardo\AppData\Local\Temp\claude\C--Users-Ricardo-Desktop-TSDS-PROGRAMACION\7b194102-4895-4f97-b2eb-ca36d50deb56\scratchpad\build\assets\logo_isfd.png">    </p:cNvPr>
          <p:cNvPicPr>
            <a:picLocks noChangeAspect="1"/>
          </p:cNvPicPr>
          <p:nvPr/>
        </p:nvPicPr>
        <p:blipFill>
          <a:blip r:embed="rId2"/>
          <a:stretch>
            <a:fillRect/>
          </a:stretch>
        </p:blipFill>
        <p:spPr>
          <a:xfrm>
            <a:off x="9985248" y="512064"/>
            <a:ext cx="731520" cy="73152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3"/>
          <a:stretch>
            <a:fillRect/>
          </a:stretch>
        </p:blipFill>
        <p:spPr>
          <a:xfrm>
            <a:off x="10799064" y="512064"/>
            <a:ext cx="731520" cy="731520"/>
          </a:xfrm>
          <a:prstGeom prst="rect">
            <a:avLst/>
          </a:prstGeom>
        </p:spPr>
      </p:pic>
      <p:sp>
        <p:nvSpPr>
          <p:cNvPr id="6" name="Text 2"/>
          <p:cNvSpPr txBox="1"/>
          <p:nvPr/>
        </p:nvSpPr>
        <p:spPr>
          <a:xfrm>
            <a:off x="548640" y="1325880"/>
            <a:ext cx="6675120" cy="2057400"/>
          </a:xfrm>
          <a:prstGeom prst="rect">
            <a:avLst/>
          </a:prstGeom>
          <a:noFill/>
          <a:ln/>
        </p:spPr>
        <p:txBody>
          <a:bodyPr wrap="square" lIns="0" tIns="0" rIns="0" bIns="0" rtlCol="0" anchor="b"/>
          <a:lstStyle/>
          <a:p>
            <a:pPr algn="l" indent="0" marL="0">
              <a:buNone/>
            </a:pPr>
            <a:r>
              <a:rPr lang="en-US" sz="4300" b="1" dirty="0">
                <a:solidFill>
                  <a:srgbClr val="FFFFFF"/>
                </a:solidFill>
                <a:latin typeface="Segoe UI" pitchFamily="34" charset="0"/>
                <a:ea typeface="Segoe UI" pitchFamily="34" charset="-122"/>
                <a:cs typeface="Segoe UI" pitchFamily="34" charset="-120"/>
              </a:rPr>
              <a:t>Desarrollo del proyecto en equipo con Git y GitHub</a:t>
            </a:r>
            <a:endParaRPr lang="en-US" sz="4300" dirty="0"/>
          </a:p>
        </p:txBody>
      </p:sp>
      <p:sp>
        <p:nvSpPr>
          <p:cNvPr id="7" name="Text 3"/>
          <p:cNvSpPr txBox="1"/>
          <p:nvPr/>
        </p:nvSpPr>
        <p:spPr>
          <a:xfrm>
            <a:off x="548640" y="3566160"/>
            <a:ext cx="6492240" cy="1051560"/>
          </a:xfrm>
          <a:prstGeom prst="rect">
            <a:avLst/>
          </a:prstGeom>
          <a:noFill/>
          <a:ln/>
        </p:spPr>
        <p:txBody>
          <a:bodyPr wrap="square" lIns="0" tIns="0" rIns="0" bIns="0" rtlCol="0" anchor="t"/>
          <a:lstStyle/>
          <a:p>
            <a:pPr algn="l" indent="0" marL="0">
              <a:buNone/>
            </a:pPr>
            <a:r>
              <a:rPr lang="en-US" sz="1800" dirty="0">
                <a:solidFill>
                  <a:srgbClr val="C9D7EE"/>
                </a:solidFill>
                <a:latin typeface="Segoe UI" pitchFamily="34" charset="0"/>
                <a:ea typeface="Segoe UI" pitchFamily="34" charset="-122"/>
                <a:cs typeface="Segoe UI" pitchFamily="34" charset="-120"/>
              </a:rPr>
              <a:t>Cómo programar entre varios sobre el mismo repositorio sin pisarse, y cómo encontrar y arreglar errores con método.</a:t>
            </a:r>
            <a:endParaRPr lang="en-US" sz="1800" dirty="0"/>
          </a:p>
        </p:txBody>
      </p:sp>
      <p:sp>
        <p:nvSpPr>
          <p:cNvPr id="8" name="Text 4"/>
          <p:cNvSpPr txBox="1"/>
          <p:nvPr/>
        </p:nvSpPr>
        <p:spPr>
          <a:xfrm>
            <a:off x="548640" y="4754880"/>
            <a:ext cx="6766560" cy="329184"/>
          </a:xfrm>
          <a:prstGeom prst="rect">
            <a:avLst/>
          </a:prstGeom>
          <a:noFill/>
          <a:ln/>
        </p:spPr>
        <p:txBody>
          <a:bodyPr wrap="square" lIns="0" tIns="0" rIns="0" bIns="0" rtlCol="0" anchor="t"/>
          <a:lstStyle/>
          <a:p>
            <a:pPr algn="l" indent="0" marL="0">
              <a:buNone/>
            </a:pPr>
            <a:r>
              <a:rPr lang="en-US" sz="1300" b="1" dirty="0">
                <a:solidFill>
                  <a:srgbClr val="FFD43B"/>
                </a:solidFill>
                <a:latin typeface="Segoe UI" pitchFamily="34" charset="0"/>
                <a:ea typeface="Segoe UI" pitchFamily="34" charset="-122"/>
                <a:cs typeface="Segoe UI" pitchFamily="34" charset="-120"/>
              </a:rPr>
              <a:t>Unidad 5</a:t>
            </a:r>
            <a:endParaRPr lang="en-US" sz="1300" dirty="0"/>
          </a:p>
        </p:txBody>
      </p:sp>
      <p:sp>
        <p:nvSpPr>
          <p:cNvPr id="9" name="Text 5"/>
          <p:cNvSpPr txBox="1"/>
          <p:nvPr/>
        </p:nvSpPr>
        <p:spPr>
          <a:xfrm>
            <a:off x="548640" y="5760720"/>
            <a:ext cx="8229600" cy="292608"/>
          </a:xfrm>
          <a:prstGeom prst="rect">
            <a:avLst/>
          </a:prstGeom>
          <a:noFill/>
          <a:ln/>
        </p:spPr>
        <p:txBody>
          <a:bodyPr wrap="square" lIns="0" tIns="0" rIns="0" bIns="0" rtlCol="0" anchor="t"/>
          <a:lstStyle/>
          <a:p>
            <a:pPr algn="l" indent="0" marL="0">
              <a:buNone/>
            </a:pPr>
            <a:r>
              <a:rPr lang="en-US" sz="1250" b="1" dirty="0">
                <a:solidFill>
                  <a:srgbClr val="FFFFFF"/>
                </a:solidFill>
                <a:latin typeface="Segoe UI" pitchFamily="34" charset="0"/>
                <a:ea typeface="Segoe UI" pitchFamily="34" charset="-122"/>
                <a:cs typeface="Segoe UI" pitchFamily="34" charset="-120"/>
              </a:rPr>
              <a:t>Instituto Superior de Formación Docente “Juan García de Cossio”</a:t>
            </a:r>
            <a:endParaRPr lang="en-US" sz="1250" dirty="0"/>
          </a:p>
        </p:txBody>
      </p:sp>
      <p:sp>
        <p:nvSpPr>
          <p:cNvPr id="10" name="Text 6"/>
          <p:cNvSpPr txBox="1"/>
          <p:nvPr/>
        </p:nvSpPr>
        <p:spPr>
          <a:xfrm>
            <a:off x="548640" y="6071616"/>
            <a:ext cx="10058400" cy="274320"/>
          </a:xfrm>
          <a:prstGeom prst="rect">
            <a:avLst/>
          </a:prstGeom>
          <a:noFill/>
          <a:ln/>
        </p:spPr>
        <p:txBody>
          <a:bodyPr wrap="square" lIns="0" tIns="0" rIns="0" bIns="0" rtlCol="0" anchor="t"/>
          <a:lstStyle/>
          <a:p>
            <a:pPr algn="l" indent="0" marL="0">
              <a:buNone/>
            </a:pPr>
            <a:r>
              <a:rPr lang="en-US" sz="1050" dirty="0">
                <a:solidFill>
                  <a:srgbClr val="C9D7EE"/>
                </a:solidFill>
                <a:latin typeface="Segoe UI" pitchFamily="34" charset="0"/>
                <a:ea typeface="Segoe UI" pitchFamily="34" charset="-122"/>
                <a:cs typeface="Segoe UI" pitchFamily="34" charset="-120"/>
              </a:rPr>
              <a:t>Tecnicatura Superior en Desarrollo de Software  ·  Cátedra de Programación (1er año)  ·  Prof. Ricardo Fernández  ·  Ciclo 2026</a:t>
            </a:r>
            <a:endParaRPr lang="en-US" sz="1050" dirty="0"/>
          </a:p>
        </p:txBody>
      </p:sp>
      <p:sp>
        <p:nvSpPr>
          <p:cNvPr id="11" name="Shape 7"/>
          <p:cNvSpPr/>
          <p:nvPr/>
        </p:nvSpPr>
        <p:spPr>
          <a:xfrm>
            <a:off x="7589520" y="1463040"/>
            <a:ext cx="4050792" cy="4023360"/>
          </a:xfrm>
          <a:prstGeom prst="roundRect">
            <a:avLst>
              <a:gd name="adj" fmla="val 2727"/>
            </a:avLst>
          </a:prstGeom>
          <a:solidFill>
            <a:srgbClr val="16213A"/>
          </a:solidFill>
          <a:ln w="9525">
            <a:solidFill>
              <a:srgbClr val="2A3A5E"/>
            </a:solidFill>
            <a:prstDash val="solid"/>
          </a:ln>
        </p:spPr>
      </p:sp>
      <p:sp>
        <p:nvSpPr>
          <p:cNvPr id="12" name="Text 8"/>
          <p:cNvSpPr txBox="1"/>
          <p:nvPr/>
        </p:nvSpPr>
        <p:spPr>
          <a:xfrm>
            <a:off x="7845552" y="1664208"/>
            <a:ext cx="3566160" cy="310896"/>
          </a:xfrm>
          <a:prstGeom prst="rect">
            <a:avLst/>
          </a:prstGeom>
          <a:noFill/>
          <a:ln/>
        </p:spPr>
        <p:txBody>
          <a:bodyPr wrap="square" lIns="0" tIns="0" rIns="0" bIns="0" rtlCol="0" anchor="t"/>
          <a:lstStyle/>
          <a:p>
            <a:pPr algn="l" indent="0" marL="0">
              <a:buNone/>
            </a:pPr>
            <a:r>
              <a:rPr lang="en-US" sz="1150" b="1" spc="150" kern="0" dirty="0">
                <a:solidFill>
                  <a:srgbClr val="FFD43B"/>
                </a:solidFill>
                <a:latin typeface="Segoe UI" pitchFamily="34" charset="0"/>
                <a:ea typeface="Segoe UI" pitchFamily="34" charset="-122"/>
                <a:cs typeface="Segoe UI" pitchFamily="34" charset="-120"/>
              </a:rPr>
              <a:t>AL TERMINAR VAS A PODER…</a:t>
            </a:r>
            <a:endParaRPr lang="en-US" sz="1150" dirty="0"/>
          </a:p>
        </p:txBody>
      </p:sp>
      <p:sp>
        <p:nvSpPr>
          <p:cNvPr id="13" name="Text 9"/>
          <p:cNvSpPr txBox="1"/>
          <p:nvPr/>
        </p:nvSpPr>
        <p:spPr>
          <a:xfrm>
            <a:off x="7845552" y="2167128"/>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1</a:t>
            </a:r>
            <a:endParaRPr lang="en-US" sz="1150" dirty="0"/>
          </a:p>
        </p:txBody>
      </p:sp>
      <p:sp>
        <p:nvSpPr>
          <p:cNvPr id="14" name="Text 10"/>
          <p:cNvSpPr txBox="1"/>
          <p:nvPr/>
        </p:nvSpPr>
        <p:spPr>
          <a:xfrm>
            <a:off x="8302752" y="2148840"/>
            <a:ext cx="3136392" cy="502920"/>
          </a:xfrm>
          <a:prstGeom prst="rect">
            <a:avLst/>
          </a:prstGeom>
          <a:noFill/>
          <a:ln/>
        </p:spPr>
        <p:txBody>
          <a:bodyPr wrap="square" lIns="12700" tIns="12700" rIns="12700" bIns="12700" rtlCol="0" anchor="t"/>
          <a:lstStyle/>
          <a:p>
            <a:pPr algn="l" indent="0" marL="0">
              <a:buNone/>
            </a:pPr>
            <a:r>
              <a:rPr lang="en-US" sz="1350" dirty="0">
                <a:solidFill>
                  <a:srgbClr val="FFFFFF"/>
                </a:solidFill>
                <a:latin typeface="Segoe UI" pitchFamily="34" charset="0"/>
                <a:ea typeface="Segoe UI" pitchFamily="34" charset="-122"/>
                <a:cs typeface="Segoe UI" pitchFamily="34" charset="-120"/>
              </a:rPr>
              <a:t>Trabajar con </a:t>
            </a:r>
            <a:pPr algn="l" indent="0" marL="0">
              <a:buNone/>
            </a:pPr>
            <a:r>
              <a:rPr lang="en-US" sz="1350" b="1" dirty="0">
                <a:solidFill>
                  <a:srgbClr val="FFFFFF"/>
                </a:solidFill>
                <a:latin typeface="Segoe UI" pitchFamily="34" charset="0"/>
                <a:ea typeface="Segoe UI" pitchFamily="34" charset="-122"/>
                <a:cs typeface="Segoe UI" pitchFamily="34" charset="-120"/>
              </a:rPr>
              <a:t>ramas</a:t>
            </a:r>
            <a:pPr algn="l" indent="0" marL="0">
              <a:buNone/>
            </a:pPr>
            <a:r>
              <a:rPr lang="en-US" sz="1350" dirty="0">
                <a:solidFill>
                  <a:srgbClr val="FFFFFF"/>
                </a:solidFill>
                <a:latin typeface="Segoe UI" pitchFamily="34" charset="0"/>
                <a:ea typeface="Segoe UI" pitchFamily="34" charset="-122"/>
                <a:cs typeface="Segoe UI" pitchFamily="34" charset="-120"/>
              </a:rPr>
              <a:t> y el flujo branch → commit → push → PR → merge.</a:t>
            </a:r>
            <a:endParaRPr lang="en-US" sz="1350" dirty="0"/>
          </a:p>
        </p:txBody>
      </p:sp>
      <p:sp>
        <p:nvSpPr>
          <p:cNvPr id="15" name="Text 11"/>
          <p:cNvSpPr txBox="1"/>
          <p:nvPr/>
        </p:nvSpPr>
        <p:spPr>
          <a:xfrm>
            <a:off x="7845552" y="2816352"/>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2</a:t>
            </a:r>
            <a:endParaRPr lang="en-US" sz="1150" dirty="0"/>
          </a:p>
        </p:txBody>
      </p:sp>
      <p:sp>
        <p:nvSpPr>
          <p:cNvPr id="16" name="Text 12"/>
          <p:cNvSpPr txBox="1"/>
          <p:nvPr/>
        </p:nvSpPr>
        <p:spPr>
          <a:xfrm>
            <a:off x="8302752" y="2798064"/>
            <a:ext cx="3136392" cy="502920"/>
          </a:xfrm>
          <a:prstGeom prst="rect">
            <a:avLst/>
          </a:prstGeom>
          <a:noFill/>
          <a:ln/>
        </p:spPr>
        <p:txBody>
          <a:bodyPr wrap="square" lIns="12700" tIns="12700" rIns="12700" bIns="12700" rtlCol="0" anchor="t"/>
          <a:lstStyle/>
          <a:p>
            <a:pPr algn="l" indent="0" marL="0">
              <a:buNone/>
            </a:pPr>
            <a:r>
              <a:rPr lang="en-US" sz="1350" dirty="0">
                <a:solidFill>
                  <a:srgbClr val="FFFFFF"/>
                </a:solidFill>
                <a:latin typeface="Segoe UI" pitchFamily="34" charset="0"/>
                <a:ea typeface="Segoe UI" pitchFamily="34" charset="-122"/>
                <a:cs typeface="Segoe UI" pitchFamily="34" charset="-120"/>
              </a:rPr>
              <a:t>Leer los marcadores de un </a:t>
            </a:r>
            <a:pPr algn="l" indent="0" marL="0">
              <a:buNone/>
            </a:pPr>
            <a:r>
              <a:rPr lang="en-US" sz="1350" b="1" dirty="0">
                <a:solidFill>
                  <a:srgbClr val="FFFFFF"/>
                </a:solidFill>
                <a:latin typeface="Segoe UI" pitchFamily="34" charset="0"/>
                <a:ea typeface="Segoe UI" pitchFamily="34" charset="-122"/>
                <a:cs typeface="Segoe UI" pitchFamily="34" charset="-120"/>
              </a:rPr>
              <a:t>conflicto de merge</a:t>
            </a:r>
            <a:pPr algn="l" indent="0" marL="0">
              <a:buNone/>
            </a:pPr>
            <a:r>
              <a:rPr lang="en-US" sz="1350" dirty="0">
                <a:solidFill>
                  <a:srgbClr val="FFFFFF"/>
                </a:solidFill>
                <a:latin typeface="Segoe UI" pitchFamily="34" charset="0"/>
                <a:ea typeface="Segoe UI" pitchFamily="34" charset="-122"/>
                <a:cs typeface="Segoe UI" pitchFamily="34" charset="-120"/>
              </a:rPr>
              <a:t> y resolverlo.</a:t>
            </a:r>
            <a:endParaRPr lang="en-US" sz="1350" dirty="0"/>
          </a:p>
        </p:txBody>
      </p:sp>
      <p:sp>
        <p:nvSpPr>
          <p:cNvPr id="17" name="Text 13"/>
          <p:cNvSpPr txBox="1"/>
          <p:nvPr/>
        </p:nvSpPr>
        <p:spPr>
          <a:xfrm>
            <a:off x="7845552" y="3465576"/>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3</a:t>
            </a:r>
            <a:endParaRPr lang="en-US" sz="1150" dirty="0"/>
          </a:p>
        </p:txBody>
      </p:sp>
      <p:sp>
        <p:nvSpPr>
          <p:cNvPr id="18" name="Text 14"/>
          <p:cNvSpPr txBox="1"/>
          <p:nvPr/>
        </p:nvSpPr>
        <p:spPr>
          <a:xfrm>
            <a:off x="8302752" y="3447288"/>
            <a:ext cx="3136392" cy="502920"/>
          </a:xfrm>
          <a:prstGeom prst="rect">
            <a:avLst/>
          </a:prstGeom>
          <a:noFill/>
          <a:ln/>
        </p:spPr>
        <p:txBody>
          <a:bodyPr wrap="square" lIns="12700" tIns="12700" rIns="12700" bIns="12700" rtlCol="0" anchor="t"/>
          <a:lstStyle/>
          <a:p>
            <a:pPr algn="l" indent="0" marL="0">
              <a:buNone/>
            </a:pPr>
            <a:r>
              <a:rPr lang="en-US" sz="1350" dirty="0">
                <a:solidFill>
                  <a:srgbClr val="FFFFFF"/>
                </a:solidFill>
                <a:latin typeface="Segoe UI" pitchFamily="34" charset="0"/>
                <a:ea typeface="Segoe UI" pitchFamily="34" charset="-122"/>
                <a:cs typeface="Segoe UI" pitchFamily="34" charset="-120"/>
              </a:rPr>
              <a:t>Escribir commits claros y repartir tareas con </a:t>
            </a:r>
            <a:pPr algn="l" indent="0" marL="0">
              <a:buNone/>
            </a:pPr>
            <a:r>
              <a:rPr lang="en-US" sz="1350" b="1" dirty="0">
                <a:solidFill>
                  <a:srgbClr val="FFFFFF"/>
                </a:solidFill>
                <a:latin typeface="Segoe UI" pitchFamily="34" charset="0"/>
                <a:ea typeface="Segoe UI" pitchFamily="34" charset="-122"/>
                <a:cs typeface="Segoe UI" pitchFamily="34" charset="-120"/>
              </a:rPr>
              <a:t>issues</a:t>
            </a:r>
            <a:pPr algn="l" indent="0" marL="0">
              <a:buNone/>
            </a:pPr>
            <a:r>
              <a:rPr lang="en-US" sz="1350" dirty="0">
                <a:solidFill>
                  <a:srgbClr val="FFFFFF"/>
                </a:solidFill>
                <a:latin typeface="Segoe UI" pitchFamily="34" charset="0"/>
                <a:ea typeface="Segoe UI" pitchFamily="34" charset="-122"/>
                <a:cs typeface="Segoe UI" pitchFamily="34" charset="-120"/>
              </a:rPr>
              <a:t>.</a:t>
            </a:r>
            <a:endParaRPr lang="en-US" sz="1350" dirty="0"/>
          </a:p>
        </p:txBody>
      </p:sp>
      <p:sp>
        <p:nvSpPr>
          <p:cNvPr id="19" name="Text 15"/>
          <p:cNvSpPr txBox="1"/>
          <p:nvPr/>
        </p:nvSpPr>
        <p:spPr>
          <a:xfrm>
            <a:off x="7845552" y="4114800"/>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4</a:t>
            </a:r>
            <a:endParaRPr lang="en-US" sz="1150" dirty="0"/>
          </a:p>
        </p:txBody>
      </p:sp>
      <p:sp>
        <p:nvSpPr>
          <p:cNvPr id="20" name="Text 16"/>
          <p:cNvSpPr txBox="1"/>
          <p:nvPr/>
        </p:nvSpPr>
        <p:spPr>
          <a:xfrm>
            <a:off x="8302752" y="4096512"/>
            <a:ext cx="3136392" cy="502920"/>
          </a:xfrm>
          <a:prstGeom prst="rect">
            <a:avLst/>
          </a:prstGeom>
          <a:noFill/>
          <a:ln/>
        </p:spPr>
        <p:txBody>
          <a:bodyPr wrap="square" lIns="12700" tIns="12700" rIns="12700" bIns="12700" rtlCol="0" anchor="t"/>
          <a:lstStyle/>
          <a:p>
            <a:pPr algn="l" indent="0" marL="0">
              <a:buNone/>
            </a:pPr>
            <a:r>
              <a:rPr lang="en-US" sz="1350" dirty="0">
                <a:solidFill>
                  <a:srgbClr val="FFFFFF"/>
                </a:solidFill>
                <a:latin typeface="Segoe UI" pitchFamily="34" charset="0"/>
                <a:ea typeface="Segoe UI" pitchFamily="34" charset="-122"/>
                <a:cs typeface="Segoe UI" pitchFamily="34" charset="-120"/>
              </a:rPr>
              <a:t>Depurar con prints, trazado y lectura de </a:t>
            </a:r>
            <a:pPr algn="l" indent="0" marL="0">
              <a:buNone/>
            </a:pPr>
            <a:r>
              <a:rPr lang="en-US" sz="1350" b="1" dirty="0">
                <a:solidFill>
                  <a:srgbClr val="FFFFFF"/>
                </a:solidFill>
                <a:latin typeface="Segoe UI" pitchFamily="34" charset="0"/>
                <a:ea typeface="Segoe UI" pitchFamily="34" charset="-122"/>
                <a:cs typeface="Segoe UI" pitchFamily="34" charset="-120"/>
              </a:rPr>
              <a:t>tracebacks</a:t>
            </a:r>
            <a:pPr algn="l" indent="0" marL="0">
              <a:buNone/>
            </a:pPr>
            <a:r>
              <a:rPr lang="en-US" sz="1350" dirty="0">
                <a:solidFill>
                  <a:srgbClr val="FFFFFF"/>
                </a:solidFill>
                <a:latin typeface="Segoe UI" pitchFamily="34" charset="0"/>
                <a:ea typeface="Segoe UI" pitchFamily="34" charset="-122"/>
                <a:cs typeface="Segoe UI" pitchFamily="34" charset="-120"/>
              </a:rPr>
              <a:t>.</a:t>
            </a:r>
            <a:endParaRPr lang="en-US" sz="1350" dirty="0"/>
          </a:p>
        </p:txBody>
      </p:sp>
      <p:sp>
        <p:nvSpPr>
          <p:cNvPr id="21" name="Text 17"/>
          <p:cNvSpPr txBox="1"/>
          <p:nvPr/>
        </p:nvSpPr>
        <p:spPr>
          <a:xfrm>
            <a:off x="7845552" y="4764024"/>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5</a:t>
            </a:r>
            <a:endParaRPr lang="en-US" sz="1150" dirty="0"/>
          </a:p>
        </p:txBody>
      </p:sp>
      <p:sp>
        <p:nvSpPr>
          <p:cNvPr id="22" name="Text 18"/>
          <p:cNvSpPr txBox="1"/>
          <p:nvPr/>
        </p:nvSpPr>
        <p:spPr>
          <a:xfrm>
            <a:off x="8302752" y="4745736"/>
            <a:ext cx="3136392" cy="502920"/>
          </a:xfrm>
          <a:prstGeom prst="rect">
            <a:avLst/>
          </a:prstGeom>
          <a:noFill/>
          <a:ln/>
        </p:spPr>
        <p:txBody>
          <a:bodyPr wrap="square" lIns="12700" tIns="12700" rIns="12700" bIns="12700" rtlCol="0" anchor="t"/>
          <a:lstStyle/>
          <a:p>
            <a:pPr algn="l" indent="0" marL="0">
              <a:buNone/>
            </a:pPr>
            <a:r>
              <a:rPr lang="en-US" sz="1350" dirty="0">
                <a:solidFill>
                  <a:srgbClr val="FFFFFF"/>
                </a:solidFill>
                <a:latin typeface="Segoe UI" pitchFamily="34" charset="0"/>
                <a:ea typeface="Segoe UI" pitchFamily="34" charset="-122"/>
                <a:cs typeface="Segoe UI" pitchFamily="34" charset="-120"/>
              </a:rPr>
              <a:t>Refactorizar la plantilla del proyecto sin cambiar lo que hace.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HOJA DE RUTA</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Qué vamos a hacer hoy</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2 / 23</a:t>
            </a:r>
            <a:endParaRPr lang="en-US" sz="900" dirty="0"/>
          </a:p>
        </p:txBody>
      </p:sp>
      <p:sp>
        <p:nvSpPr>
          <p:cNvPr id="8" name="Shape 4"/>
          <p:cNvSpPr/>
          <p:nvPr/>
        </p:nvSpPr>
        <p:spPr>
          <a:xfrm>
            <a:off x="1207008" y="2066544"/>
            <a:ext cx="1099261" cy="0"/>
          </a:xfrm>
          <a:prstGeom prst="line">
            <a:avLst/>
          </a:prstGeom>
          <a:noFill/>
          <a:ln w="19050">
            <a:solidFill>
              <a:srgbClr val="B9C6D8"/>
            </a:solidFill>
            <a:prstDash val="dash"/>
          </a:ln>
        </p:spPr>
      </p:sp>
      <p:sp>
        <p:nvSpPr>
          <p:cNvPr id="9" name="Text 5"/>
          <p:cNvSpPr txBox="1"/>
          <p:nvPr/>
        </p:nvSpPr>
        <p:spPr>
          <a:xfrm>
            <a:off x="548640" y="1783080"/>
            <a:ext cx="566928" cy="566928"/>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01</a:t>
            </a:r>
            <a:endParaRPr lang="en-US" sz="1400" dirty="0"/>
          </a:p>
        </p:txBody>
      </p:sp>
      <p:sp>
        <p:nvSpPr>
          <p:cNvPr id="10" name="Text 6"/>
          <p:cNvSpPr txBox="1"/>
          <p:nvPr/>
        </p:nvSpPr>
        <p:spPr>
          <a:xfrm>
            <a:off x="548640" y="2496312"/>
            <a:ext cx="1666189" cy="384048"/>
          </a:xfrm>
          <a:prstGeom prst="rect">
            <a:avLst/>
          </a:prstGeom>
          <a:noFill/>
          <a:ln/>
        </p:spPr>
        <p:txBody>
          <a:bodyPr wrap="square" lIns="0" tIns="0" rIns="0" bIns="0" rtlCol="0" anchor="t"/>
          <a:lstStyle/>
          <a:p>
            <a:pPr algn="l" indent="0" marL="0">
              <a:buNone/>
            </a:pPr>
            <a:r>
              <a:rPr lang="en-US" sz="1550" b="1" dirty="0">
                <a:solidFill>
                  <a:srgbClr val="1B2333"/>
                </a:solidFill>
                <a:latin typeface="Segoe UI" pitchFamily="34" charset="0"/>
                <a:ea typeface="Segoe UI" pitchFamily="34" charset="-122"/>
                <a:cs typeface="Segoe UI" pitchFamily="34" charset="-120"/>
              </a:rPr>
              <a:t>Repo compartido</a:t>
            </a:r>
            <a:endParaRPr lang="en-US" sz="1550" dirty="0"/>
          </a:p>
        </p:txBody>
      </p:sp>
      <p:sp>
        <p:nvSpPr>
          <p:cNvPr id="11" name="Text 7"/>
          <p:cNvSpPr txBox="1"/>
          <p:nvPr/>
        </p:nvSpPr>
        <p:spPr>
          <a:xfrm>
            <a:off x="548640" y="2880360"/>
            <a:ext cx="1620469" cy="1417320"/>
          </a:xfrm>
          <a:prstGeom prst="rect">
            <a:avLst/>
          </a:prstGeom>
          <a:noFill/>
          <a:ln/>
        </p:spPr>
        <p:txBody>
          <a:bodyPr wrap="square" lIns="0" tIns="0" rIns="0" bIns="0" rtlCol="0" anchor="t"/>
          <a:lstStyle/>
          <a:p>
            <a:pPr algn="l" indent="0" marL="0">
              <a:buNone/>
            </a:pPr>
            <a:r>
              <a:rPr lang="en-US" sz="1550" dirty="0">
                <a:solidFill>
                  <a:srgbClr val="4F5A6D"/>
                </a:solidFill>
                <a:latin typeface="Segoe UI" pitchFamily="34" charset="0"/>
                <a:ea typeface="Segoe UI" pitchFamily="34" charset="-122"/>
                <a:cs typeface="Segoe UI" pitchFamily="34" charset="-120"/>
              </a:rPr>
              <a:t>Por qué un solo repositorio y no archivos por WhatsApp.</a:t>
            </a:r>
            <a:endParaRPr lang="en-US" sz="1550" dirty="0"/>
          </a:p>
        </p:txBody>
      </p:sp>
      <p:sp>
        <p:nvSpPr>
          <p:cNvPr id="12" name="Shape 8"/>
          <p:cNvSpPr/>
          <p:nvPr/>
        </p:nvSpPr>
        <p:spPr>
          <a:xfrm>
            <a:off x="3056077" y="2066544"/>
            <a:ext cx="1099261" cy="0"/>
          </a:xfrm>
          <a:prstGeom prst="line">
            <a:avLst/>
          </a:prstGeom>
          <a:noFill/>
          <a:ln w="19050">
            <a:solidFill>
              <a:srgbClr val="B9C6D8"/>
            </a:solidFill>
            <a:prstDash val="dash"/>
          </a:ln>
        </p:spPr>
      </p:sp>
      <p:sp>
        <p:nvSpPr>
          <p:cNvPr id="13" name="Text 9"/>
          <p:cNvSpPr txBox="1"/>
          <p:nvPr/>
        </p:nvSpPr>
        <p:spPr>
          <a:xfrm>
            <a:off x="2397709" y="1783080"/>
            <a:ext cx="566928" cy="566928"/>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02</a:t>
            </a:r>
            <a:endParaRPr lang="en-US" sz="1400" dirty="0"/>
          </a:p>
        </p:txBody>
      </p:sp>
      <p:sp>
        <p:nvSpPr>
          <p:cNvPr id="14" name="Text 10"/>
          <p:cNvSpPr txBox="1"/>
          <p:nvPr/>
        </p:nvSpPr>
        <p:spPr>
          <a:xfrm>
            <a:off x="2397709" y="2496312"/>
            <a:ext cx="1666189" cy="384048"/>
          </a:xfrm>
          <a:prstGeom prst="rect">
            <a:avLst/>
          </a:prstGeom>
          <a:noFill/>
          <a:ln/>
        </p:spPr>
        <p:txBody>
          <a:bodyPr wrap="square" lIns="0" tIns="0" rIns="0" bIns="0" rtlCol="0" anchor="t"/>
          <a:lstStyle/>
          <a:p>
            <a:pPr algn="l" indent="0" marL="0">
              <a:buNone/>
            </a:pPr>
            <a:r>
              <a:rPr lang="en-US" sz="1550" b="1" dirty="0">
                <a:solidFill>
                  <a:srgbClr val="1B2333"/>
                </a:solidFill>
                <a:latin typeface="Segoe UI" pitchFamily="34" charset="0"/>
                <a:ea typeface="Segoe UI" pitchFamily="34" charset="-122"/>
                <a:cs typeface="Segoe UI" pitchFamily="34" charset="-120"/>
              </a:rPr>
              <a:t>Ramas</a:t>
            </a:r>
            <a:endParaRPr lang="en-US" sz="1550" dirty="0"/>
          </a:p>
        </p:txBody>
      </p:sp>
      <p:sp>
        <p:nvSpPr>
          <p:cNvPr id="15" name="Text 11"/>
          <p:cNvSpPr txBox="1"/>
          <p:nvPr/>
        </p:nvSpPr>
        <p:spPr>
          <a:xfrm>
            <a:off x="2397709" y="2880360"/>
            <a:ext cx="1620469" cy="1417320"/>
          </a:xfrm>
          <a:prstGeom prst="rect">
            <a:avLst/>
          </a:prstGeom>
          <a:noFill/>
          <a:ln/>
        </p:spPr>
        <p:txBody>
          <a:bodyPr wrap="square" lIns="0" tIns="0" rIns="0" bIns="0" rtlCol="0" anchor="t"/>
          <a:lstStyle/>
          <a:p>
            <a:pPr algn="l" indent="0" marL="0">
              <a:buNone/>
            </a:pPr>
            <a:r>
              <a:rPr lang="en-US" sz="1550" dirty="0">
                <a:solidFill>
                  <a:srgbClr val="4F5A6D"/>
                </a:solidFill>
                <a:latin typeface="Segoe UI" pitchFamily="34" charset="0"/>
                <a:ea typeface="Segoe UI" pitchFamily="34" charset="-122"/>
                <a:cs typeface="Segoe UI" pitchFamily="34" charset="-120"/>
              </a:rPr>
              <a:t>Cada integrante trabaja en su copia sin romper </a:t>
            </a:r>
            <a:pPr algn="l" indent="0" marL="0">
              <a:buNone/>
            </a:pPr>
            <a:r>
              <a:rPr lang="en-US" sz="155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550" dirty="0">
                <a:solidFill>
                  <a:srgbClr val="4F5A6D"/>
                </a:solidFill>
                <a:latin typeface="Segoe UI" pitchFamily="34" charset="0"/>
                <a:ea typeface="Segoe UI" pitchFamily="34" charset="-122"/>
                <a:cs typeface="Segoe UI" pitchFamily="34" charset="-120"/>
              </a:rPr>
              <a:t>.</a:t>
            </a:r>
            <a:endParaRPr lang="en-US" sz="1550" dirty="0"/>
          </a:p>
        </p:txBody>
      </p:sp>
      <p:sp>
        <p:nvSpPr>
          <p:cNvPr id="16" name="Shape 12"/>
          <p:cNvSpPr/>
          <p:nvPr/>
        </p:nvSpPr>
        <p:spPr>
          <a:xfrm>
            <a:off x="4905146" y="2066544"/>
            <a:ext cx="1099261" cy="0"/>
          </a:xfrm>
          <a:prstGeom prst="line">
            <a:avLst/>
          </a:prstGeom>
          <a:noFill/>
          <a:ln w="19050">
            <a:solidFill>
              <a:srgbClr val="B9C6D8"/>
            </a:solidFill>
            <a:prstDash val="dash"/>
          </a:ln>
        </p:spPr>
      </p:sp>
      <p:sp>
        <p:nvSpPr>
          <p:cNvPr id="17" name="Text 13"/>
          <p:cNvSpPr txBox="1"/>
          <p:nvPr/>
        </p:nvSpPr>
        <p:spPr>
          <a:xfrm>
            <a:off x="4246778" y="1783080"/>
            <a:ext cx="566928" cy="566928"/>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03</a:t>
            </a:r>
            <a:endParaRPr lang="en-US" sz="1400" dirty="0"/>
          </a:p>
        </p:txBody>
      </p:sp>
      <p:sp>
        <p:nvSpPr>
          <p:cNvPr id="18" name="Text 14"/>
          <p:cNvSpPr txBox="1"/>
          <p:nvPr/>
        </p:nvSpPr>
        <p:spPr>
          <a:xfrm>
            <a:off x="4246778" y="2496312"/>
            <a:ext cx="1666189" cy="384048"/>
          </a:xfrm>
          <a:prstGeom prst="rect">
            <a:avLst/>
          </a:prstGeom>
          <a:noFill/>
          <a:ln/>
        </p:spPr>
        <p:txBody>
          <a:bodyPr wrap="square" lIns="0" tIns="0" rIns="0" bIns="0" rtlCol="0" anchor="t"/>
          <a:lstStyle/>
          <a:p>
            <a:pPr algn="l" indent="0" marL="0">
              <a:buNone/>
            </a:pPr>
            <a:r>
              <a:rPr lang="en-US" sz="1550" b="1" dirty="0">
                <a:solidFill>
                  <a:srgbClr val="1B2333"/>
                </a:solidFill>
                <a:latin typeface="Segoe UI" pitchFamily="34" charset="0"/>
                <a:ea typeface="Segoe UI" pitchFamily="34" charset="-122"/>
                <a:cs typeface="Segoe UI" pitchFamily="34" charset="-120"/>
              </a:rPr>
              <a:t>Flujo de equipo</a:t>
            </a:r>
            <a:endParaRPr lang="en-US" sz="1550" dirty="0"/>
          </a:p>
        </p:txBody>
      </p:sp>
      <p:sp>
        <p:nvSpPr>
          <p:cNvPr id="19" name="Text 15"/>
          <p:cNvSpPr txBox="1"/>
          <p:nvPr/>
        </p:nvSpPr>
        <p:spPr>
          <a:xfrm>
            <a:off x="4246778" y="2880360"/>
            <a:ext cx="1620469" cy="1417320"/>
          </a:xfrm>
          <a:prstGeom prst="rect">
            <a:avLst/>
          </a:prstGeom>
          <a:noFill/>
          <a:ln/>
        </p:spPr>
        <p:txBody>
          <a:bodyPr wrap="square" lIns="0" tIns="0" rIns="0" bIns="0" rtlCol="0" anchor="t"/>
          <a:lstStyle/>
          <a:p>
            <a:pPr algn="l" indent="0" marL="0">
              <a:buNone/>
            </a:pPr>
            <a:r>
              <a:rPr lang="en-US" sz="1550" dirty="0">
                <a:solidFill>
                  <a:srgbClr val="4F5A6D"/>
                </a:solidFill>
                <a:latin typeface="Segoe UI" pitchFamily="34" charset="0"/>
                <a:ea typeface="Segoe UI" pitchFamily="34" charset="-122"/>
                <a:cs typeface="Segoe UI" pitchFamily="34" charset="-120"/>
              </a:rPr>
              <a:t>Branch, commit, push, pull request y merge.</a:t>
            </a:r>
            <a:endParaRPr lang="en-US" sz="1550" dirty="0"/>
          </a:p>
        </p:txBody>
      </p:sp>
      <p:sp>
        <p:nvSpPr>
          <p:cNvPr id="20" name="Shape 16"/>
          <p:cNvSpPr/>
          <p:nvPr/>
        </p:nvSpPr>
        <p:spPr>
          <a:xfrm>
            <a:off x="6754216" y="2066544"/>
            <a:ext cx="1099261" cy="0"/>
          </a:xfrm>
          <a:prstGeom prst="line">
            <a:avLst/>
          </a:prstGeom>
          <a:noFill/>
          <a:ln w="19050">
            <a:solidFill>
              <a:srgbClr val="B9C6D8"/>
            </a:solidFill>
            <a:prstDash val="dash"/>
          </a:ln>
        </p:spPr>
      </p:sp>
      <p:sp>
        <p:nvSpPr>
          <p:cNvPr id="21" name="Text 17"/>
          <p:cNvSpPr txBox="1"/>
          <p:nvPr/>
        </p:nvSpPr>
        <p:spPr>
          <a:xfrm>
            <a:off x="6095848" y="1783080"/>
            <a:ext cx="566928" cy="566928"/>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04</a:t>
            </a:r>
            <a:endParaRPr lang="en-US" sz="1400" dirty="0"/>
          </a:p>
        </p:txBody>
      </p:sp>
      <p:sp>
        <p:nvSpPr>
          <p:cNvPr id="22" name="Text 18"/>
          <p:cNvSpPr txBox="1"/>
          <p:nvPr/>
        </p:nvSpPr>
        <p:spPr>
          <a:xfrm>
            <a:off x="6095848" y="2496312"/>
            <a:ext cx="1666189" cy="384048"/>
          </a:xfrm>
          <a:prstGeom prst="rect">
            <a:avLst/>
          </a:prstGeom>
          <a:noFill/>
          <a:ln/>
        </p:spPr>
        <p:txBody>
          <a:bodyPr wrap="square" lIns="0" tIns="0" rIns="0" bIns="0" rtlCol="0" anchor="t"/>
          <a:lstStyle/>
          <a:p>
            <a:pPr algn="l" indent="0" marL="0">
              <a:buNone/>
            </a:pPr>
            <a:r>
              <a:rPr lang="en-US" sz="1550" b="1" dirty="0">
                <a:solidFill>
                  <a:srgbClr val="1B2333"/>
                </a:solidFill>
                <a:latin typeface="Segoe UI" pitchFamily="34" charset="0"/>
                <a:ea typeface="Segoe UI" pitchFamily="34" charset="-122"/>
                <a:cs typeface="Segoe UI" pitchFamily="34" charset="-120"/>
              </a:rPr>
              <a:t>Conflictos</a:t>
            </a:r>
            <a:endParaRPr lang="en-US" sz="1550" dirty="0"/>
          </a:p>
        </p:txBody>
      </p:sp>
      <p:sp>
        <p:nvSpPr>
          <p:cNvPr id="23" name="Text 19"/>
          <p:cNvSpPr txBox="1"/>
          <p:nvPr/>
        </p:nvSpPr>
        <p:spPr>
          <a:xfrm>
            <a:off x="6095848" y="2880360"/>
            <a:ext cx="1620469" cy="1417320"/>
          </a:xfrm>
          <a:prstGeom prst="rect">
            <a:avLst/>
          </a:prstGeom>
          <a:noFill/>
          <a:ln/>
        </p:spPr>
        <p:txBody>
          <a:bodyPr wrap="square" lIns="0" tIns="0" rIns="0" bIns="0" rtlCol="0" anchor="t"/>
          <a:lstStyle/>
          <a:p>
            <a:pPr algn="l" indent="0" marL="0">
              <a:buNone/>
            </a:pPr>
            <a:r>
              <a:rPr lang="en-US" sz="1550" dirty="0">
                <a:solidFill>
                  <a:srgbClr val="4F5A6D"/>
                </a:solidFill>
                <a:latin typeface="Segoe UI" pitchFamily="34" charset="0"/>
                <a:ea typeface="Segoe UI" pitchFamily="34" charset="-122"/>
                <a:cs typeface="Segoe UI" pitchFamily="34" charset="-120"/>
              </a:rPr>
              <a:t>Qué son, cómo se leen los marcadores y cómo se resuelven.</a:t>
            </a:r>
            <a:endParaRPr lang="en-US" sz="1550" dirty="0"/>
          </a:p>
        </p:txBody>
      </p:sp>
      <p:sp>
        <p:nvSpPr>
          <p:cNvPr id="24" name="Shape 20"/>
          <p:cNvSpPr/>
          <p:nvPr/>
        </p:nvSpPr>
        <p:spPr>
          <a:xfrm>
            <a:off x="8603285" y="2066544"/>
            <a:ext cx="1099261" cy="0"/>
          </a:xfrm>
          <a:prstGeom prst="line">
            <a:avLst/>
          </a:prstGeom>
          <a:noFill/>
          <a:ln w="19050">
            <a:solidFill>
              <a:srgbClr val="B9C6D8"/>
            </a:solidFill>
            <a:prstDash val="dash"/>
          </a:ln>
        </p:spPr>
      </p:sp>
      <p:sp>
        <p:nvSpPr>
          <p:cNvPr id="25" name="Text 21"/>
          <p:cNvSpPr txBox="1"/>
          <p:nvPr/>
        </p:nvSpPr>
        <p:spPr>
          <a:xfrm>
            <a:off x="7944917" y="1783080"/>
            <a:ext cx="566928" cy="566928"/>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05</a:t>
            </a:r>
            <a:endParaRPr lang="en-US" sz="1400" dirty="0"/>
          </a:p>
        </p:txBody>
      </p:sp>
      <p:sp>
        <p:nvSpPr>
          <p:cNvPr id="26" name="Text 22"/>
          <p:cNvSpPr txBox="1"/>
          <p:nvPr/>
        </p:nvSpPr>
        <p:spPr>
          <a:xfrm>
            <a:off x="7944917" y="2496312"/>
            <a:ext cx="1666189" cy="384048"/>
          </a:xfrm>
          <a:prstGeom prst="rect">
            <a:avLst/>
          </a:prstGeom>
          <a:noFill/>
          <a:ln/>
        </p:spPr>
        <p:txBody>
          <a:bodyPr wrap="square" lIns="0" tIns="0" rIns="0" bIns="0" rtlCol="0" anchor="t"/>
          <a:lstStyle/>
          <a:p>
            <a:pPr algn="l" indent="0" marL="0">
              <a:buNone/>
            </a:pPr>
            <a:r>
              <a:rPr lang="en-US" sz="1550" b="1" dirty="0">
                <a:solidFill>
                  <a:srgbClr val="1B2333"/>
                </a:solidFill>
                <a:latin typeface="Segoe UI" pitchFamily="34" charset="0"/>
                <a:ea typeface="Segoe UI" pitchFamily="34" charset="-122"/>
                <a:cs typeface="Segoe UI" pitchFamily="34" charset="-120"/>
              </a:rPr>
              <a:t>Depurar</a:t>
            </a:r>
            <a:endParaRPr lang="en-US" sz="1550" dirty="0"/>
          </a:p>
        </p:txBody>
      </p:sp>
      <p:sp>
        <p:nvSpPr>
          <p:cNvPr id="27" name="Text 23"/>
          <p:cNvSpPr txBox="1"/>
          <p:nvPr/>
        </p:nvSpPr>
        <p:spPr>
          <a:xfrm>
            <a:off x="7944917" y="2880360"/>
            <a:ext cx="1620469" cy="1417320"/>
          </a:xfrm>
          <a:prstGeom prst="rect">
            <a:avLst/>
          </a:prstGeom>
          <a:noFill/>
          <a:ln/>
        </p:spPr>
        <p:txBody>
          <a:bodyPr wrap="square" lIns="0" tIns="0" rIns="0" bIns="0" rtlCol="0" anchor="t"/>
          <a:lstStyle/>
          <a:p>
            <a:pPr algn="l" indent="0" marL="0">
              <a:buNone/>
            </a:pPr>
            <a:r>
              <a:rPr lang="en-US" sz="1550" dirty="0">
                <a:solidFill>
                  <a:srgbClr val="4F5A6D"/>
                </a:solidFill>
                <a:latin typeface="Segoe UI" pitchFamily="34" charset="0"/>
                <a:ea typeface="Segoe UI" pitchFamily="34" charset="-122"/>
                <a:cs typeface="Segoe UI" pitchFamily="34" charset="-120"/>
              </a:rPr>
              <a:t>Prints de depuración, trazado y tracebacks.</a:t>
            </a:r>
            <a:endParaRPr lang="en-US" sz="1550" dirty="0"/>
          </a:p>
        </p:txBody>
      </p:sp>
      <p:sp>
        <p:nvSpPr>
          <p:cNvPr id="28" name="Text 24"/>
          <p:cNvSpPr txBox="1"/>
          <p:nvPr/>
        </p:nvSpPr>
        <p:spPr>
          <a:xfrm>
            <a:off x="9793986" y="1783080"/>
            <a:ext cx="566928" cy="566928"/>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06</a:t>
            </a:r>
            <a:endParaRPr lang="en-US" sz="1400" dirty="0"/>
          </a:p>
        </p:txBody>
      </p:sp>
      <p:sp>
        <p:nvSpPr>
          <p:cNvPr id="29" name="Text 25"/>
          <p:cNvSpPr txBox="1"/>
          <p:nvPr/>
        </p:nvSpPr>
        <p:spPr>
          <a:xfrm>
            <a:off x="9793986" y="2496312"/>
            <a:ext cx="1666189" cy="384048"/>
          </a:xfrm>
          <a:prstGeom prst="rect">
            <a:avLst/>
          </a:prstGeom>
          <a:noFill/>
          <a:ln/>
        </p:spPr>
        <p:txBody>
          <a:bodyPr wrap="square" lIns="0" tIns="0" rIns="0" bIns="0" rtlCol="0" anchor="t"/>
          <a:lstStyle/>
          <a:p>
            <a:pPr algn="l" indent="0" marL="0">
              <a:buNone/>
            </a:pPr>
            <a:r>
              <a:rPr lang="en-US" sz="1550" b="1" dirty="0">
                <a:solidFill>
                  <a:srgbClr val="1B2333"/>
                </a:solidFill>
                <a:latin typeface="Segoe UI" pitchFamily="34" charset="0"/>
                <a:ea typeface="Segoe UI" pitchFamily="34" charset="-122"/>
                <a:cs typeface="Segoe UI" pitchFamily="34" charset="-120"/>
              </a:rPr>
              <a:t>Refactorizar</a:t>
            </a:r>
            <a:endParaRPr lang="en-US" sz="1550" dirty="0"/>
          </a:p>
        </p:txBody>
      </p:sp>
      <p:sp>
        <p:nvSpPr>
          <p:cNvPr id="30" name="Text 26"/>
          <p:cNvSpPr txBox="1"/>
          <p:nvPr/>
        </p:nvSpPr>
        <p:spPr>
          <a:xfrm>
            <a:off x="9793986" y="2880360"/>
            <a:ext cx="1620469" cy="1417320"/>
          </a:xfrm>
          <a:prstGeom prst="rect">
            <a:avLst/>
          </a:prstGeom>
          <a:noFill/>
          <a:ln/>
        </p:spPr>
        <p:txBody>
          <a:bodyPr wrap="square" lIns="0" tIns="0" rIns="0" bIns="0" rtlCol="0" anchor="t"/>
          <a:lstStyle/>
          <a:p>
            <a:pPr algn="l" indent="0" marL="0">
              <a:buNone/>
            </a:pPr>
            <a:r>
              <a:rPr lang="en-US" sz="1550" dirty="0">
                <a:solidFill>
                  <a:srgbClr val="4F5A6D"/>
                </a:solidFill>
                <a:latin typeface="Segoe UI" pitchFamily="34" charset="0"/>
                <a:ea typeface="Segoe UI" pitchFamily="34" charset="-122"/>
                <a:cs typeface="Segoe UI" pitchFamily="34" charset="-120"/>
              </a:rPr>
              <a:t>Mejorar la plantilla y chequear el avance del proyecto.</a:t>
            </a:r>
            <a:endParaRPr lang="en-US" sz="1550" dirty="0"/>
          </a:p>
        </p:txBody>
      </p:sp>
      <p:sp>
        <p:nvSpPr>
          <p:cNvPr id="31" name="Shape 27"/>
          <p:cNvSpPr/>
          <p:nvPr/>
        </p:nvSpPr>
        <p:spPr>
          <a:xfrm>
            <a:off x="548640" y="4526280"/>
            <a:ext cx="11094415" cy="1691640"/>
          </a:xfrm>
          <a:prstGeom prst="roundRect">
            <a:avLst>
              <a:gd name="adj" fmla="val 5405"/>
            </a:avLst>
          </a:prstGeom>
          <a:solidFill>
            <a:srgbClr val="E7EFF8"/>
          </a:solidFill>
          <a:ln/>
        </p:spPr>
      </p:sp>
      <p:sp>
        <p:nvSpPr>
          <p:cNvPr id="32" name="Text 28"/>
          <p:cNvSpPr txBox="1"/>
          <p:nvPr/>
        </p:nvSpPr>
        <p:spPr>
          <a:xfrm>
            <a:off x="804672" y="4727448"/>
            <a:ext cx="457200" cy="457200"/>
          </a:xfrm>
          <a:prstGeom prst="rect">
            <a:avLst/>
          </a:prstGeom>
          <a:noFill/>
          <a:ln/>
        </p:spPr>
        <p:txBody>
          <a:bodyPr wrap="square" lIns="0" tIns="0" rIns="0" bIns="0" rtlCol="0" anchor="t"/>
          <a:lstStyle/>
          <a:p>
            <a:pPr algn="l" indent="0" marL="0">
              <a:buNone/>
            </a:pPr>
            <a:r>
              <a:rPr lang="en-US" sz="2000" dirty="0">
                <a:solidFill>
                  <a:srgbClr val="1B2333"/>
                </a:solidFill>
                <a:latin typeface="Segoe UI Emoji" pitchFamily="34" charset="0"/>
                <a:ea typeface="Segoe UI Emoji" pitchFamily="34" charset="-122"/>
                <a:cs typeface="Segoe UI Emoji" pitchFamily="34" charset="-120"/>
              </a:rPr>
              <a:t>🔄</a:t>
            </a:r>
            <a:endParaRPr lang="en-US" sz="2000" dirty="0"/>
          </a:p>
        </p:txBody>
      </p:sp>
      <p:sp>
        <p:nvSpPr>
          <p:cNvPr id="33" name="Text 29"/>
          <p:cNvSpPr txBox="1"/>
          <p:nvPr/>
        </p:nvSpPr>
        <p:spPr>
          <a:xfrm>
            <a:off x="1371600" y="4709160"/>
            <a:ext cx="5486400" cy="329184"/>
          </a:xfrm>
          <a:prstGeom prst="rect">
            <a:avLst/>
          </a:prstGeom>
          <a:noFill/>
          <a:ln/>
        </p:spPr>
        <p:txBody>
          <a:bodyPr wrap="square" lIns="0" tIns="0" rIns="0" bIns="0" rtlCol="0" anchor="t"/>
          <a:lstStyle/>
          <a:p>
            <a:pPr algn="l" indent="0" marL="0">
              <a:buNone/>
            </a:pPr>
            <a:r>
              <a:rPr lang="en-US" sz="1350" b="1" dirty="0">
                <a:solidFill>
                  <a:srgbClr val="2B5B84"/>
                </a:solidFill>
                <a:latin typeface="Segoe UI" pitchFamily="34" charset="0"/>
                <a:ea typeface="Segoe UI" pitchFamily="34" charset="-122"/>
                <a:cs typeface="Segoe UI" pitchFamily="34" charset="-120"/>
              </a:rPr>
              <a:t>Repaso de la clase anterior</a:t>
            </a:r>
            <a:endParaRPr lang="en-US" sz="1350" dirty="0"/>
          </a:p>
        </p:txBody>
      </p:sp>
      <p:sp>
        <p:nvSpPr>
          <p:cNvPr id="34" name="Text 30"/>
          <p:cNvSpPr txBox="1"/>
          <p:nvPr/>
        </p:nvSpPr>
        <p:spPr>
          <a:xfrm>
            <a:off x="1371600" y="5056632"/>
            <a:ext cx="9997135" cy="1033272"/>
          </a:xfrm>
          <a:prstGeom prst="rect">
            <a:avLst/>
          </a:prstGeom>
          <a:noFill/>
          <a:ln/>
        </p:spPr>
        <p:txBody>
          <a:bodyPr wrap="square" lIns="0" tIns="0" rIns="0" bIns="0" rtlCol="0" anchor="t"/>
          <a:lstStyle/>
          <a:p>
            <a:pPr algn="l" indent="0" marL="0">
              <a:buNone/>
            </a:pPr>
            <a:r>
              <a:rPr lang="en-US" sz="1500" dirty="0">
                <a:solidFill>
                  <a:srgbClr val="1B2333"/>
                </a:solidFill>
                <a:latin typeface="Segoe UI" pitchFamily="34" charset="0"/>
                <a:ea typeface="Segoe UI" pitchFamily="34" charset="-122"/>
                <a:cs typeface="Segoe UI" pitchFamily="34" charset="-120"/>
              </a:rPr>
              <a:t>La clase pasada armamos la especificación del TP y recorrimos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clase27_plantilla_proyecto.py</a:t>
            </a:r>
            <a:pPr algn="l" indent="0" marL="0">
              <a:buNone/>
            </a:pPr>
            <a:r>
              <a:rPr lang="en-US" sz="1500" dirty="0">
                <a:solidFill>
                  <a:srgbClr val="1B2333"/>
                </a:solidFill>
                <a:latin typeface="Segoe UI" pitchFamily="34" charset="0"/>
                <a:ea typeface="Segoe UI" pitchFamily="34" charset="-122"/>
                <a:cs typeface="Segoe UI" pitchFamily="34" charset="-120"/>
              </a:rPr>
              <a:t>: constantes arriba, funciones de </a:t>
            </a:r>
            <a:pPr algn="l" indent="0" marL="0">
              <a:buNone/>
            </a:pPr>
            <a:r>
              <a:rPr lang="en-US" sz="1500" b="1" dirty="0">
                <a:solidFill>
                  <a:srgbClr val="1B2333"/>
                </a:solidFill>
                <a:latin typeface="Segoe UI" pitchFamily="34" charset="0"/>
                <a:ea typeface="Segoe UI" pitchFamily="34" charset="-122"/>
                <a:cs typeface="Segoe UI" pitchFamily="34" charset="-120"/>
              </a:rPr>
              <a:t>persistencia</a:t>
            </a:r>
            <a:pPr algn="l" indent="0" marL="0">
              <a:buNone/>
            </a:pPr>
            <a:r>
              <a:rPr lang="en-US" sz="1500" dirty="0">
                <a:solidFill>
                  <a:srgbClr val="1B2333"/>
                </a:solidFill>
                <a:latin typeface="Segoe UI" pitchFamily="34" charset="0"/>
                <a:ea typeface="Segoe UI" pitchFamily="34" charset="-122"/>
                <a:cs typeface="Segoe UI" pitchFamily="34" charset="-120"/>
              </a:rPr>
              <a:t> (cargar/guardar), funciones de </a:t>
            </a:r>
            <a:pPr algn="l" indent="0" marL="0">
              <a:buNone/>
            </a:pPr>
            <a:r>
              <a:rPr lang="en-US" sz="1500" b="1" dirty="0">
                <a:solidFill>
                  <a:srgbClr val="1B2333"/>
                </a:solidFill>
                <a:latin typeface="Segoe UI" pitchFamily="34" charset="0"/>
                <a:ea typeface="Segoe UI" pitchFamily="34" charset="-122"/>
                <a:cs typeface="Segoe UI" pitchFamily="34" charset="-120"/>
              </a:rPr>
              <a:t>lógica</a:t>
            </a:r>
            <a:pPr algn="l" indent="0" marL="0">
              <a:buNone/>
            </a:pPr>
            <a:r>
              <a:rPr lang="en-US" sz="1500" dirty="0">
                <a:solidFill>
                  <a:srgbClr val="1B2333"/>
                </a:solidFill>
                <a:latin typeface="Segoe UI" pitchFamily="34" charset="0"/>
                <a:ea typeface="Segoe UI" pitchFamily="34" charset="-122"/>
                <a:cs typeface="Segoe UI" pitchFamily="34" charset="-120"/>
              </a:rPr>
              <a:t> (alta, listado, promedio) y un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500" dirty="0">
                <a:solidFill>
                  <a:srgbClr val="1B2333"/>
                </a:solidFill>
                <a:latin typeface="Segoe UI" pitchFamily="34" charset="0"/>
                <a:ea typeface="Segoe UI" pitchFamily="34" charset="-122"/>
                <a:cs typeface="Segoe UI" pitchFamily="34" charset="-120"/>
              </a:rPr>
              <a:t> con el menú. Hoy lo desarrollamos en equipo.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097280"/>
            <a:ext cx="4572000" cy="1737360"/>
          </a:xfrm>
          <a:prstGeom prst="rect">
            <a:avLst/>
          </a:prstGeom>
          <a:noFill/>
          <a:ln/>
        </p:spPr>
        <p:txBody>
          <a:bodyPr wrap="square" lIns="0" tIns="0" rIns="0" bIns="0" rtlCol="0" anchor="b"/>
          <a:lstStyle/>
          <a:p>
            <a:pPr algn="l" indent="0" marL="0">
              <a:buNone/>
            </a:pPr>
            <a:r>
              <a:rPr lang="en-US" sz="11000" b="1" dirty="0">
                <a:solidFill>
                  <a:srgbClr val="FFD43B"/>
                </a:solidFill>
                <a:latin typeface="Segoe UI" pitchFamily="34" charset="0"/>
                <a:ea typeface="Segoe UI" pitchFamily="34" charset="-122"/>
                <a:cs typeface="Segoe UI" pitchFamily="34" charset="-120"/>
              </a:rPr>
              <a:t>01</a:t>
            </a:r>
            <a:endParaRPr lang="en-US" sz="11000" dirty="0"/>
          </a:p>
        </p:txBody>
      </p:sp>
      <p:sp>
        <p:nvSpPr>
          <p:cNvPr id="3" name="Text 1"/>
          <p:cNvSpPr txBox="1"/>
          <p:nvPr/>
        </p:nvSpPr>
        <p:spPr>
          <a:xfrm>
            <a:off x="548640" y="2971800"/>
            <a:ext cx="10515600" cy="1188720"/>
          </a:xfrm>
          <a:prstGeom prst="rect">
            <a:avLst/>
          </a:prstGeom>
          <a:noFill/>
          <a:ln/>
        </p:spPr>
        <p:txBody>
          <a:bodyPr wrap="square" lIns="0" tIns="0" rIns="0" bIns="0" rtlCol="0" anchor="t"/>
          <a:lstStyle/>
          <a:p>
            <a:pPr algn="l" indent="0" marL="0">
              <a:buNone/>
            </a:pPr>
            <a:r>
              <a:rPr lang="en-US" sz="4150" b="1" dirty="0">
                <a:solidFill>
                  <a:srgbClr val="FFFFFF"/>
                </a:solidFill>
                <a:latin typeface="Segoe UI" pitchFamily="34" charset="0"/>
                <a:ea typeface="Segoe UI" pitchFamily="34" charset="-122"/>
                <a:cs typeface="Segoe UI" pitchFamily="34" charset="-120"/>
              </a:rPr>
              <a:t>Trabajar en equipo con Git y GitHub</a:t>
            </a:r>
            <a:endParaRPr lang="en-US" sz="4150" dirty="0"/>
          </a:p>
        </p:txBody>
      </p:sp>
      <p:sp>
        <p:nvSpPr>
          <p:cNvPr id="4" name="Text 2"/>
          <p:cNvSpPr txBox="1"/>
          <p:nvPr/>
        </p:nvSpPr>
        <p:spPr>
          <a:xfrm>
            <a:off x="548640" y="4251960"/>
            <a:ext cx="9601200" cy="1188720"/>
          </a:xfrm>
          <a:prstGeom prst="rect">
            <a:avLst/>
          </a:prstGeom>
          <a:noFill/>
          <a:ln/>
        </p:spPr>
        <p:txBody>
          <a:bodyPr wrap="square" lIns="0" tIns="0" rIns="0" bIns="0" rtlCol="0" anchor="t"/>
          <a:lstStyle/>
          <a:p>
            <a:pPr algn="l" indent="0" marL="0">
              <a:buNone/>
            </a:pPr>
            <a:r>
              <a:rPr lang="en-US" sz="2000" dirty="0">
                <a:solidFill>
                  <a:srgbClr val="C9D7EE"/>
                </a:solidFill>
                <a:latin typeface="Segoe UI" pitchFamily="34" charset="0"/>
                <a:ea typeface="Segoe UI" pitchFamily="34" charset="-122"/>
                <a:cs typeface="Segoe UI" pitchFamily="34" charset="-120"/>
              </a:rPr>
              <a:t>En la industria nadie programa solo: el código de un equipo vive en un repositorio compartido.</a:t>
            </a:r>
            <a:endParaRPr lang="en-US" sz="2000" dirty="0"/>
          </a:p>
        </p:txBody>
      </p:sp>
      <p:sp>
        <p:nvSpPr>
          <p:cNvPr id="5" name="Text 3"/>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FA3C4"/>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6" name="Text 4"/>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FA3C4"/>
                </a:solidFill>
                <a:latin typeface="Segoe UI" pitchFamily="34" charset="0"/>
                <a:ea typeface="Segoe UI" pitchFamily="34" charset="-122"/>
                <a:cs typeface="Segoe UI" pitchFamily="34" charset="-120"/>
              </a:rPr>
              <a:t>Clase 18  ·  3 / 23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TEORÍA</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Un mismo repositorio para todo el equipo</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4 / 23</a:t>
            </a:r>
            <a:endParaRPr lang="en-US" sz="900" dirty="0"/>
          </a:p>
        </p:txBody>
      </p:sp>
      <p:sp>
        <p:nvSpPr>
          <p:cNvPr id="8" name="Shape 4"/>
          <p:cNvSpPr/>
          <p:nvPr/>
        </p:nvSpPr>
        <p:spPr>
          <a:xfrm>
            <a:off x="548640" y="1463040"/>
            <a:ext cx="6355080" cy="1188720"/>
          </a:xfrm>
          <a:prstGeom prst="roundRect">
            <a:avLst>
              <a:gd name="adj" fmla="val 7692"/>
            </a:avLst>
          </a:prstGeom>
          <a:solidFill>
            <a:srgbClr val="E7EFF8"/>
          </a:solidFill>
          <a:ln/>
        </p:spPr>
      </p:sp>
      <p:sp>
        <p:nvSpPr>
          <p:cNvPr id="9" name="Text 5"/>
          <p:cNvSpPr txBox="1"/>
          <p:nvPr/>
        </p:nvSpPr>
        <p:spPr>
          <a:xfrm>
            <a:off x="822960" y="1600200"/>
            <a:ext cx="5806440" cy="914400"/>
          </a:xfrm>
          <a:prstGeom prst="rect">
            <a:avLst/>
          </a:prstGeom>
          <a:noFill/>
          <a:ln/>
        </p:spPr>
        <p:txBody>
          <a:bodyPr wrap="square" lIns="0" tIns="0" rIns="0" bIns="0" rtlCol="0" anchor="ctr"/>
          <a:lstStyle/>
          <a:p>
            <a:pPr algn="l" indent="0" marL="0">
              <a:buNone/>
            </a:pPr>
            <a:r>
              <a:rPr lang="en-US" sz="1800" b="1" dirty="0">
                <a:solidFill>
                  <a:srgbClr val="2B5B84"/>
                </a:solidFill>
                <a:latin typeface="Segoe UI" pitchFamily="34" charset="0"/>
                <a:ea typeface="Segoe UI" pitchFamily="34" charset="-122"/>
                <a:cs typeface="Segoe UI" pitchFamily="34" charset="-120"/>
              </a:rPr>
              <a:t>El repositorio en GitHub es la versión oficial del proyecto; cada integrante tiene una copia local y la sincroniza.</a:t>
            </a:r>
            <a:endParaRPr lang="en-US" sz="1800" dirty="0"/>
          </a:p>
        </p:txBody>
      </p:sp>
      <p:sp>
        <p:nvSpPr>
          <p:cNvPr id="10" name="Text 6"/>
          <p:cNvSpPr txBox="1"/>
          <p:nvPr/>
        </p:nvSpPr>
        <p:spPr>
          <a:xfrm>
            <a:off x="548640" y="2926080"/>
            <a:ext cx="6355080" cy="274320"/>
          </a:xfrm>
          <a:prstGeom prst="rect">
            <a:avLst/>
          </a:prstGeom>
          <a:noFill/>
          <a:ln/>
        </p:spPr>
        <p:txBody>
          <a:bodyPr wrap="square" lIns="0" tIns="0" rIns="0" bIns="0" rtlCol="0" anchor="t"/>
          <a:lstStyle/>
          <a:p>
            <a:pPr algn="l" indent="0" marL="0">
              <a:buNone/>
            </a:pPr>
            <a:r>
              <a:rPr lang="en-US" sz="1100" b="1" spc="150" kern="0" dirty="0">
                <a:solidFill>
                  <a:srgbClr val="4F5A6D"/>
                </a:solidFill>
                <a:latin typeface="Segoe UI" pitchFamily="34" charset="0"/>
                <a:ea typeface="Segoe UI" pitchFamily="34" charset="-122"/>
                <a:cs typeface="Segoe UI" pitchFamily="34" charset="-120"/>
              </a:rPr>
              <a:t>PASO A PASO</a:t>
            </a:r>
            <a:endParaRPr lang="en-US" sz="1100" dirty="0"/>
          </a:p>
        </p:txBody>
      </p:sp>
      <p:sp>
        <p:nvSpPr>
          <p:cNvPr id="11" name="Text 7"/>
          <p:cNvSpPr txBox="1"/>
          <p:nvPr/>
        </p:nvSpPr>
        <p:spPr>
          <a:xfrm>
            <a:off x="548640" y="3328416"/>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8"/>
          <p:cNvSpPr txBox="1"/>
          <p:nvPr/>
        </p:nvSpPr>
        <p:spPr>
          <a:xfrm>
            <a:off x="1005840" y="3310128"/>
            <a:ext cx="5879592" cy="73152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Si cada uno manda su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.py</a:t>
            </a:r>
            <a:pPr algn="l" indent="0" marL="0">
              <a:buNone/>
            </a:pPr>
            <a:r>
              <a:rPr lang="en-US" sz="1400" dirty="0">
                <a:solidFill>
                  <a:srgbClr val="1B2333"/>
                </a:solidFill>
                <a:latin typeface="Segoe UI" pitchFamily="34" charset="0"/>
                <a:ea typeface="Segoe UI" pitchFamily="34" charset="-122"/>
                <a:cs typeface="Segoe UI" pitchFamily="34" charset="-120"/>
              </a:rPr>
              <a:t> por WhatsApp, aparecen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tp_final.py</a:t>
            </a:r>
            <a:pPr algn="l" indent="0" marL="0">
              <a:buNone/>
            </a:pPr>
            <a:r>
              <a:rPr lang="en-US" sz="1400" dirty="0">
                <a:solidFill>
                  <a:srgbClr val="1B2333"/>
                </a:solidFill>
                <a:latin typeface="Segoe UI" pitchFamily="34" charset="0"/>
                <a:ea typeface="Segoe UI" pitchFamily="34" charset="-122"/>
                <a:cs typeface="Segoe UI" pitchFamily="34" charset="-120"/>
              </a:rPr>
              <a:t>,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tp_final2.py</a:t>
            </a:r>
            <a:pPr algn="l" indent="0" marL="0">
              <a:buNone/>
            </a:pPr>
            <a:r>
              <a:rPr lang="en-US" sz="1400" dirty="0">
                <a:solidFill>
                  <a:srgbClr val="1B2333"/>
                </a:solidFill>
                <a:latin typeface="Segoe UI" pitchFamily="34" charset="0"/>
                <a:ea typeface="Segoe UI" pitchFamily="34" charset="-122"/>
                <a:cs typeface="Segoe UI" pitchFamily="34" charset="-120"/>
              </a:rPr>
              <a:t>,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tp_final_AHORA_SI.py</a:t>
            </a:r>
            <a:pPr algn="l" indent="0" marL="0">
              <a:buNone/>
            </a:pPr>
            <a:r>
              <a:rPr lang="en-US" sz="1400" dirty="0">
                <a:solidFill>
                  <a:srgbClr val="1B2333"/>
                </a:solidFill>
                <a:latin typeface="Segoe UI" pitchFamily="34" charset="0"/>
                <a:ea typeface="Segoe UI" pitchFamily="34" charset="-122"/>
                <a:cs typeface="Segoe UI" pitchFamily="34" charset="-120"/>
              </a:rPr>
              <a:t>… y nadie sabe cuál es el bueno.</a:t>
            </a:r>
            <a:endParaRPr lang="en-US" sz="1400" dirty="0"/>
          </a:p>
        </p:txBody>
      </p:sp>
      <p:sp>
        <p:nvSpPr>
          <p:cNvPr id="13" name="Text 9"/>
          <p:cNvSpPr txBox="1"/>
          <p:nvPr/>
        </p:nvSpPr>
        <p:spPr>
          <a:xfrm>
            <a:off x="548640" y="4187952"/>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0"/>
          <p:cNvSpPr txBox="1"/>
          <p:nvPr/>
        </p:nvSpPr>
        <p:spPr>
          <a:xfrm>
            <a:off x="1005840" y="4169664"/>
            <a:ext cx="5879592" cy="73152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Con Git hay </a:t>
            </a:r>
            <a:pPr algn="l" indent="0" marL="0">
              <a:buNone/>
            </a:pPr>
            <a:r>
              <a:rPr lang="en-US" sz="1400" b="1" dirty="0">
                <a:solidFill>
                  <a:srgbClr val="1B2333"/>
                </a:solidFill>
                <a:latin typeface="Segoe UI" pitchFamily="34" charset="0"/>
                <a:ea typeface="Segoe UI" pitchFamily="34" charset="-122"/>
                <a:cs typeface="Segoe UI" pitchFamily="34" charset="-120"/>
              </a:rPr>
              <a:t>una sola historia</a:t>
            </a:r>
            <a:pPr algn="l" indent="0" marL="0">
              <a:buNone/>
            </a:pPr>
            <a:r>
              <a:rPr lang="en-US" sz="1400" dirty="0">
                <a:solidFill>
                  <a:srgbClr val="1B2333"/>
                </a:solidFill>
                <a:latin typeface="Segoe UI" pitchFamily="34" charset="0"/>
                <a:ea typeface="Segoe UI" pitchFamily="34" charset="-122"/>
                <a:cs typeface="Segoe UI" pitchFamily="34" charset="-120"/>
              </a:rPr>
              <a:t>: cada cambio queda registrado con autor, fecha y mensaje. Se puede volver atrás si algo se rompe.</a:t>
            </a:r>
            <a:endParaRPr lang="en-US" sz="1400" dirty="0"/>
          </a:p>
        </p:txBody>
      </p:sp>
      <p:sp>
        <p:nvSpPr>
          <p:cNvPr id="15" name="Text 11"/>
          <p:cNvSpPr txBox="1"/>
          <p:nvPr/>
        </p:nvSpPr>
        <p:spPr>
          <a:xfrm>
            <a:off x="548640" y="5047488"/>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6" name="Text 12"/>
          <p:cNvSpPr txBox="1"/>
          <p:nvPr/>
        </p:nvSpPr>
        <p:spPr>
          <a:xfrm>
            <a:off x="1005840" y="5029200"/>
            <a:ext cx="5879592" cy="518160"/>
          </a:xfrm>
          <a:prstGeom prst="rect">
            <a:avLst/>
          </a:prstGeom>
          <a:noFill/>
          <a:ln/>
        </p:spPr>
        <p:txBody>
          <a:bodyPr wrap="square" lIns="12700" tIns="12700" rIns="12700" bIns="12700" rtlCol="0" anchor="t"/>
          <a:lstStyle/>
          <a:p>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git clone</a:t>
            </a:r>
            <a:pPr algn="l" indent="0" marL="0">
              <a:buNone/>
            </a:pPr>
            <a:r>
              <a:rPr lang="en-US" sz="1400" dirty="0">
                <a:solidFill>
                  <a:srgbClr val="1B2333"/>
                </a:solidFill>
                <a:latin typeface="Segoe UI" pitchFamily="34" charset="0"/>
                <a:ea typeface="Segoe UI" pitchFamily="34" charset="-122"/>
                <a:cs typeface="Segoe UI" pitchFamily="34" charset="-120"/>
              </a:rPr>
              <a:t> baja el repositorio la primera vez.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git pull</a:t>
            </a:r>
            <a:pPr algn="l" indent="0" marL="0">
              <a:buNone/>
            </a:pPr>
            <a:r>
              <a:rPr lang="en-US" sz="1400" dirty="0">
                <a:solidFill>
                  <a:srgbClr val="1B2333"/>
                </a:solidFill>
                <a:latin typeface="Segoe UI" pitchFamily="34" charset="0"/>
                <a:ea typeface="Segoe UI" pitchFamily="34" charset="-122"/>
                <a:cs typeface="Segoe UI" pitchFamily="34" charset="-120"/>
              </a:rPr>
              <a:t> trae lo que subieron los demás.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git push</a:t>
            </a:r>
            <a:pPr algn="l" indent="0" marL="0">
              <a:buNone/>
            </a:pPr>
            <a:r>
              <a:rPr lang="en-US" sz="1400" dirty="0">
                <a:solidFill>
                  <a:srgbClr val="1B2333"/>
                </a:solidFill>
                <a:latin typeface="Segoe UI" pitchFamily="34" charset="0"/>
                <a:ea typeface="Segoe UI" pitchFamily="34" charset="-122"/>
                <a:cs typeface="Segoe UI" pitchFamily="34" charset="-120"/>
              </a:rPr>
              <a:t> sube tus commits.</a:t>
            </a:r>
            <a:endParaRPr lang="en-US" sz="1400" dirty="0"/>
          </a:p>
        </p:txBody>
      </p:sp>
      <p:sp>
        <p:nvSpPr>
          <p:cNvPr id="17" name="Text 13"/>
          <p:cNvSpPr txBox="1"/>
          <p:nvPr/>
        </p:nvSpPr>
        <p:spPr>
          <a:xfrm>
            <a:off x="548640" y="5693664"/>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8" name="Text 14"/>
          <p:cNvSpPr txBox="1"/>
          <p:nvPr/>
        </p:nvSpPr>
        <p:spPr>
          <a:xfrm>
            <a:off x="1005840" y="5675376"/>
            <a:ext cx="5879592" cy="51816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Regla de oro: </a:t>
            </a:r>
            <a:pPr algn="l" indent="0" marL="0">
              <a:buNone/>
            </a:pPr>
            <a:r>
              <a:rPr lang="en-US" sz="1400" b="1" dirty="0">
                <a:solidFill>
                  <a:srgbClr val="1B2333"/>
                </a:solidFill>
                <a:latin typeface="Segoe UI" pitchFamily="34" charset="0"/>
                <a:ea typeface="Segoe UI" pitchFamily="34" charset="-122"/>
                <a:cs typeface="Segoe UI" pitchFamily="34" charset="-120"/>
              </a:rPr>
              <a:t>antes de empezar a trabajar, `git pull`</a:t>
            </a:r>
            <a:pPr algn="l" indent="0" marL="0">
              <a:buNone/>
            </a:pPr>
            <a:r>
              <a:rPr lang="en-US" sz="1400" dirty="0">
                <a:solidFill>
                  <a:srgbClr val="1B2333"/>
                </a:solidFill>
                <a:latin typeface="Segoe UI" pitchFamily="34" charset="0"/>
                <a:ea typeface="Segoe UI" pitchFamily="34" charset="-122"/>
                <a:cs typeface="Segoe UI" pitchFamily="34" charset="-120"/>
              </a:rPr>
              <a:t>. Así arrancás desde la última versión y evitás muchos conflictos.</a:t>
            </a:r>
            <a:endParaRPr lang="en-US" sz="1400" dirty="0"/>
          </a:p>
        </p:txBody>
      </p:sp>
      <p:sp>
        <p:nvSpPr>
          <p:cNvPr id="19" name="Shape 15"/>
          <p:cNvSpPr/>
          <p:nvPr/>
        </p:nvSpPr>
        <p:spPr>
          <a:xfrm>
            <a:off x="7315200" y="1463040"/>
            <a:ext cx="4327855" cy="2011680"/>
          </a:xfrm>
          <a:prstGeom prst="roundRect">
            <a:avLst>
              <a:gd name="adj" fmla="val 5455"/>
            </a:avLst>
          </a:prstGeom>
          <a:solidFill>
            <a:srgbClr val="FFF4C7"/>
          </a:solidFill>
          <a:ln/>
        </p:spPr>
      </p:sp>
      <p:sp>
        <p:nvSpPr>
          <p:cNvPr id="20" name="Text 16"/>
          <p:cNvSpPr txBox="1"/>
          <p:nvPr/>
        </p:nvSpPr>
        <p:spPr>
          <a:xfrm>
            <a:off x="7543800" y="1645920"/>
            <a:ext cx="457200" cy="457200"/>
          </a:xfrm>
          <a:prstGeom prst="rect">
            <a:avLst/>
          </a:prstGeom>
          <a:noFill/>
          <a:ln/>
        </p:spPr>
        <p:txBody>
          <a:bodyPr wrap="square" lIns="0" tIns="0" rIns="0" bIns="0" rtlCol="0" anchor="t"/>
          <a:lstStyle/>
          <a:p>
            <a:pPr algn="l" indent="0" marL="0">
              <a:buNone/>
            </a:pPr>
            <a:r>
              <a:rPr lang="en-US" sz="2000" dirty="0">
                <a:solidFill>
                  <a:srgbClr val="1B2333"/>
                </a:solidFill>
                <a:latin typeface="Segoe UI Emoji" pitchFamily="34" charset="0"/>
                <a:ea typeface="Segoe UI Emoji" pitchFamily="34" charset="-122"/>
                <a:cs typeface="Segoe UI Emoji" pitchFamily="34" charset="-120"/>
              </a:rPr>
              <a:t>📄</a:t>
            </a:r>
            <a:endParaRPr lang="en-US" sz="2000" dirty="0"/>
          </a:p>
        </p:txBody>
      </p:sp>
      <p:sp>
        <p:nvSpPr>
          <p:cNvPr id="21" name="Text 17"/>
          <p:cNvSpPr txBox="1"/>
          <p:nvPr/>
        </p:nvSpPr>
        <p:spPr>
          <a:xfrm>
            <a:off x="8092440" y="1682496"/>
            <a:ext cx="3322015" cy="384048"/>
          </a:xfrm>
          <a:prstGeom prst="rect">
            <a:avLst/>
          </a:prstGeom>
          <a:noFill/>
          <a:ln/>
        </p:spPr>
        <p:txBody>
          <a:bodyPr wrap="square" lIns="0" tIns="0" rIns="0" bIns="0" rtlCol="0" anchor="ctr"/>
          <a:lstStyle/>
          <a:p>
            <a:pPr algn="l" indent="0" marL="0">
              <a:buNone/>
            </a:pPr>
            <a:r>
              <a:rPr lang="en-US" sz="1400" b="1" dirty="0">
                <a:solidFill>
                  <a:srgbClr val="7A5600"/>
                </a:solidFill>
                <a:latin typeface="Segoe UI" pitchFamily="34" charset="0"/>
                <a:ea typeface="Segoe UI" pitchFamily="34" charset="-122"/>
                <a:cs typeface="Segoe UI" pitchFamily="34" charset="-120"/>
              </a:rPr>
              <a:t>Como un documento compartido</a:t>
            </a:r>
            <a:endParaRPr lang="en-US" sz="1400" dirty="0"/>
          </a:p>
        </p:txBody>
      </p:sp>
      <p:sp>
        <p:nvSpPr>
          <p:cNvPr id="22" name="Text 18"/>
          <p:cNvSpPr txBox="1"/>
          <p:nvPr/>
        </p:nvSpPr>
        <p:spPr>
          <a:xfrm>
            <a:off x="7571232" y="2194560"/>
            <a:ext cx="3824935" cy="1188720"/>
          </a:xfrm>
          <a:prstGeom prst="rect">
            <a:avLst/>
          </a:prstGeom>
          <a:noFill/>
          <a:ln/>
        </p:spPr>
        <p:txBody>
          <a:bodyPr wrap="square" lIns="0" tIns="0" rIns="0" bIns="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En vez de mandarse copias de un Word por mail, el grupo trabaja sobre un único documento en la nube que guarda el historial de cambios. GitHub es esa nube para el código, y Git es el historial.</a:t>
            </a:r>
            <a:endParaRPr lang="en-US" sz="1400" dirty="0"/>
          </a:p>
        </p:txBody>
      </p:sp>
      <p:sp>
        <p:nvSpPr>
          <p:cNvPr id="23" name="Shape 19"/>
          <p:cNvSpPr/>
          <p:nvPr/>
        </p:nvSpPr>
        <p:spPr>
          <a:xfrm>
            <a:off x="7315200" y="3703320"/>
            <a:ext cx="4327855" cy="1115568"/>
          </a:xfrm>
          <a:prstGeom prst="roundRect">
            <a:avLst>
              <a:gd name="adj" fmla="val 8197"/>
            </a:avLst>
          </a:prstGeom>
          <a:solidFill>
            <a:srgbClr val="0D1117"/>
          </a:solidFill>
          <a:ln/>
          <a:effectLst>
            <a:outerShdw sx="100000" sy="100000" kx="0" ky="0" algn="bl" rotWithShape="0" blurRad="88900" dist="19050" dir="5400000">
              <a:srgbClr val="1B2333">
                <a:alpha val="10000"/>
              </a:srgbClr>
            </a:outerShdw>
          </a:effectLst>
        </p:spPr>
      </p:sp>
      <p:sp>
        <p:nvSpPr>
          <p:cNvPr id="24" name="Shape 20"/>
          <p:cNvSpPr/>
          <p:nvPr/>
        </p:nvSpPr>
        <p:spPr>
          <a:xfrm>
            <a:off x="7498080" y="3849624"/>
            <a:ext cx="109728" cy="109728"/>
          </a:xfrm>
          <a:prstGeom prst="ellipse">
            <a:avLst/>
          </a:prstGeom>
          <a:solidFill>
            <a:srgbClr val="FF5F57"/>
          </a:solidFill>
          <a:ln/>
        </p:spPr>
      </p:sp>
      <p:sp>
        <p:nvSpPr>
          <p:cNvPr id="25" name="Shape 21"/>
          <p:cNvSpPr/>
          <p:nvPr/>
        </p:nvSpPr>
        <p:spPr>
          <a:xfrm>
            <a:off x="7680960" y="3849624"/>
            <a:ext cx="109728" cy="109728"/>
          </a:xfrm>
          <a:prstGeom prst="ellipse">
            <a:avLst/>
          </a:prstGeom>
          <a:solidFill>
            <a:srgbClr val="FEBC2E"/>
          </a:solidFill>
          <a:ln/>
        </p:spPr>
      </p:sp>
      <p:sp>
        <p:nvSpPr>
          <p:cNvPr id="26" name="Shape 22"/>
          <p:cNvSpPr/>
          <p:nvPr/>
        </p:nvSpPr>
        <p:spPr>
          <a:xfrm>
            <a:off x="7863840" y="3849624"/>
            <a:ext cx="109728" cy="109728"/>
          </a:xfrm>
          <a:prstGeom prst="ellipse">
            <a:avLst/>
          </a:prstGeom>
          <a:solidFill>
            <a:srgbClr val="28C840"/>
          </a:solidFill>
          <a:ln/>
        </p:spPr>
      </p:sp>
      <p:sp>
        <p:nvSpPr>
          <p:cNvPr id="27" name="Text 23"/>
          <p:cNvSpPr txBox="1"/>
          <p:nvPr/>
        </p:nvSpPr>
        <p:spPr>
          <a:xfrm>
            <a:off x="8092440" y="3758184"/>
            <a:ext cx="3413455"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terminal</a:t>
            </a:r>
            <a:endParaRPr lang="en-US" sz="1050" dirty="0"/>
          </a:p>
        </p:txBody>
      </p:sp>
      <p:sp>
        <p:nvSpPr>
          <p:cNvPr id="28" name="Text 24"/>
          <p:cNvSpPr txBox="1"/>
          <p:nvPr/>
        </p:nvSpPr>
        <p:spPr>
          <a:xfrm>
            <a:off x="7424928" y="4160520"/>
            <a:ext cx="224028" cy="548640"/>
          </a:xfrm>
          <a:prstGeom prst="rect">
            <a:avLst/>
          </a:prstGeom>
          <a:noFill/>
          <a:ln/>
        </p:spPr>
        <p:txBody>
          <a:bodyPr wrap="square" lIns="0" tIns="0" rIns="0" bIns="0" rtlCol="0" anchor="t"/>
          <a:lstStyle/>
          <a:p>
            <a:pPr algn="r" indent="0" marL="0">
              <a:lnSpc>
                <a:spcPts val="1875"/>
              </a:lnSpc>
              <a:buNone/>
            </a:pPr>
            <a:r>
              <a:rPr lang="en-US" sz="1500" dirty="0">
                <a:solidFill>
                  <a:srgbClr val="6E7681"/>
                </a:solidFill>
                <a:latin typeface="Consolas" pitchFamily="34" charset="0"/>
                <a:ea typeface="Consolas" pitchFamily="34" charset="-122"/>
                <a:cs typeface="Consolas" pitchFamily="34" charset="-120"/>
              </a:rPr>
              <a:t>1</a:t>
            </a:r>
            <a:endParaRPr lang="en-US" sz="1500" dirty="0"/>
          </a:p>
          <a:p>
            <a:pPr algn="r" indent="0" marL="0">
              <a:lnSpc>
                <a:spcPts val="1875"/>
              </a:lnSpc>
              <a:buNone/>
            </a:pPr>
            <a:r>
              <a:rPr lang="en-US" sz="1500" dirty="0">
                <a:solidFill>
                  <a:srgbClr val="6E7681"/>
                </a:solidFill>
                <a:latin typeface="Consolas" pitchFamily="34" charset="0"/>
                <a:ea typeface="Consolas" pitchFamily="34" charset="-122"/>
                <a:cs typeface="Consolas" pitchFamily="34" charset="-120"/>
              </a:rPr>
              <a:t>2</a:t>
            </a:r>
            <a:endParaRPr lang="en-US" sz="1500" dirty="0"/>
          </a:p>
        </p:txBody>
      </p:sp>
      <p:sp>
        <p:nvSpPr>
          <p:cNvPr id="29" name="Text 25"/>
          <p:cNvSpPr txBox="1"/>
          <p:nvPr/>
        </p:nvSpPr>
        <p:spPr>
          <a:xfrm>
            <a:off x="7795260" y="4160520"/>
            <a:ext cx="3783787" cy="548640"/>
          </a:xfrm>
          <a:prstGeom prst="rect">
            <a:avLst/>
          </a:prstGeom>
          <a:noFill/>
          <a:ln/>
        </p:spPr>
        <p:txBody>
          <a:bodyPr wrap="none" lIns="0" tIns="0" rIns="0" bIns="0" rtlCol="0" anchor="t"/>
          <a:lstStyle/>
          <a:p>
            <a:pPr algn="l" indent="0" marL="0">
              <a:lnSpc>
                <a:spcPts val="1875"/>
              </a:lnSpc>
              <a:buNone/>
            </a:pPr>
            <a:r>
              <a:rPr lang="en-US" sz="1500" dirty="0">
                <a:solidFill>
                  <a:srgbClr val="E6EDF3"/>
                </a:solidFill>
                <a:latin typeface="Consolas" pitchFamily="34" charset="0"/>
                <a:ea typeface="Consolas" pitchFamily="34" charset="-122"/>
                <a:cs typeface="Consolas" pitchFamily="34" charset="-120"/>
              </a:rPr>
              <a:t>git pull</a:t>
            </a:r>
            <a:endParaRPr lang="en-US" sz="1500" dirty="0"/>
          </a:p>
          <a:p>
            <a:pPr algn="l" indent="0" marL="0">
              <a:lnSpc>
                <a:spcPts val="1875"/>
              </a:lnSpc>
              <a:buNone/>
            </a:pPr>
            <a:r>
              <a:rPr lang="en-US" sz="1500" dirty="0">
                <a:solidFill>
                  <a:srgbClr val="E6EDF3"/>
                </a:solidFill>
                <a:latin typeface="Consolas" pitchFamily="34" charset="0"/>
                <a:ea typeface="Consolas" pitchFamily="34" charset="-122"/>
                <a:cs typeface="Consolas" pitchFamily="34" charset="-120"/>
              </a:rPr>
              <a:t>git status</a:t>
            </a:r>
            <a:endParaRPr lang="en-US" sz="1500" dirty="0"/>
          </a:p>
        </p:txBody>
      </p:sp>
      <p:sp>
        <p:nvSpPr>
          <p:cNvPr id="30" name="Shape 26"/>
          <p:cNvSpPr/>
          <p:nvPr/>
        </p:nvSpPr>
        <p:spPr>
          <a:xfrm>
            <a:off x="7315200" y="5001768"/>
            <a:ext cx="4327855" cy="1056132"/>
          </a:xfrm>
          <a:prstGeom prst="roundRect">
            <a:avLst>
              <a:gd name="adj" fmla="val 8658"/>
            </a:avLst>
          </a:prstGeom>
          <a:solidFill>
            <a:srgbClr val="010409"/>
          </a:solidFill>
          <a:ln/>
        </p:spPr>
      </p:sp>
      <p:sp>
        <p:nvSpPr>
          <p:cNvPr id="31" name="Text 27"/>
          <p:cNvSpPr txBox="1"/>
          <p:nvPr/>
        </p:nvSpPr>
        <p:spPr>
          <a:xfrm>
            <a:off x="7498080" y="5093208"/>
            <a:ext cx="3962095" cy="256032"/>
          </a:xfrm>
          <a:prstGeom prst="rect">
            <a:avLst/>
          </a:prstGeom>
          <a:noFill/>
          <a:ln/>
        </p:spPr>
        <p:txBody>
          <a:bodyPr wrap="square" lIns="0" tIns="0" rIns="0" bIns="0" rtlCol="0" anchor="t"/>
          <a:lstStyle/>
          <a:p>
            <a:pPr algn="l" indent="0" marL="0">
              <a:buNone/>
            </a:pPr>
            <a:r>
              <a:rPr lang="en-US" sz="950" b="1" spc="150" kern="0" dirty="0">
                <a:solidFill>
                  <a:srgbClr val="6E7681"/>
                </a:solidFill>
                <a:latin typeface="Segoe UI" pitchFamily="34" charset="0"/>
                <a:ea typeface="Segoe UI" pitchFamily="34" charset="-122"/>
                <a:cs typeface="Segoe UI" pitchFamily="34" charset="-120"/>
              </a:rPr>
              <a:t>SALIDA EN CONSOLA</a:t>
            </a:r>
            <a:endParaRPr lang="en-US" sz="950" dirty="0"/>
          </a:p>
        </p:txBody>
      </p:sp>
      <p:sp>
        <p:nvSpPr>
          <p:cNvPr id="32" name="Text 28"/>
          <p:cNvSpPr txBox="1"/>
          <p:nvPr/>
        </p:nvSpPr>
        <p:spPr>
          <a:xfrm>
            <a:off x="7498080" y="5385816"/>
            <a:ext cx="4007815" cy="598932"/>
          </a:xfrm>
          <a:prstGeom prst="rect">
            <a:avLst/>
          </a:prstGeom>
          <a:noFill/>
          <a:ln/>
        </p:spPr>
        <p:txBody>
          <a:bodyPr wrap="none" lIns="0" tIns="0" rIns="0" bIns="0" rtlCol="0" anchor="t"/>
          <a:lstStyle/>
          <a:p>
            <a:pPr algn="l" indent="0" marL="0">
              <a:lnSpc>
                <a:spcPts val="1500"/>
              </a:lnSpc>
              <a:buNone/>
            </a:pPr>
            <a:r>
              <a:rPr lang="en-US" sz="1200" dirty="0">
                <a:solidFill>
                  <a:srgbClr val="7EE787"/>
                </a:solidFill>
                <a:latin typeface="Consolas" pitchFamily="34" charset="0"/>
                <a:ea typeface="Consolas" pitchFamily="34" charset="-122"/>
                <a:cs typeface="Consolas" pitchFamily="34" charset="-120"/>
              </a:rPr>
              <a:t>On branch main</a:t>
            </a:r>
            <a:endParaRPr lang="en-US" sz="1200" dirty="0"/>
          </a:p>
          <a:p>
            <a:pPr algn="l" indent="0" marL="0">
              <a:lnSpc>
                <a:spcPts val="1500"/>
              </a:lnSpc>
              <a:buNone/>
            </a:pPr>
            <a:r>
              <a:rPr lang="en-US" sz="1200" dirty="0">
                <a:solidFill>
                  <a:srgbClr val="7EE787"/>
                </a:solidFill>
                <a:latin typeface="Consolas" pitchFamily="34" charset="0"/>
                <a:ea typeface="Consolas" pitchFamily="34" charset="-122"/>
                <a:cs typeface="Consolas" pitchFamily="34" charset="-120"/>
              </a:rPr>
              <a:t>Your branch is up to date with 'origin/main'.</a:t>
            </a:r>
            <a:endParaRPr lang="en-US" sz="1200" dirty="0"/>
          </a:p>
          <a:p>
            <a:pPr algn="l" indent="0" marL="0">
              <a:lnSpc>
                <a:spcPts val="1500"/>
              </a:lnSpc>
              <a:buNone/>
            </a:pPr>
            <a:r>
              <a:rPr lang="en-US" sz="1200" dirty="0">
                <a:solidFill>
                  <a:srgbClr val="7EE787"/>
                </a:solidFill>
                <a:latin typeface="Consolas" pitchFamily="34" charset="0"/>
                <a:ea typeface="Consolas" pitchFamily="34" charset="-122"/>
                <a:cs typeface="Consolas" pitchFamily="34" charset="-120"/>
              </a:rPr>
              <a:t>nothing to commit, working tree clean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TEORÍA</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¿Qué es una rama (branch)?</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5 / 23</a:t>
            </a:r>
            <a:endParaRPr lang="en-US" sz="900" dirty="0"/>
          </a:p>
        </p:txBody>
      </p:sp>
      <p:sp>
        <p:nvSpPr>
          <p:cNvPr id="8" name="Shape 4"/>
          <p:cNvSpPr/>
          <p:nvPr/>
        </p:nvSpPr>
        <p:spPr>
          <a:xfrm>
            <a:off x="548640" y="1463040"/>
            <a:ext cx="6355080" cy="1188720"/>
          </a:xfrm>
          <a:prstGeom prst="roundRect">
            <a:avLst>
              <a:gd name="adj" fmla="val 7692"/>
            </a:avLst>
          </a:prstGeom>
          <a:solidFill>
            <a:srgbClr val="E7EFF8"/>
          </a:solidFill>
          <a:ln/>
        </p:spPr>
      </p:sp>
      <p:sp>
        <p:nvSpPr>
          <p:cNvPr id="9" name="Text 5"/>
          <p:cNvSpPr txBox="1"/>
          <p:nvPr/>
        </p:nvSpPr>
        <p:spPr>
          <a:xfrm>
            <a:off x="822960" y="1600200"/>
            <a:ext cx="5806440" cy="914400"/>
          </a:xfrm>
          <a:prstGeom prst="rect">
            <a:avLst/>
          </a:prstGeom>
          <a:noFill/>
          <a:ln/>
        </p:spPr>
        <p:txBody>
          <a:bodyPr wrap="square" lIns="0" tIns="0" rIns="0" bIns="0" rtlCol="0" anchor="ctr"/>
          <a:lstStyle/>
          <a:p>
            <a:pPr algn="l" indent="0" marL="0">
              <a:buNone/>
            </a:pPr>
            <a:r>
              <a:rPr lang="en-US" sz="1800" b="1" dirty="0">
                <a:solidFill>
                  <a:srgbClr val="2B5B84"/>
                </a:solidFill>
                <a:latin typeface="Segoe UI" pitchFamily="34" charset="0"/>
                <a:ea typeface="Segoe UI" pitchFamily="34" charset="-122"/>
                <a:cs typeface="Segoe UI" pitchFamily="34" charset="-120"/>
              </a:rPr>
              <a:t>Una rama es una línea de trabajo paralela: cambiás cosas ahí sin tocar la versión estable, que vive en </a:t>
            </a:r>
            <a:pPr algn="l" indent="0" marL="0">
              <a:buNone/>
            </a:pPr>
            <a:r>
              <a:rPr lang="en-US" sz="1800" b="1"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800" b="1" dirty="0">
                <a:solidFill>
                  <a:srgbClr val="2B5B84"/>
                </a:solidFill>
                <a:latin typeface="Segoe UI" pitchFamily="34" charset="0"/>
                <a:ea typeface="Segoe UI" pitchFamily="34" charset="-122"/>
                <a:cs typeface="Segoe UI" pitchFamily="34" charset="-120"/>
              </a:rPr>
              <a:t>.</a:t>
            </a:r>
            <a:endParaRPr lang="en-US" sz="1800" dirty="0"/>
          </a:p>
        </p:txBody>
      </p:sp>
      <p:sp>
        <p:nvSpPr>
          <p:cNvPr id="10" name="Text 6"/>
          <p:cNvSpPr txBox="1"/>
          <p:nvPr/>
        </p:nvSpPr>
        <p:spPr>
          <a:xfrm>
            <a:off x="548640" y="2926080"/>
            <a:ext cx="6355080" cy="274320"/>
          </a:xfrm>
          <a:prstGeom prst="rect">
            <a:avLst/>
          </a:prstGeom>
          <a:noFill/>
          <a:ln/>
        </p:spPr>
        <p:txBody>
          <a:bodyPr wrap="square" lIns="0" tIns="0" rIns="0" bIns="0" rtlCol="0" anchor="t"/>
          <a:lstStyle/>
          <a:p>
            <a:pPr algn="l" indent="0" marL="0">
              <a:buNone/>
            </a:pPr>
            <a:r>
              <a:rPr lang="en-US" sz="1100" b="1" spc="150" kern="0" dirty="0">
                <a:solidFill>
                  <a:srgbClr val="4F5A6D"/>
                </a:solidFill>
                <a:latin typeface="Segoe UI" pitchFamily="34" charset="0"/>
                <a:ea typeface="Segoe UI" pitchFamily="34" charset="-122"/>
                <a:cs typeface="Segoe UI" pitchFamily="34" charset="-120"/>
              </a:rPr>
              <a:t>PASO A PASO</a:t>
            </a:r>
            <a:endParaRPr lang="en-US" sz="1100" dirty="0"/>
          </a:p>
        </p:txBody>
      </p:sp>
      <p:sp>
        <p:nvSpPr>
          <p:cNvPr id="11" name="Text 7"/>
          <p:cNvSpPr txBox="1"/>
          <p:nvPr/>
        </p:nvSpPr>
        <p:spPr>
          <a:xfrm>
            <a:off x="548640" y="3328416"/>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8"/>
          <p:cNvSpPr txBox="1"/>
          <p:nvPr/>
        </p:nvSpPr>
        <p:spPr>
          <a:xfrm>
            <a:off x="1005840" y="3310128"/>
            <a:ext cx="5879592" cy="518160"/>
          </a:xfrm>
          <a:prstGeom prst="rect">
            <a:avLst/>
          </a:prstGeom>
          <a:noFill/>
          <a:ln/>
        </p:spPr>
        <p:txBody>
          <a:bodyPr wrap="square" lIns="12700" tIns="12700" rIns="12700" bIns="12700" rtlCol="0" anchor="t"/>
          <a:lstStyle/>
          <a:p>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400" dirty="0">
                <a:solidFill>
                  <a:srgbClr val="1B2333"/>
                </a:solidFill>
                <a:latin typeface="Segoe UI" pitchFamily="34" charset="0"/>
                <a:ea typeface="Segoe UI" pitchFamily="34" charset="-122"/>
                <a:cs typeface="Segoe UI" pitchFamily="34" charset="-120"/>
              </a:rPr>
              <a:t> es la rama principal: tiene que tener </a:t>
            </a:r>
            <a:pPr algn="l" indent="0" marL="0">
              <a:buNone/>
            </a:pPr>
            <a:r>
              <a:rPr lang="en-US" sz="1400" b="1" dirty="0">
                <a:solidFill>
                  <a:srgbClr val="1B2333"/>
                </a:solidFill>
                <a:latin typeface="Segoe UI" pitchFamily="34" charset="0"/>
                <a:ea typeface="Segoe UI" pitchFamily="34" charset="-122"/>
                <a:cs typeface="Segoe UI" pitchFamily="34" charset="-120"/>
              </a:rPr>
              <a:t>siempre</a:t>
            </a:r>
            <a:pPr algn="l" indent="0" marL="0">
              <a:buNone/>
            </a:pPr>
            <a:r>
              <a:rPr lang="en-US" sz="1400" dirty="0">
                <a:solidFill>
                  <a:srgbClr val="1B2333"/>
                </a:solidFill>
                <a:latin typeface="Segoe UI" pitchFamily="34" charset="0"/>
                <a:ea typeface="Segoe UI" pitchFamily="34" charset="-122"/>
                <a:cs typeface="Segoe UI" pitchFamily="34" charset="-120"/>
              </a:rPr>
              <a:t> código que funciona. Si alguien la rompe, se rompe para todo el equipo.</a:t>
            </a:r>
            <a:endParaRPr lang="en-US" sz="1400" dirty="0"/>
          </a:p>
        </p:txBody>
      </p:sp>
      <p:sp>
        <p:nvSpPr>
          <p:cNvPr id="13" name="Text 9"/>
          <p:cNvSpPr txBox="1"/>
          <p:nvPr/>
        </p:nvSpPr>
        <p:spPr>
          <a:xfrm>
            <a:off x="548640" y="3974592"/>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0"/>
          <p:cNvSpPr txBox="1"/>
          <p:nvPr/>
        </p:nvSpPr>
        <p:spPr>
          <a:xfrm>
            <a:off x="1005840" y="3956304"/>
            <a:ext cx="5879592" cy="51816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Con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git switch -c feature-listado</a:t>
            </a:r>
            <a:pPr algn="l" indent="0" marL="0">
              <a:buNone/>
            </a:pPr>
            <a:r>
              <a:rPr lang="en-US" sz="1400" dirty="0">
                <a:solidFill>
                  <a:srgbClr val="1B2333"/>
                </a:solidFill>
                <a:latin typeface="Segoe UI" pitchFamily="34" charset="0"/>
                <a:ea typeface="Segoe UI" pitchFamily="34" charset="-122"/>
                <a:cs typeface="Segoe UI" pitchFamily="34" charset="-120"/>
              </a:rPr>
              <a:t> creás una rama nueva y te movés a ella. Todo lo que commitees queda ahí.</a:t>
            </a:r>
            <a:endParaRPr lang="en-US" sz="1400" dirty="0"/>
          </a:p>
        </p:txBody>
      </p:sp>
      <p:sp>
        <p:nvSpPr>
          <p:cNvPr id="15" name="Text 11"/>
          <p:cNvSpPr txBox="1"/>
          <p:nvPr/>
        </p:nvSpPr>
        <p:spPr>
          <a:xfrm>
            <a:off x="548640" y="4620768"/>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6" name="Text 12"/>
          <p:cNvSpPr txBox="1"/>
          <p:nvPr/>
        </p:nvSpPr>
        <p:spPr>
          <a:xfrm>
            <a:off x="1005840" y="4602480"/>
            <a:ext cx="5879592" cy="51816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Mientras tanto, tu compañero trabaja en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feature-alta</a:t>
            </a:r>
            <a:pPr algn="l" indent="0" marL="0">
              <a:buNone/>
            </a:pPr>
            <a:r>
              <a:rPr lang="en-US" sz="1400" dirty="0">
                <a:solidFill>
                  <a:srgbClr val="1B2333"/>
                </a:solidFill>
                <a:latin typeface="Segoe UI" pitchFamily="34" charset="0"/>
                <a:ea typeface="Segoe UI" pitchFamily="34" charset="-122"/>
                <a:cs typeface="Segoe UI" pitchFamily="34" charset="-120"/>
              </a:rPr>
              <a:t> sin enterarse de tus cambios a medio hacer.</a:t>
            </a:r>
            <a:endParaRPr lang="en-US" sz="1400" dirty="0"/>
          </a:p>
        </p:txBody>
      </p:sp>
      <p:sp>
        <p:nvSpPr>
          <p:cNvPr id="17" name="Text 13"/>
          <p:cNvSpPr txBox="1"/>
          <p:nvPr/>
        </p:nvSpPr>
        <p:spPr>
          <a:xfrm>
            <a:off x="548640" y="5266944"/>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8" name="Text 14"/>
          <p:cNvSpPr txBox="1"/>
          <p:nvPr/>
        </p:nvSpPr>
        <p:spPr>
          <a:xfrm>
            <a:off x="1005840" y="5248656"/>
            <a:ext cx="5879592" cy="73152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Cuando tu parte está lista y probada, se </a:t>
            </a:r>
            <a:pPr algn="l" indent="0" marL="0">
              <a:buNone/>
            </a:pPr>
            <a:r>
              <a:rPr lang="en-US" sz="1400" b="1" dirty="0">
                <a:solidFill>
                  <a:srgbClr val="1B2333"/>
                </a:solidFill>
                <a:latin typeface="Segoe UI" pitchFamily="34" charset="0"/>
                <a:ea typeface="Segoe UI" pitchFamily="34" charset="-122"/>
                <a:cs typeface="Segoe UI" pitchFamily="34" charset="-120"/>
              </a:rPr>
              <a:t>fusiona</a:t>
            </a:r>
            <a:pPr algn="l" indent="0" marL="0">
              <a:buNone/>
            </a:pPr>
            <a:r>
              <a:rPr lang="en-US" sz="1400" dirty="0">
                <a:solidFill>
                  <a:srgbClr val="1B2333"/>
                </a:solidFill>
                <a:latin typeface="Segoe UI" pitchFamily="34" charset="0"/>
                <a:ea typeface="Segoe UI" pitchFamily="34" charset="-122"/>
                <a:cs typeface="Segoe UI" pitchFamily="34" charset="-120"/>
              </a:rPr>
              <a:t> (merge) con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400" dirty="0">
                <a:solidFill>
                  <a:srgbClr val="1B2333"/>
                </a:solidFill>
                <a:latin typeface="Segoe UI" pitchFamily="34" charset="0"/>
                <a:ea typeface="Segoe UI" pitchFamily="34" charset="-122"/>
                <a:cs typeface="Segoe UI" pitchFamily="34" charset="-120"/>
              </a:rPr>
              <a:t>.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git branch</a:t>
            </a:r>
            <a:pPr algn="l" indent="0" marL="0">
              <a:buNone/>
            </a:pPr>
            <a:r>
              <a:rPr lang="en-US" sz="1400" dirty="0">
                <a:solidFill>
                  <a:srgbClr val="1B2333"/>
                </a:solidFill>
                <a:latin typeface="Segoe UI" pitchFamily="34" charset="0"/>
                <a:ea typeface="Segoe UI" pitchFamily="34" charset="-122"/>
                <a:cs typeface="Segoe UI" pitchFamily="34" charset="-120"/>
              </a:rPr>
              <a:t> te muestra las ramas; el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a:t>
            </a:r>
            <a:pPr algn="l" indent="0" marL="0">
              <a:buNone/>
            </a:pPr>
            <a:r>
              <a:rPr lang="en-US" sz="1400" dirty="0">
                <a:solidFill>
                  <a:srgbClr val="1B2333"/>
                </a:solidFill>
                <a:latin typeface="Segoe UI" pitchFamily="34" charset="0"/>
                <a:ea typeface="Segoe UI" pitchFamily="34" charset="-122"/>
                <a:cs typeface="Segoe UI" pitchFamily="34" charset="-120"/>
              </a:rPr>
              <a:t> marca en cuál estás.</a:t>
            </a:r>
            <a:endParaRPr lang="en-US" sz="1400" dirty="0"/>
          </a:p>
        </p:txBody>
      </p:sp>
      <p:sp>
        <p:nvSpPr>
          <p:cNvPr id="19" name="Shape 15"/>
          <p:cNvSpPr/>
          <p:nvPr/>
        </p:nvSpPr>
        <p:spPr>
          <a:xfrm>
            <a:off x="7315200" y="1463040"/>
            <a:ext cx="4327855" cy="2011680"/>
          </a:xfrm>
          <a:prstGeom prst="roundRect">
            <a:avLst>
              <a:gd name="adj" fmla="val 5455"/>
            </a:avLst>
          </a:prstGeom>
          <a:solidFill>
            <a:srgbClr val="FFF4C7"/>
          </a:solidFill>
          <a:ln/>
        </p:spPr>
      </p:sp>
      <p:sp>
        <p:nvSpPr>
          <p:cNvPr id="20" name="Text 16"/>
          <p:cNvSpPr txBox="1"/>
          <p:nvPr/>
        </p:nvSpPr>
        <p:spPr>
          <a:xfrm>
            <a:off x="7543800" y="1645920"/>
            <a:ext cx="457200" cy="457200"/>
          </a:xfrm>
          <a:prstGeom prst="rect">
            <a:avLst/>
          </a:prstGeom>
          <a:noFill/>
          <a:ln/>
        </p:spPr>
        <p:txBody>
          <a:bodyPr wrap="square" lIns="0" tIns="0" rIns="0" bIns="0" rtlCol="0" anchor="t"/>
          <a:lstStyle/>
          <a:p>
            <a:pPr algn="l" indent="0" marL="0">
              <a:buNone/>
            </a:pPr>
            <a:r>
              <a:rPr lang="en-US" sz="2000" dirty="0">
                <a:solidFill>
                  <a:srgbClr val="1B2333"/>
                </a:solidFill>
                <a:latin typeface="Segoe UI Emoji" pitchFamily="34" charset="0"/>
                <a:ea typeface="Segoe UI Emoji" pitchFamily="34" charset="-122"/>
                <a:cs typeface="Segoe UI Emoji" pitchFamily="34" charset="-120"/>
              </a:rPr>
              <a:t>🍳</a:t>
            </a:r>
            <a:endParaRPr lang="en-US" sz="2000" dirty="0"/>
          </a:p>
        </p:txBody>
      </p:sp>
      <p:sp>
        <p:nvSpPr>
          <p:cNvPr id="21" name="Text 17"/>
          <p:cNvSpPr txBox="1"/>
          <p:nvPr/>
        </p:nvSpPr>
        <p:spPr>
          <a:xfrm>
            <a:off x="8092440" y="1682496"/>
            <a:ext cx="3322015" cy="384048"/>
          </a:xfrm>
          <a:prstGeom prst="rect">
            <a:avLst/>
          </a:prstGeom>
          <a:noFill/>
          <a:ln/>
        </p:spPr>
        <p:txBody>
          <a:bodyPr wrap="square" lIns="0" tIns="0" rIns="0" bIns="0" rtlCol="0" anchor="ctr"/>
          <a:lstStyle/>
          <a:p>
            <a:pPr algn="l" indent="0" marL="0">
              <a:buNone/>
            </a:pPr>
            <a:r>
              <a:rPr lang="en-US" sz="1400" b="1" dirty="0">
                <a:solidFill>
                  <a:srgbClr val="7A5600"/>
                </a:solidFill>
                <a:latin typeface="Segoe UI" pitchFamily="34" charset="0"/>
                <a:ea typeface="Segoe UI" pitchFamily="34" charset="-122"/>
                <a:cs typeface="Segoe UI" pitchFamily="34" charset="-120"/>
              </a:rPr>
              <a:t>Como probar una receta aparte</a:t>
            </a:r>
            <a:endParaRPr lang="en-US" sz="1400" dirty="0"/>
          </a:p>
        </p:txBody>
      </p:sp>
      <p:sp>
        <p:nvSpPr>
          <p:cNvPr id="22" name="Text 18"/>
          <p:cNvSpPr txBox="1"/>
          <p:nvPr/>
        </p:nvSpPr>
        <p:spPr>
          <a:xfrm>
            <a:off x="7571232" y="2194560"/>
            <a:ext cx="3824935" cy="1188720"/>
          </a:xfrm>
          <a:prstGeom prst="rect">
            <a:avLst/>
          </a:prstGeom>
          <a:noFill/>
          <a:ln/>
        </p:spPr>
        <p:txBody>
          <a:bodyPr wrap="square" lIns="0" tIns="0" rIns="0" bIns="0" rtlCol="0" anchor="t"/>
          <a:lstStyle/>
          <a:p>
            <a:pPr algn="l" indent="0" marL="0">
              <a:buNone/>
            </a:pPr>
            <a:r>
              <a:rPr lang="en-US" sz="1250" dirty="0">
                <a:solidFill>
                  <a:srgbClr val="1B2333"/>
                </a:solidFill>
                <a:latin typeface="Segoe UI" pitchFamily="34" charset="0"/>
                <a:ea typeface="Segoe UI" pitchFamily="34" charset="-122"/>
                <a:cs typeface="Segoe UI" pitchFamily="34" charset="-120"/>
              </a:rPr>
              <a:t>La receta de la abuela (main) no se toca. Si querés probar con menos azúcar, cocinás una tanda aparte (tu rama). Si sale rica, recién ahí la pasás al cuaderno oficial (merge). Si sale mal, la tirás y la receta original sigue intacta.</a:t>
            </a:r>
            <a:endParaRPr lang="en-US" sz="1250" dirty="0"/>
          </a:p>
        </p:txBody>
      </p:sp>
      <p:sp>
        <p:nvSpPr>
          <p:cNvPr id="23" name="Shape 19"/>
          <p:cNvSpPr/>
          <p:nvPr/>
        </p:nvSpPr>
        <p:spPr>
          <a:xfrm>
            <a:off x="7315200" y="3703320"/>
            <a:ext cx="4327855" cy="1115568"/>
          </a:xfrm>
          <a:prstGeom prst="roundRect">
            <a:avLst>
              <a:gd name="adj" fmla="val 8197"/>
            </a:avLst>
          </a:prstGeom>
          <a:solidFill>
            <a:srgbClr val="0D1117"/>
          </a:solidFill>
          <a:ln/>
          <a:effectLst>
            <a:outerShdw sx="100000" sy="100000" kx="0" ky="0" algn="bl" rotWithShape="0" blurRad="88900" dist="19050" dir="5400000">
              <a:srgbClr val="1B2333">
                <a:alpha val="10000"/>
              </a:srgbClr>
            </a:outerShdw>
          </a:effectLst>
        </p:spPr>
      </p:sp>
      <p:sp>
        <p:nvSpPr>
          <p:cNvPr id="24" name="Shape 20"/>
          <p:cNvSpPr/>
          <p:nvPr/>
        </p:nvSpPr>
        <p:spPr>
          <a:xfrm>
            <a:off x="7498080" y="3849624"/>
            <a:ext cx="109728" cy="109728"/>
          </a:xfrm>
          <a:prstGeom prst="ellipse">
            <a:avLst/>
          </a:prstGeom>
          <a:solidFill>
            <a:srgbClr val="FF5F57"/>
          </a:solidFill>
          <a:ln/>
        </p:spPr>
      </p:sp>
      <p:sp>
        <p:nvSpPr>
          <p:cNvPr id="25" name="Shape 21"/>
          <p:cNvSpPr/>
          <p:nvPr/>
        </p:nvSpPr>
        <p:spPr>
          <a:xfrm>
            <a:off x="7680960" y="3849624"/>
            <a:ext cx="109728" cy="109728"/>
          </a:xfrm>
          <a:prstGeom prst="ellipse">
            <a:avLst/>
          </a:prstGeom>
          <a:solidFill>
            <a:srgbClr val="FEBC2E"/>
          </a:solidFill>
          <a:ln/>
        </p:spPr>
      </p:sp>
      <p:sp>
        <p:nvSpPr>
          <p:cNvPr id="26" name="Shape 22"/>
          <p:cNvSpPr/>
          <p:nvPr/>
        </p:nvSpPr>
        <p:spPr>
          <a:xfrm>
            <a:off x="7863840" y="3849624"/>
            <a:ext cx="109728" cy="109728"/>
          </a:xfrm>
          <a:prstGeom prst="ellipse">
            <a:avLst/>
          </a:prstGeom>
          <a:solidFill>
            <a:srgbClr val="28C840"/>
          </a:solidFill>
          <a:ln/>
        </p:spPr>
      </p:sp>
      <p:sp>
        <p:nvSpPr>
          <p:cNvPr id="27" name="Text 23"/>
          <p:cNvSpPr txBox="1"/>
          <p:nvPr/>
        </p:nvSpPr>
        <p:spPr>
          <a:xfrm>
            <a:off x="8092440" y="3758184"/>
            <a:ext cx="3413455"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terminal</a:t>
            </a:r>
            <a:endParaRPr lang="en-US" sz="1050" dirty="0"/>
          </a:p>
        </p:txBody>
      </p:sp>
      <p:sp>
        <p:nvSpPr>
          <p:cNvPr id="28" name="Text 24"/>
          <p:cNvSpPr txBox="1"/>
          <p:nvPr/>
        </p:nvSpPr>
        <p:spPr>
          <a:xfrm>
            <a:off x="7424928" y="4160520"/>
            <a:ext cx="224028" cy="548640"/>
          </a:xfrm>
          <a:prstGeom prst="rect">
            <a:avLst/>
          </a:prstGeom>
          <a:noFill/>
          <a:ln/>
        </p:spPr>
        <p:txBody>
          <a:bodyPr wrap="square" lIns="0" tIns="0" rIns="0" bIns="0" rtlCol="0" anchor="t"/>
          <a:lstStyle/>
          <a:p>
            <a:pPr algn="r" indent="0" marL="0">
              <a:lnSpc>
                <a:spcPts val="1875"/>
              </a:lnSpc>
              <a:buNone/>
            </a:pPr>
            <a:r>
              <a:rPr lang="en-US" sz="1500" dirty="0">
                <a:solidFill>
                  <a:srgbClr val="6E7681"/>
                </a:solidFill>
                <a:latin typeface="Consolas" pitchFamily="34" charset="0"/>
                <a:ea typeface="Consolas" pitchFamily="34" charset="-122"/>
                <a:cs typeface="Consolas" pitchFamily="34" charset="-120"/>
              </a:rPr>
              <a:t>1</a:t>
            </a:r>
            <a:endParaRPr lang="en-US" sz="1500" dirty="0"/>
          </a:p>
          <a:p>
            <a:pPr algn="r" indent="0" marL="0">
              <a:lnSpc>
                <a:spcPts val="1875"/>
              </a:lnSpc>
              <a:buNone/>
            </a:pPr>
            <a:r>
              <a:rPr lang="en-US" sz="1500" dirty="0">
                <a:solidFill>
                  <a:srgbClr val="6E7681"/>
                </a:solidFill>
                <a:latin typeface="Consolas" pitchFamily="34" charset="0"/>
                <a:ea typeface="Consolas" pitchFamily="34" charset="-122"/>
                <a:cs typeface="Consolas" pitchFamily="34" charset="-120"/>
              </a:rPr>
              <a:t>2</a:t>
            </a:r>
            <a:endParaRPr lang="en-US" sz="1500" dirty="0"/>
          </a:p>
        </p:txBody>
      </p:sp>
      <p:sp>
        <p:nvSpPr>
          <p:cNvPr id="29" name="Text 25"/>
          <p:cNvSpPr txBox="1"/>
          <p:nvPr/>
        </p:nvSpPr>
        <p:spPr>
          <a:xfrm>
            <a:off x="7795260" y="4160520"/>
            <a:ext cx="3783787" cy="548640"/>
          </a:xfrm>
          <a:prstGeom prst="rect">
            <a:avLst/>
          </a:prstGeom>
          <a:noFill/>
          <a:ln/>
        </p:spPr>
        <p:txBody>
          <a:bodyPr wrap="none" lIns="0" tIns="0" rIns="0" bIns="0" rtlCol="0" anchor="t"/>
          <a:lstStyle/>
          <a:p>
            <a:pPr algn="l" indent="0" marL="0">
              <a:lnSpc>
                <a:spcPts val="1875"/>
              </a:lnSpc>
              <a:buNone/>
            </a:pPr>
            <a:r>
              <a:rPr lang="en-US" sz="1500" dirty="0">
                <a:solidFill>
                  <a:srgbClr val="E6EDF3"/>
                </a:solidFill>
                <a:latin typeface="Consolas" pitchFamily="34" charset="0"/>
                <a:ea typeface="Consolas" pitchFamily="34" charset="-122"/>
                <a:cs typeface="Consolas" pitchFamily="34" charset="-120"/>
              </a:rPr>
              <a:t>git switch -c feature-carpeta</a:t>
            </a:r>
            <a:endParaRPr lang="en-US" sz="1500" dirty="0"/>
          </a:p>
          <a:p>
            <a:pPr algn="l" indent="0" marL="0">
              <a:lnSpc>
                <a:spcPts val="1875"/>
              </a:lnSpc>
              <a:buNone/>
            </a:pPr>
            <a:r>
              <a:rPr lang="en-US" sz="1500" dirty="0">
                <a:solidFill>
                  <a:srgbClr val="E6EDF3"/>
                </a:solidFill>
                <a:latin typeface="Consolas" pitchFamily="34" charset="0"/>
                <a:ea typeface="Consolas" pitchFamily="34" charset="-122"/>
                <a:cs typeface="Consolas" pitchFamily="34" charset="-120"/>
              </a:rPr>
              <a:t>git branch</a:t>
            </a:r>
            <a:endParaRPr lang="en-US" sz="1500" dirty="0"/>
          </a:p>
        </p:txBody>
      </p:sp>
      <p:sp>
        <p:nvSpPr>
          <p:cNvPr id="30" name="Shape 26"/>
          <p:cNvSpPr/>
          <p:nvPr/>
        </p:nvSpPr>
        <p:spPr>
          <a:xfrm>
            <a:off x="7315200" y="5001768"/>
            <a:ext cx="4327855" cy="1056132"/>
          </a:xfrm>
          <a:prstGeom prst="roundRect">
            <a:avLst>
              <a:gd name="adj" fmla="val 8658"/>
            </a:avLst>
          </a:prstGeom>
          <a:solidFill>
            <a:srgbClr val="010409"/>
          </a:solidFill>
          <a:ln/>
        </p:spPr>
      </p:sp>
      <p:sp>
        <p:nvSpPr>
          <p:cNvPr id="31" name="Text 27"/>
          <p:cNvSpPr txBox="1"/>
          <p:nvPr/>
        </p:nvSpPr>
        <p:spPr>
          <a:xfrm>
            <a:off x="7498080" y="5093208"/>
            <a:ext cx="3962095" cy="256032"/>
          </a:xfrm>
          <a:prstGeom prst="rect">
            <a:avLst/>
          </a:prstGeom>
          <a:noFill/>
          <a:ln/>
        </p:spPr>
        <p:txBody>
          <a:bodyPr wrap="square" lIns="0" tIns="0" rIns="0" bIns="0" rtlCol="0" anchor="t"/>
          <a:lstStyle/>
          <a:p>
            <a:pPr algn="l" indent="0" marL="0">
              <a:buNone/>
            </a:pPr>
            <a:r>
              <a:rPr lang="en-US" sz="950" b="1" spc="150" kern="0" dirty="0">
                <a:solidFill>
                  <a:srgbClr val="6E7681"/>
                </a:solidFill>
                <a:latin typeface="Segoe UI" pitchFamily="34" charset="0"/>
                <a:ea typeface="Segoe UI" pitchFamily="34" charset="-122"/>
                <a:cs typeface="Segoe UI" pitchFamily="34" charset="-120"/>
              </a:rPr>
              <a:t>SALIDA EN CONSOLA</a:t>
            </a:r>
            <a:endParaRPr lang="en-US" sz="950" dirty="0"/>
          </a:p>
        </p:txBody>
      </p:sp>
      <p:sp>
        <p:nvSpPr>
          <p:cNvPr id="32" name="Text 28"/>
          <p:cNvSpPr txBox="1"/>
          <p:nvPr/>
        </p:nvSpPr>
        <p:spPr>
          <a:xfrm>
            <a:off x="7498080" y="5385816"/>
            <a:ext cx="4007815" cy="598932"/>
          </a:xfrm>
          <a:prstGeom prst="rect">
            <a:avLst/>
          </a:prstGeom>
          <a:noFill/>
          <a:ln/>
        </p:spPr>
        <p:txBody>
          <a:bodyPr wrap="none" lIns="0" tIns="0" rIns="0" bIns="0" rtlCol="0" anchor="t"/>
          <a:lstStyle/>
          <a:p>
            <a:pPr algn="l" indent="0" marL="0">
              <a:lnSpc>
                <a:spcPts val="1500"/>
              </a:lnSpc>
              <a:buNone/>
            </a:pPr>
            <a:r>
              <a:rPr lang="en-US" sz="1200" dirty="0">
                <a:solidFill>
                  <a:srgbClr val="7EE787"/>
                </a:solidFill>
                <a:latin typeface="Consolas" pitchFamily="34" charset="0"/>
                <a:ea typeface="Consolas" pitchFamily="34" charset="-122"/>
                <a:cs typeface="Consolas" pitchFamily="34" charset="-120"/>
              </a:rPr>
              <a:t>Switched to a new branch 'feature-carpeta'</a:t>
            </a:r>
            <a:endParaRPr lang="en-US" sz="1200" dirty="0"/>
          </a:p>
          <a:p>
            <a:pPr algn="l" indent="0" marL="0">
              <a:lnSpc>
                <a:spcPts val="1500"/>
              </a:lnSpc>
              <a:buNone/>
            </a:pPr>
            <a:r>
              <a:rPr lang="en-US" sz="1200" dirty="0">
                <a:solidFill>
                  <a:srgbClr val="7EE787"/>
                </a:solidFill>
                <a:latin typeface="Consolas" pitchFamily="34" charset="0"/>
                <a:ea typeface="Consolas" pitchFamily="34" charset="-122"/>
                <a:cs typeface="Consolas" pitchFamily="34" charset="-120"/>
              </a:rPr>
              <a:t>* feature-carpeta</a:t>
            </a:r>
            <a:endParaRPr lang="en-US" sz="1200" dirty="0"/>
          </a:p>
          <a:p>
            <a:pPr algn="l" indent="0" marL="0">
              <a:lnSpc>
                <a:spcPts val="1500"/>
              </a:lnSpc>
              <a:buNone/>
            </a:pPr>
            <a:r>
              <a:rPr lang="en-US" sz="1200" dirty="0">
                <a:solidFill>
                  <a:srgbClr val="7EE787"/>
                </a:solidFill>
                <a:latin typeface="Consolas" pitchFamily="34" charset="0"/>
                <a:ea typeface="Consolas" pitchFamily="34" charset="-122"/>
                <a:cs typeface="Consolas" pitchFamily="34" charset="-120"/>
              </a:rPr>
              <a:t>  main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PROCESO</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El flujo de trabajo del equipo, paso a paso</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6 / 23</a:t>
            </a:r>
            <a:endParaRPr lang="en-US" sz="900" dirty="0"/>
          </a:p>
        </p:txBody>
      </p:sp>
      <p:sp>
        <p:nvSpPr>
          <p:cNvPr id="8" name="Shape 4"/>
          <p:cNvSpPr/>
          <p:nvPr/>
        </p:nvSpPr>
        <p:spPr>
          <a:xfrm>
            <a:off x="548640"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0" name="Text 6"/>
          <p:cNvSpPr txBox="1"/>
          <p:nvPr/>
        </p:nvSpPr>
        <p:spPr>
          <a:xfrm>
            <a:off x="1353312" y="1664208"/>
            <a:ext cx="1470584" cy="512064"/>
          </a:xfrm>
          <a:prstGeom prst="rect">
            <a:avLst/>
          </a:prstGeom>
          <a:noFill/>
          <a:ln/>
        </p:spPr>
        <p:txBody>
          <a:bodyPr wrap="square" lIns="0" tIns="0" rIns="0" bIns="0" rtlCol="0" anchor="ctr"/>
          <a:lstStyle/>
          <a:p>
            <a:pPr algn="l" indent="0" marL="0">
              <a:buNone/>
            </a:pPr>
            <a:r>
              <a:rPr lang="en-US" sz="1600" b="1" dirty="0">
                <a:solidFill>
                  <a:srgbClr val="1B2333"/>
                </a:solidFill>
                <a:latin typeface="Segoe UI" pitchFamily="34" charset="0"/>
                <a:ea typeface="Segoe UI" pitchFamily="34" charset="-122"/>
                <a:cs typeface="Segoe UI" pitchFamily="34" charset="-120"/>
              </a:rPr>
              <a:t>1. Rama</a:t>
            </a:r>
            <a:endParaRPr lang="en-US" sz="1600" dirty="0"/>
          </a:p>
        </p:txBody>
      </p:sp>
      <p:sp>
        <p:nvSpPr>
          <p:cNvPr id="11" name="Text 7"/>
          <p:cNvSpPr txBox="1"/>
          <p:nvPr/>
        </p:nvSpPr>
        <p:spPr>
          <a:xfrm>
            <a:off x="777240" y="2331720"/>
            <a:ext cx="2019224" cy="1920240"/>
          </a:xfrm>
          <a:prstGeom prst="rect">
            <a:avLst/>
          </a:prstGeom>
          <a:noFill/>
          <a:ln/>
        </p:spPr>
        <p:txBody>
          <a:bodyPr wrap="square" lIns="0" tIns="0" rIns="0" bIns="0" rtlCol="0" anchor="t"/>
          <a:lstStyle/>
          <a:p>
            <a:pPr algn="l" indent="0" marL="0">
              <a:buNone/>
            </a:pPr>
            <a:r>
              <a:rPr lang="en-US" sz="1700" dirty="0">
                <a:solidFill>
                  <a:srgbClr val="4F5A6D"/>
                </a:solidFill>
                <a:latin typeface="Segoe UI" pitchFamily="34" charset="0"/>
                <a:ea typeface="Segoe UI" pitchFamily="34" charset="-122"/>
                <a:cs typeface="Segoe UI" pitchFamily="34" charset="-120"/>
              </a:rPr>
              <a:t>Actualizás </a:t>
            </a:r>
            <a:pPr algn="l" indent="0" marL="0">
              <a:buNone/>
            </a:pPr>
            <a:r>
              <a:rPr lang="en-US" sz="170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700" dirty="0">
                <a:solidFill>
                  <a:srgbClr val="4F5A6D"/>
                </a:solidFill>
                <a:latin typeface="Segoe UI" pitchFamily="34" charset="0"/>
                <a:ea typeface="Segoe UI" pitchFamily="34" charset="-122"/>
                <a:cs typeface="Segoe UI" pitchFamily="34" charset="-120"/>
              </a:rPr>
              <a:t> con </a:t>
            </a:r>
            <a:pPr algn="l" indent="0" marL="0">
              <a:buNone/>
            </a:pPr>
            <a:r>
              <a:rPr lang="en-US" sz="1700" dirty="0">
                <a:solidFill>
                  <a:srgbClr val="0F4C81"/>
                </a:solidFill>
                <a:highlight>
                  <a:srgbClr val="E6EDF6"/>
                </a:highlight>
                <a:latin typeface="Consolas" pitchFamily="34" charset="0"/>
                <a:ea typeface="Consolas" pitchFamily="34" charset="-122"/>
                <a:cs typeface="Consolas" pitchFamily="34" charset="-120"/>
              </a:rPr>
              <a:t>git pull</a:t>
            </a:r>
            <a:pPr algn="l" indent="0" marL="0">
              <a:buNone/>
            </a:pPr>
            <a:r>
              <a:rPr lang="en-US" sz="1700" dirty="0">
                <a:solidFill>
                  <a:srgbClr val="4F5A6D"/>
                </a:solidFill>
                <a:latin typeface="Segoe UI" pitchFamily="34" charset="0"/>
                <a:ea typeface="Segoe UI" pitchFamily="34" charset="-122"/>
                <a:cs typeface="Segoe UI" pitchFamily="34" charset="-120"/>
              </a:rPr>
              <a:t> y creás una rama con un nombre que diga qué vas a hacer.</a:t>
            </a:r>
            <a:endParaRPr lang="en-US" sz="1700" dirty="0"/>
          </a:p>
        </p:txBody>
      </p:sp>
      <p:sp>
        <p:nvSpPr>
          <p:cNvPr id="12" name="Shape 8"/>
          <p:cNvSpPr/>
          <p:nvPr/>
        </p:nvSpPr>
        <p:spPr>
          <a:xfrm>
            <a:off x="731520" y="4343400"/>
            <a:ext cx="2064944" cy="868680"/>
          </a:xfrm>
          <a:prstGeom prst="roundRect">
            <a:avLst>
              <a:gd name="adj" fmla="val 8421"/>
            </a:avLst>
          </a:prstGeom>
          <a:solidFill>
            <a:srgbClr val="0D1117"/>
          </a:solidFill>
          <a:ln/>
        </p:spPr>
      </p:sp>
      <p:sp>
        <p:nvSpPr>
          <p:cNvPr id="13" name="Text 9"/>
          <p:cNvSpPr txBox="1"/>
          <p:nvPr/>
        </p:nvSpPr>
        <p:spPr>
          <a:xfrm>
            <a:off x="868680" y="4480560"/>
            <a:ext cx="1882064" cy="640080"/>
          </a:xfrm>
          <a:prstGeom prst="rect">
            <a:avLst/>
          </a:prstGeom>
          <a:noFill/>
          <a:ln/>
        </p:spPr>
        <p:txBody>
          <a:bodyPr wrap="none" lIns="0" tIns="0" rIns="0" bIns="0" rtlCol="0" anchor="ctr"/>
          <a:lstStyle/>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git pull</a:t>
            </a:r>
            <a:endParaRPr lang="en-US" sz="850" dirty="0"/>
          </a:p>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git switch -c feature-listado</a:t>
            </a:r>
            <a:endParaRPr lang="en-US" sz="850" dirty="0"/>
          </a:p>
        </p:txBody>
      </p:sp>
      <p:sp>
        <p:nvSpPr>
          <p:cNvPr id="14" name="Shape 10"/>
          <p:cNvSpPr/>
          <p:nvPr/>
        </p:nvSpPr>
        <p:spPr>
          <a:xfrm>
            <a:off x="3070784" y="3296412"/>
            <a:ext cx="274320" cy="310896"/>
          </a:xfrm>
          <a:prstGeom prst="rightArrow">
            <a:avLst/>
          </a:prstGeom>
          <a:solidFill>
            <a:srgbClr val="FFD43B"/>
          </a:solidFill>
          <a:ln/>
        </p:spPr>
      </p:sp>
      <p:sp>
        <p:nvSpPr>
          <p:cNvPr id="15" name="Shape 11"/>
          <p:cNvSpPr/>
          <p:nvPr/>
        </p:nvSpPr>
        <p:spPr>
          <a:xfrm>
            <a:off x="3436544"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16" name="Text 12"/>
          <p:cNvSpPr txBox="1"/>
          <p:nvPr/>
        </p:nvSpPr>
        <p:spPr>
          <a:xfrm>
            <a:off x="3665144"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7" name="Text 13"/>
          <p:cNvSpPr txBox="1"/>
          <p:nvPr/>
        </p:nvSpPr>
        <p:spPr>
          <a:xfrm>
            <a:off x="4241216" y="1664208"/>
            <a:ext cx="1470584" cy="512064"/>
          </a:xfrm>
          <a:prstGeom prst="rect">
            <a:avLst/>
          </a:prstGeom>
          <a:noFill/>
          <a:ln/>
        </p:spPr>
        <p:txBody>
          <a:bodyPr wrap="square" lIns="0" tIns="0" rIns="0" bIns="0" rtlCol="0" anchor="ctr"/>
          <a:lstStyle/>
          <a:p>
            <a:pPr algn="l" indent="0" marL="0">
              <a:buNone/>
            </a:pPr>
            <a:r>
              <a:rPr lang="en-US" sz="1600" b="1" dirty="0">
                <a:solidFill>
                  <a:srgbClr val="1B2333"/>
                </a:solidFill>
                <a:latin typeface="Segoe UI" pitchFamily="34" charset="0"/>
                <a:ea typeface="Segoe UI" pitchFamily="34" charset="-122"/>
                <a:cs typeface="Segoe UI" pitchFamily="34" charset="-120"/>
              </a:rPr>
              <a:t>2. Commits</a:t>
            </a:r>
            <a:endParaRPr lang="en-US" sz="1600" dirty="0"/>
          </a:p>
        </p:txBody>
      </p:sp>
      <p:sp>
        <p:nvSpPr>
          <p:cNvPr id="18" name="Text 14"/>
          <p:cNvSpPr txBox="1"/>
          <p:nvPr/>
        </p:nvSpPr>
        <p:spPr>
          <a:xfrm>
            <a:off x="3665144" y="2331720"/>
            <a:ext cx="2019224" cy="1920240"/>
          </a:xfrm>
          <a:prstGeom prst="rect">
            <a:avLst/>
          </a:prstGeom>
          <a:noFill/>
          <a:ln/>
        </p:spPr>
        <p:txBody>
          <a:bodyPr wrap="square" lIns="0" tIns="0" rIns="0" bIns="0" rtlCol="0" anchor="t"/>
          <a:lstStyle/>
          <a:p>
            <a:pPr algn="l" indent="0" marL="0">
              <a:buNone/>
            </a:pPr>
            <a:r>
              <a:rPr lang="en-US" sz="1700" dirty="0">
                <a:solidFill>
                  <a:srgbClr val="4F5A6D"/>
                </a:solidFill>
                <a:latin typeface="Segoe UI" pitchFamily="34" charset="0"/>
                <a:ea typeface="Segoe UI" pitchFamily="34" charset="-122"/>
                <a:cs typeface="Segoe UI" pitchFamily="34" charset="-120"/>
              </a:rPr>
              <a:t>Programás de a poco. Cada avance que funciona se guarda con un commit de mensaje claro.</a:t>
            </a:r>
            <a:endParaRPr lang="en-US" sz="1700" dirty="0"/>
          </a:p>
        </p:txBody>
      </p:sp>
      <p:sp>
        <p:nvSpPr>
          <p:cNvPr id="19" name="Shape 15"/>
          <p:cNvSpPr/>
          <p:nvPr/>
        </p:nvSpPr>
        <p:spPr>
          <a:xfrm>
            <a:off x="3619424" y="4343400"/>
            <a:ext cx="2064944" cy="868680"/>
          </a:xfrm>
          <a:prstGeom prst="roundRect">
            <a:avLst>
              <a:gd name="adj" fmla="val 8421"/>
            </a:avLst>
          </a:prstGeom>
          <a:solidFill>
            <a:srgbClr val="0D1117"/>
          </a:solidFill>
          <a:ln/>
        </p:spPr>
      </p:sp>
      <p:sp>
        <p:nvSpPr>
          <p:cNvPr id="20" name="Text 16"/>
          <p:cNvSpPr txBox="1"/>
          <p:nvPr/>
        </p:nvSpPr>
        <p:spPr>
          <a:xfrm>
            <a:off x="3756584" y="4480560"/>
            <a:ext cx="1882064" cy="640080"/>
          </a:xfrm>
          <a:prstGeom prst="rect">
            <a:avLst/>
          </a:prstGeom>
          <a:noFill/>
          <a:ln/>
        </p:spPr>
        <p:txBody>
          <a:bodyPr wrap="none" lIns="0" tIns="0" rIns="0" bIns="0" rtlCol="0" anchor="ctr"/>
          <a:lstStyle/>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git add proyecto.py</a:t>
            </a:r>
            <a:endParaRPr lang="en-US" sz="850" dirty="0"/>
          </a:p>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git commit -m </a:t>
            </a:r>
            <a:pPr algn="l" indent="0" marL="0">
              <a:lnSpc>
                <a:spcPts val="1063"/>
              </a:lnSpc>
              <a:buNone/>
            </a:pPr>
            <a:r>
              <a:rPr lang="en-US" sz="850" dirty="0">
                <a:solidFill>
                  <a:srgbClr val="A5D6FF"/>
                </a:solidFill>
                <a:latin typeface="Consolas" pitchFamily="34" charset="0"/>
                <a:ea typeface="Consolas" pitchFamily="34" charset="-122"/>
                <a:cs typeface="Consolas" pitchFamily="34" charset="-120"/>
              </a:rPr>
              <a:t>"feat: listado"</a:t>
            </a:r>
            <a:endParaRPr lang="en-US" sz="850" dirty="0"/>
          </a:p>
        </p:txBody>
      </p:sp>
      <p:sp>
        <p:nvSpPr>
          <p:cNvPr id="21" name="Shape 17"/>
          <p:cNvSpPr/>
          <p:nvPr/>
        </p:nvSpPr>
        <p:spPr>
          <a:xfrm>
            <a:off x="5958688" y="3296412"/>
            <a:ext cx="274320" cy="310896"/>
          </a:xfrm>
          <a:prstGeom prst="rightArrow">
            <a:avLst/>
          </a:prstGeom>
          <a:solidFill>
            <a:srgbClr val="FFD43B"/>
          </a:solidFill>
          <a:ln/>
        </p:spPr>
      </p:sp>
      <p:sp>
        <p:nvSpPr>
          <p:cNvPr id="22" name="Shape 18"/>
          <p:cNvSpPr/>
          <p:nvPr/>
        </p:nvSpPr>
        <p:spPr>
          <a:xfrm>
            <a:off x="6324448"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23" name="Text 19"/>
          <p:cNvSpPr txBox="1"/>
          <p:nvPr/>
        </p:nvSpPr>
        <p:spPr>
          <a:xfrm>
            <a:off x="6553048"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4" name="Text 20"/>
          <p:cNvSpPr txBox="1"/>
          <p:nvPr/>
        </p:nvSpPr>
        <p:spPr>
          <a:xfrm>
            <a:off x="7129120" y="1664208"/>
            <a:ext cx="1470584" cy="512064"/>
          </a:xfrm>
          <a:prstGeom prst="rect">
            <a:avLst/>
          </a:prstGeom>
          <a:noFill/>
          <a:ln/>
        </p:spPr>
        <p:txBody>
          <a:bodyPr wrap="square" lIns="0" tIns="0" rIns="0" bIns="0" rtlCol="0" anchor="ctr"/>
          <a:lstStyle/>
          <a:p>
            <a:pPr algn="l" indent="0" marL="0">
              <a:buNone/>
            </a:pPr>
            <a:r>
              <a:rPr lang="en-US" sz="1600" b="1" dirty="0">
                <a:solidFill>
                  <a:srgbClr val="1B2333"/>
                </a:solidFill>
                <a:latin typeface="Segoe UI" pitchFamily="34" charset="0"/>
                <a:ea typeface="Segoe UI" pitchFamily="34" charset="-122"/>
                <a:cs typeface="Segoe UI" pitchFamily="34" charset="-120"/>
              </a:rPr>
              <a:t>3. Push y PR</a:t>
            </a:r>
            <a:endParaRPr lang="en-US" sz="1600" dirty="0"/>
          </a:p>
        </p:txBody>
      </p:sp>
      <p:sp>
        <p:nvSpPr>
          <p:cNvPr id="25" name="Text 21"/>
          <p:cNvSpPr txBox="1"/>
          <p:nvPr/>
        </p:nvSpPr>
        <p:spPr>
          <a:xfrm>
            <a:off x="6553048" y="2331720"/>
            <a:ext cx="2019224" cy="1920240"/>
          </a:xfrm>
          <a:prstGeom prst="rect">
            <a:avLst/>
          </a:prstGeom>
          <a:noFill/>
          <a:ln/>
        </p:spPr>
        <p:txBody>
          <a:bodyPr wrap="square" lIns="0" tIns="0" rIns="0" bIns="0" rtlCol="0" anchor="t"/>
          <a:lstStyle/>
          <a:p>
            <a:pPr algn="l" indent="0" marL="0">
              <a:buNone/>
            </a:pPr>
            <a:r>
              <a:rPr lang="en-US" sz="1700" dirty="0">
                <a:solidFill>
                  <a:srgbClr val="4F5A6D"/>
                </a:solidFill>
                <a:latin typeface="Segoe UI" pitchFamily="34" charset="0"/>
                <a:ea typeface="Segoe UI" pitchFamily="34" charset="-122"/>
                <a:cs typeface="Segoe UI" pitchFamily="34" charset="-120"/>
              </a:rPr>
              <a:t>Subís tu rama a GitHub y abrís un </a:t>
            </a:r>
            <a:pPr algn="l" indent="0" marL="0">
              <a:buNone/>
            </a:pPr>
            <a:r>
              <a:rPr lang="en-US" sz="1700" b="1" dirty="0">
                <a:solidFill>
                  <a:srgbClr val="4F5A6D"/>
                </a:solidFill>
                <a:latin typeface="Segoe UI" pitchFamily="34" charset="0"/>
                <a:ea typeface="Segoe UI" pitchFamily="34" charset="-122"/>
                <a:cs typeface="Segoe UI" pitchFamily="34" charset="-120"/>
              </a:rPr>
              <a:t>Pull Request</a:t>
            </a:r>
            <a:pPr algn="l" indent="0" marL="0">
              <a:buNone/>
            </a:pPr>
            <a:r>
              <a:rPr lang="en-US" sz="1700" dirty="0">
                <a:solidFill>
                  <a:srgbClr val="4F5A6D"/>
                </a:solidFill>
                <a:latin typeface="Segoe UI" pitchFamily="34" charset="0"/>
                <a:ea typeface="Segoe UI" pitchFamily="34" charset="-122"/>
                <a:cs typeface="Segoe UI" pitchFamily="34" charset="-120"/>
              </a:rPr>
              <a:t> (pedido de fusión): un compañero lee tu código y comenta.</a:t>
            </a:r>
            <a:endParaRPr lang="en-US" sz="1700" dirty="0"/>
          </a:p>
        </p:txBody>
      </p:sp>
      <p:sp>
        <p:nvSpPr>
          <p:cNvPr id="26" name="Shape 22"/>
          <p:cNvSpPr/>
          <p:nvPr/>
        </p:nvSpPr>
        <p:spPr>
          <a:xfrm>
            <a:off x="6507328" y="4343400"/>
            <a:ext cx="2064944" cy="868680"/>
          </a:xfrm>
          <a:prstGeom prst="roundRect">
            <a:avLst>
              <a:gd name="adj" fmla="val 8421"/>
            </a:avLst>
          </a:prstGeom>
          <a:solidFill>
            <a:srgbClr val="0D1117"/>
          </a:solidFill>
          <a:ln/>
        </p:spPr>
      </p:sp>
      <p:sp>
        <p:nvSpPr>
          <p:cNvPr id="27" name="Text 23"/>
          <p:cNvSpPr txBox="1"/>
          <p:nvPr/>
        </p:nvSpPr>
        <p:spPr>
          <a:xfrm>
            <a:off x="6644488" y="4480560"/>
            <a:ext cx="1882064" cy="640080"/>
          </a:xfrm>
          <a:prstGeom prst="rect">
            <a:avLst/>
          </a:prstGeom>
          <a:noFill/>
          <a:ln/>
        </p:spPr>
        <p:txBody>
          <a:bodyPr wrap="none" lIns="0" tIns="0" rIns="0" bIns="0" rtlCol="0" anchor="ctr"/>
          <a:lstStyle/>
          <a:p>
            <a:pPr algn="l" indent="0" marL="0">
              <a:lnSpc>
                <a:spcPts val="1000"/>
              </a:lnSpc>
              <a:buNone/>
            </a:pPr>
            <a:r>
              <a:rPr lang="en-US" sz="800" dirty="0">
                <a:solidFill>
                  <a:srgbClr val="E6EDF3"/>
                </a:solidFill>
                <a:latin typeface="Consolas" pitchFamily="34" charset="0"/>
                <a:ea typeface="Consolas" pitchFamily="34" charset="-122"/>
                <a:cs typeface="Consolas" pitchFamily="34" charset="-120"/>
              </a:rPr>
              <a:t>git push -u origin feature-listado</a:t>
            </a:r>
            <a:endParaRPr lang="en-US" sz="800" dirty="0"/>
          </a:p>
        </p:txBody>
      </p:sp>
      <p:sp>
        <p:nvSpPr>
          <p:cNvPr id="28" name="Shape 24"/>
          <p:cNvSpPr/>
          <p:nvPr/>
        </p:nvSpPr>
        <p:spPr>
          <a:xfrm>
            <a:off x="8846591" y="3296412"/>
            <a:ext cx="274320" cy="310896"/>
          </a:xfrm>
          <a:prstGeom prst="rightArrow">
            <a:avLst/>
          </a:prstGeom>
          <a:solidFill>
            <a:srgbClr val="FFD43B"/>
          </a:solidFill>
          <a:ln/>
        </p:spPr>
      </p:sp>
      <p:sp>
        <p:nvSpPr>
          <p:cNvPr id="29" name="Shape 25"/>
          <p:cNvSpPr/>
          <p:nvPr/>
        </p:nvSpPr>
        <p:spPr>
          <a:xfrm>
            <a:off x="9212351"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30" name="Text 26"/>
          <p:cNvSpPr txBox="1"/>
          <p:nvPr/>
        </p:nvSpPr>
        <p:spPr>
          <a:xfrm>
            <a:off x="9440951"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1" name="Text 27"/>
          <p:cNvSpPr txBox="1"/>
          <p:nvPr/>
        </p:nvSpPr>
        <p:spPr>
          <a:xfrm>
            <a:off x="10017023" y="1664208"/>
            <a:ext cx="1470584" cy="512064"/>
          </a:xfrm>
          <a:prstGeom prst="rect">
            <a:avLst/>
          </a:prstGeom>
          <a:noFill/>
          <a:ln/>
        </p:spPr>
        <p:txBody>
          <a:bodyPr wrap="square" lIns="0" tIns="0" rIns="0" bIns="0" rtlCol="0" anchor="ctr"/>
          <a:lstStyle/>
          <a:p>
            <a:pPr algn="l" indent="0" marL="0">
              <a:buNone/>
            </a:pPr>
            <a:r>
              <a:rPr lang="en-US" sz="1600" b="1" dirty="0">
                <a:solidFill>
                  <a:srgbClr val="1B2333"/>
                </a:solidFill>
                <a:latin typeface="Segoe UI" pitchFamily="34" charset="0"/>
                <a:ea typeface="Segoe UI" pitchFamily="34" charset="-122"/>
                <a:cs typeface="Segoe UI" pitchFamily="34" charset="-120"/>
              </a:rPr>
              <a:t>4. Merge</a:t>
            </a:r>
            <a:endParaRPr lang="en-US" sz="1600" dirty="0"/>
          </a:p>
        </p:txBody>
      </p:sp>
      <p:sp>
        <p:nvSpPr>
          <p:cNvPr id="32" name="Text 28"/>
          <p:cNvSpPr txBox="1"/>
          <p:nvPr/>
        </p:nvSpPr>
        <p:spPr>
          <a:xfrm>
            <a:off x="9440951" y="2331720"/>
            <a:ext cx="2019224" cy="1920240"/>
          </a:xfrm>
          <a:prstGeom prst="rect">
            <a:avLst/>
          </a:prstGeom>
          <a:noFill/>
          <a:ln/>
        </p:spPr>
        <p:txBody>
          <a:bodyPr wrap="square" lIns="0" tIns="0" rIns="0" bIns="0" rtlCol="0" anchor="t"/>
          <a:lstStyle/>
          <a:p>
            <a:pPr algn="l" indent="0" marL="0">
              <a:buNone/>
            </a:pPr>
            <a:r>
              <a:rPr lang="en-US" sz="1700" dirty="0">
                <a:solidFill>
                  <a:srgbClr val="4F5A6D"/>
                </a:solidFill>
                <a:latin typeface="Segoe UI" pitchFamily="34" charset="0"/>
                <a:ea typeface="Segoe UI" pitchFamily="34" charset="-122"/>
                <a:cs typeface="Segoe UI" pitchFamily="34" charset="-120"/>
              </a:rPr>
              <a:t>Con la revisión aprobada se hace el merge en GitHub. Después todos hacen </a:t>
            </a:r>
            <a:pPr algn="l" indent="0" marL="0">
              <a:buNone/>
            </a:pPr>
            <a:r>
              <a:rPr lang="en-US" sz="1700" dirty="0">
                <a:solidFill>
                  <a:srgbClr val="0F4C81"/>
                </a:solidFill>
                <a:highlight>
                  <a:srgbClr val="E6EDF6"/>
                </a:highlight>
                <a:latin typeface="Consolas" pitchFamily="34" charset="0"/>
                <a:ea typeface="Consolas" pitchFamily="34" charset="-122"/>
                <a:cs typeface="Consolas" pitchFamily="34" charset="-120"/>
              </a:rPr>
              <a:t>git pull</a:t>
            </a:r>
            <a:pPr algn="l" indent="0" marL="0">
              <a:buNone/>
            </a:pPr>
            <a:r>
              <a:rPr lang="en-US" sz="1700" dirty="0">
                <a:solidFill>
                  <a:srgbClr val="4F5A6D"/>
                </a:solidFill>
                <a:latin typeface="Segoe UI" pitchFamily="34" charset="0"/>
                <a:ea typeface="Segoe UI" pitchFamily="34" charset="-122"/>
                <a:cs typeface="Segoe UI" pitchFamily="34" charset="-120"/>
              </a:rPr>
              <a:t> en </a:t>
            </a:r>
            <a:pPr algn="l" indent="0" marL="0">
              <a:buNone/>
            </a:pPr>
            <a:r>
              <a:rPr lang="en-US" sz="170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700" dirty="0">
                <a:solidFill>
                  <a:srgbClr val="4F5A6D"/>
                </a:solidFill>
                <a:latin typeface="Segoe UI" pitchFamily="34" charset="0"/>
                <a:ea typeface="Segoe UI" pitchFamily="34" charset="-122"/>
                <a:cs typeface="Segoe UI" pitchFamily="34" charset="-120"/>
              </a:rPr>
              <a:t>.</a:t>
            </a:r>
            <a:endParaRPr lang="en-US" sz="1700" dirty="0"/>
          </a:p>
        </p:txBody>
      </p:sp>
      <p:sp>
        <p:nvSpPr>
          <p:cNvPr id="33" name="Shape 29"/>
          <p:cNvSpPr/>
          <p:nvPr/>
        </p:nvSpPr>
        <p:spPr>
          <a:xfrm>
            <a:off x="9395231" y="4343400"/>
            <a:ext cx="2064944" cy="868680"/>
          </a:xfrm>
          <a:prstGeom prst="roundRect">
            <a:avLst>
              <a:gd name="adj" fmla="val 8421"/>
            </a:avLst>
          </a:prstGeom>
          <a:solidFill>
            <a:srgbClr val="0D1117"/>
          </a:solidFill>
          <a:ln/>
        </p:spPr>
      </p:sp>
      <p:sp>
        <p:nvSpPr>
          <p:cNvPr id="34" name="Text 30"/>
          <p:cNvSpPr txBox="1"/>
          <p:nvPr/>
        </p:nvSpPr>
        <p:spPr>
          <a:xfrm>
            <a:off x="9532391" y="4480560"/>
            <a:ext cx="1882064" cy="640080"/>
          </a:xfrm>
          <a:prstGeom prst="rect">
            <a:avLst/>
          </a:prstGeom>
          <a:noFill/>
          <a:ln/>
        </p:spPr>
        <p:txBody>
          <a:bodyPr wrap="none" lIns="0" tIns="0" rIns="0" bIns="0" rtlCol="0" anchor="ctr"/>
          <a:lstStyle/>
          <a:p>
            <a:pPr algn="l" indent="0" marL="0">
              <a:lnSpc>
                <a:spcPts val="1625"/>
              </a:lnSpc>
              <a:buNone/>
            </a:pPr>
            <a:r>
              <a:rPr lang="en-US" sz="1300" dirty="0">
                <a:solidFill>
                  <a:srgbClr val="E6EDF3"/>
                </a:solidFill>
                <a:latin typeface="Consolas" pitchFamily="34" charset="0"/>
                <a:ea typeface="Consolas" pitchFamily="34" charset="-122"/>
                <a:cs typeface="Consolas" pitchFamily="34" charset="-120"/>
              </a:rPr>
              <a:t>git switch main</a:t>
            </a:r>
            <a:endParaRPr lang="en-US" sz="1300" dirty="0"/>
          </a:p>
          <a:p>
            <a:pPr algn="l" indent="0" marL="0">
              <a:lnSpc>
                <a:spcPts val="1625"/>
              </a:lnSpc>
              <a:buNone/>
            </a:pPr>
            <a:r>
              <a:rPr lang="en-US" sz="1300" dirty="0">
                <a:solidFill>
                  <a:srgbClr val="E6EDF3"/>
                </a:solidFill>
                <a:latin typeface="Consolas" pitchFamily="34" charset="0"/>
                <a:ea typeface="Consolas" pitchFamily="34" charset="-122"/>
                <a:cs typeface="Consolas" pitchFamily="34" charset="-120"/>
              </a:rPr>
              <a:t>git pull</a:t>
            </a:r>
            <a:endParaRPr lang="en-US" sz="1300" dirty="0"/>
          </a:p>
        </p:txBody>
      </p:sp>
      <p:sp>
        <p:nvSpPr>
          <p:cNvPr id="35" name="Shape 31"/>
          <p:cNvSpPr/>
          <p:nvPr/>
        </p:nvSpPr>
        <p:spPr>
          <a:xfrm>
            <a:off x="548640" y="5650992"/>
            <a:ext cx="11094415" cy="566928"/>
          </a:xfrm>
          <a:prstGeom prst="roundRect">
            <a:avLst>
              <a:gd name="adj" fmla="val 12903"/>
            </a:avLst>
          </a:prstGeom>
          <a:solidFill>
            <a:srgbClr val="FFF4C7"/>
          </a:solidFill>
          <a:ln/>
        </p:spPr>
      </p:sp>
      <p:sp>
        <p:nvSpPr>
          <p:cNvPr id="36" name="Text 32"/>
          <p:cNvSpPr txBox="1"/>
          <p:nvPr/>
        </p:nvSpPr>
        <p:spPr>
          <a:xfrm>
            <a:off x="694944" y="5724144"/>
            <a:ext cx="420624" cy="420624"/>
          </a:xfrm>
          <a:prstGeom prst="rect">
            <a:avLst/>
          </a:prstGeom>
          <a:noFill/>
          <a:ln/>
        </p:spPr>
        <p:txBody>
          <a:bodyPr wrap="square" lIns="0" tIns="0" rIns="0" bIns="0" rtlCol="0" anchor="ctr"/>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37" name="Text 33"/>
          <p:cNvSpPr txBox="1"/>
          <p:nvPr/>
        </p:nvSpPr>
        <p:spPr>
          <a:xfrm>
            <a:off x="1170432" y="5678424"/>
            <a:ext cx="10317175" cy="512064"/>
          </a:xfrm>
          <a:prstGeom prst="rect">
            <a:avLst/>
          </a:prstGeom>
          <a:noFill/>
          <a:ln/>
        </p:spPr>
        <p:txBody>
          <a:bodyPr wrap="square" lIns="0" tIns="0" rIns="0" bIns="0" rtlCol="0" anchor="ctr"/>
          <a:lstStyle/>
          <a:p>
            <a:pPr algn="l" indent="0" marL="0">
              <a:buNone/>
            </a:pPr>
            <a:r>
              <a:rPr lang="en-US" sz="1350" dirty="0">
                <a:solidFill>
                  <a:srgbClr val="1B2333"/>
                </a:solidFill>
                <a:latin typeface="Segoe UI" pitchFamily="34" charset="0"/>
                <a:ea typeface="Segoe UI" pitchFamily="34" charset="-122"/>
                <a:cs typeface="Segoe UI" pitchFamily="34" charset="-120"/>
              </a:rPr>
              <a:t>El </a:t>
            </a:r>
            <a:pPr algn="l" indent="0" marL="0">
              <a:buNone/>
            </a:pPr>
            <a:r>
              <a:rPr lang="en-US" sz="1350" b="1" dirty="0">
                <a:solidFill>
                  <a:srgbClr val="1B2333"/>
                </a:solidFill>
                <a:latin typeface="Segoe UI" pitchFamily="34" charset="0"/>
                <a:ea typeface="Segoe UI" pitchFamily="34" charset="-122"/>
                <a:cs typeface="Segoe UI" pitchFamily="34" charset="-120"/>
              </a:rPr>
              <a:t>Pull Request</a:t>
            </a:r>
            <a:pPr algn="l" indent="0" marL="0">
              <a:buNone/>
            </a:pPr>
            <a:r>
              <a:rPr lang="en-US" sz="1350" dirty="0">
                <a:solidFill>
                  <a:srgbClr val="1B2333"/>
                </a:solidFill>
                <a:latin typeface="Segoe UI" pitchFamily="34" charset="0"/>
                <a:ea typeface="Segoe UI" pitchFamily="34" charset="-122"/>
                <a:cs typeface="Segoe UI" pitchFamily="34" charset="-120"/>
              </a:rPr>
              <a:t> es la instancia de revisión (code review): cuatro ojos ven más que dos y todos conocen el código de todos, algo clave para el coloquio.</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CUADRO DE REFERENCIA</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Comandos de Git que vas a usar en el proyecto</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7 / 23</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842371"/>
                <a:gridCol w="4584469"/>
                <a:gridCol w="3667575"/>
              </a:tblGrid>
              <a:tr h="388620">
                <a:tc>
                  <a:txBody>
                    <a:bodyPr/>
                    <a:lstStyle/>
                    <a:p>
                      <a:pPr indent="0" marL="0">
                        <a:buNone/>
                      </a:pPr>
                      <a:r>
                        <a:rPr lang="en-US" sz="1350" b="1" dirty="0">
                          <a:solidFill>
                            <a:srgbClr val="FFFFFF"/>
                          </a:solidFill>
                          <a:latin typeface="Segoe UI" pitchFamily="34" charset="0"/>
                          <a:ea typeface="Segoe UI" pitchFamily="34" charset="-122"/>
                          <a:cs typeface="Segoe UI" pitchFamily="34" charset="-120"/>
                        </a:rPr>
                        <a:t>Comando</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2B5B84"/>
                    </a:solidFill>
                  </a:tcPr>
                </a:tc>
                <a:tc>
                  <a:txBody>
                    <a:bodyPr/>
                    <a:lstStyle/>
                    <a:p>
                      <a:pPr indent="0" marL="0">
                        <a:buNone/>
                      </a:pPr>
                      <a:r>
                        <a:rPr lang="en-US" sz="1350" b="1" dirty="0">
                          <a:solidFill>
                            <a:srgbClr val="FFFFFF"/>
                          </a:solidFill>
                          <a:latin typeface="Segoe UI" pitchFamily="34" charset="0"/>
                          <a:ea typeface="Segoe UI" pitchFamily="34" charset="-122"/>
                          <a:cs typeface="Segoe UI" pitchFamily="34" charset="-120"/>
                        </a:rPr>
                        <a:t>Qué hace</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2B5B84"/>
                    </a:solidFill>
                  </a:tcPr>
                </a:tc>
                <a:tc>
                  <a:txBody>
                    <a:bodyPr/>
                    <a:lstStyle/>
                    <a:p>
                      <a:pPr indent="0" marL="0">
                        <a:buNone/>
                      </a:pPr>
                      <a:r>
                        <a:rPr lang="en-US" sz="1350" b="1" dirty="0">
                          <a:solidFill>
                            <a:srgbClr val="FFFFFF"/>
                          </a:solidFill>
                          <a:latin typeface="Segoe UI" pitchFamily="34" charset="0"/>
                          <a:ea typeface="Segoe UI" pitchFamily="34" charset="-122"/>
                          <a:cs typeface="Segoe UI" pitchFamily="34" charset="-120"/>
                        </a:rPr>
                        <a:t>Cuándo lo usás</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2B5B84"/>
                    </a:solidFill>
                  </a:tcPr>
                </a:tc>
              </a:tr>
              <a:tr h="59436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clone URL</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Descarga el repositorio completo con su historia.</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Una sola vez, al sumarte al proyecto.</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59436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pull</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Trae y aplica los cambios que subieron los demás.</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Siempre antes de empezar a trabajar.</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r h="38862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switch -c nombre</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Crea una rama nueva y se mueve a ella.</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Al empezar una tarea (un issue).</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59436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status</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Muestra en qué rama estás y qué archivos cambiaron.</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Todo el tiempo: es tu brújula.</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r h="59436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add archivo</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Marca los cambios que van a entrar en el próximo commit.</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Cuando un cambio ya funciona.</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38862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commit -m "msg"</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Guarda una foto de los cambios con un mensaje.</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Cada avance chico y probado.</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r h="59436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push</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Sube los commits de tu rama a GitHub.</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Al terminar una sesión o antes del PR.</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594360">
                <a:tc>
                  <a:txBody>
                    <a:bodyPr/>
                    <a:lstStyle/>
                    <a:p>
                      <a:pPr indent="0" marL="0">
                        <a:buNone/>
                      </a:pPr>
                      <a:r>
                        <a:rPr lang="en-US" sz="1350" b="1" dirty="0">
                          <a:solidFill>
                            <a:srgbClr val="0F4C81"/>
                          </a:solidFill>
                          <a:latin typeface="Consolas" pitchFamily="34" charset="0"/>
                          <a:ea typeface="Consolas" pitchFamily="34" charset="-122"/>
                          <a:cs typeface="Consolas" pitchFamily="34" charset="-120"/>
                        </a:rPr>
                        <a:t>git merge rama</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Une la historia de otra rama con la rama actual.</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350" dirty="0">
                          <a:solidFill>
                            <a:srgbClr val="1B2333"/>
                          </a:solidFill>
                          <a:latin typeface="Segoe UI" pitchFamily="34" charset="0"/>
                          <a:ea typeface="Segoe UI" pitchFamily="34" charset="-122"/>
                          <a:cs typeface="Segoe UI" pitchFamily="34" charset="-120"/>
                        </a:rPr>
                        <a:t>Para traer </a:t>
                      </a:r>
                      <a:pPr indent="0" marL="0">
                        <a:buNone/>
                      </a:pPr>
                      <a:r>
                        <a:rPr lang="en-US" sz="1350" dirty="0">
                          <a:solidFill>
                            <a:srgbClr val="0F4C81"/>
                          </a:solidFill>
                          <a:latin typeface="Consolas" pitchFamily="34" charset="0"/>
                          <a:ea typeface="Consolas" pitchFamily="34" charset="-122"/>
                          <a:cs typeface="Consolas" pitchFamily="34" charset="-120"/>
                        </a:rPr>
                        <a:t>main</a:t>
                      </a:r>
                      <a:pPr indent="0" marL="0">
                        <a:buNone/>
                      </a:pPr>
                      <a:r>
                        <a:rPr lang="en-US" sz="1350" dirty="0">
                          <a:solidFill>
                            <a:srgbClr val="1B2333"/>
                          </a:solidFill>
                          <a:latin typeface="Segoe UI" pitchFamily="34" charset="0"/>
                          <a:ea typeface="Segoe UI" pitchFamily="34" charset="-122"/>
                          <a:cs typeface="Segoe UI" pitchFamily="34" charset="-120"/>
                        </a:rPr>
                        <a:t> a tu rama o cerrar una tarea.</a:t>
                      </a:r>
                      <a:endParaRPr lang="en-US" sz="13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TEORÍA · CONFLICTOS</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¿Qué es un conflicto de merge?</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8 / 23</a:t>
            </a:r>
            <a:endParaRPr lang="en-US" sz="900" dirty="0"/>
          </a:p>
        </p:txBody>
      </p:sp>
      <p:sp>
        <p:nvSpPr>
          <p:cNvPr id="8" name="Shape 4"/>
          <p:cNvSpPr/>
          <p:nvPr/>
        </p:nvSpPr>
        <p:spPr>
          <a:xfrm>
            <a:off x="548640" y="1463040"/>
            <a:ext cx="6355080" cy="1188720"/>
          </a:xfrm>
          <a:prstGeom prst="roundRect">
            <a:avLst>
              <a:gd name="adj" fmla="val 7692"/>
            </a:avLst>
          </a:prstGeom>
          <a:solidFill>
            <a:srgbClr val="E7EFF8"/>
          </a:solidFill>
          <a:ln/>
        </p:spPr>
      </p:sp>
      <p:sp>
        <p:nvSpPr>
          <p:cNvPr id="9" name="Text 5"/>
          <p:cNvSpPr txBox="1"/>
          <p:nvPr/>
        </p:nvSpPr>
        <p:spPr>
          <a:xfrm>
            <a:off x="822960" y="1600200"/>
            <a:ext cx="5806440" cy="914400"/>
          </a:xfrm>
          <a:prstGeom prst="rect">
            <a:avLst/>
          </a:prstGeom>
          <a:noFill/>
          <a:ln/>
        </p:spPr>
        <p:txBody>
          <a:bodyPr wrap="square" lIns="0" tIns="0" rIns="0" bIns="0" rtlCol="0" anchor="ctr"/>
          <a:lstStyle/>
          <a:p>
            <a:pPr algn="l" indent="0" marL="0">
              <a:buNone/>
            </a:pPr>
            <a:r>
              <a:rPr lang="en-US" sz="1800" b="1" dirty="0">
                <a:solidFill>
                  <a:srgbClr val="2B5B84"/>
                </a:solidFill>
                <a:latin typeface="Segoe UI" pitchFamily="34" charset="0"/>
                <a:ea typeface="Segoe UI" pitchFamily="34" charset="-122"/>
                <a:cs typeface="Segoe UI" pitchFamily="34" charset="-120"/>
              </a:rPr>
              <a:t>Un conflicto aparece cuando dos ramas cambiaron las mismas líneas y Git no puede decidir solo cuál versión vale.</a:t>
            </a:r>
            <a:endParaRPr lang="en-US" sz="1800" dirty="0"/>
          </a:p>
        </p:txBody>
      </p:sp>
      <p:sp>
        <p:nvSpPr>
          <p:cNvPr id="10" name="Text 6"/>
          <p:cNvSpPr txBox="1"/>
          <p:nvPr/>
        </p:nvSpPr>
        <p:spPr>
          <a:xfrm>
            <a:off x="548640" y="2926080"/>
            <a:ext cx="6355080" cy="274320"/>
          </a:xfrm>
          <a:prstGeom prst="rect">
            <a:avLst/>
          </a:prstGeom>
          <a:noFill/>
          <a:ln/>
        </p:spPr>
        <p:txBody>
          <a:bodyPr wrap="square" lIns="0" tIns="0" rIns="0" bIns="0" rtlCol="0" anchor="t"/>
          <a:lstStyle/>
          <a:p>
            <a:pPr algn="l" indent="0" marL="0">
              <a:buNone/>
            </a:pPr>
            <a:r>
              <a:rPr lang="en-US" sz="1100" b="1" spc="150" kern="0" dirty="0">
                <a:solidFill>
                  <a:srgbClr val="4F5A6D"/>
                </a:solidFill>
                <a:latin typeface="Segoe UI" pitchFamily="34" charset="0"/>
                <a:ea typeface="Segoe UI" pitchFamily="34" charset="-122"/>
                <a:cs typeface="Segoe UI" pitchFamily="34" charset="-120"/>
              </a:rPr>
              <a:t>PASO A PASO</a:t>
            </a:r>
            <a:endParaRPr lang="en-US" sz="1100" dirty="0"/>
          </a:p>
        </p:txBody>
      </p:sp>
      <p:sp>
        <p:nvSpPr>
          <p:cNvPr id="11" name="Text 7"/>
          <p:cNvSpPr txBox="1"/>
          <p:nvPr/>
        </p:nvSpPr>
        <p:spPr>
          <a:xfrm>
            <a:off x="548640" y="3328416"/>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8"/>
          <p:cNvSpPr txBox="1"/>
          <p:nvPr/>
        </p:nvSpPr>
        <p:spPr>
          <a:xfrm>
            <a:off x="1005840" y="3310128"/>
            <a:ext cx="5879592" cy="53340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Si cambiaron </a:t>
            </a:r>
            <a:pPr algn="l" indent="0" marL="0">
              <a:buNone/>
            </a:pPr>
            <a:r>
              <a:rPr lang="en-US" sz="1450" b="1" dirty="0">
                <a:solidFill>
                  <a:srgbClr val="1B2333"/>
                </a:solidFill>
                <a:latin typeface="Segoe UI" pitchFamily="34" charset="0"/>
                <a:ea typeface="Segoe UI" pitchFamily="34" charset="-122"/>
                <a:cs typeface="Segoe UI" pitchFamily="34" charset="-120"/>
              </a:rPr>
              <a:t>líneas distintas</a:t>
            </a:r>
            <a:pPr algn="l" indent="0" marL="0">
              <a:buNone/>
            </a:pPr>
            <a:r>
              <a:rPr lang="en-US" sz="1450" dirty="0">
                <a:solidFill>
                  <a:srgbClr val="1B2333"/>
                </a:solidFill>
                <a:latin typeface="Segoe UI" pitchFamily="34" charset="0"/>
                <a:ea typeface="Segoe UI" pitchFamily="34" charset="-122"/>
                <a:cs typeface="Segoe UI" pitchFamily="34" charset="-120"/>
              </a:rPr>
              <a:t>, Git las junta solo. El conflicto sólo aparece cuando tocaron </a:t>
            </a:r>
            <a:pPr algn="l" indent="0" marL="0">
              <a:buNone/>
            </a:pPr>
            <a:r>
              <a:rPr lang="en-US" sz="1450" b="1" dirty="0">
                <a:solidFill>
                  <a:srgbClr val="1B2333"/>
                </a:solidFill>
                <a:latin typeface="Segoe UI" pitchFamily="34" charset="0"/>
                <a:ea typeface="Segoe UI" pitchFamily="34" charset="-122"/>
                <a:cs typeface="Segoe UI" pitchFamily="34" charset="-120"/>
              </a:rPr>
              <a:t>la misma línea</a:t>
            </a:r>
            <a:pPr algn="l"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p>
        </p:txBody>
      </p:sp>
      <p:sp>
        <p:nvSpPr>
          <p:cNvPr id="13" name="Text 9"/>
          <p:cNvSpPr txBox="1"/>
          <p:nvPr/>
        </p:nvSpPr>
        <p:spPr>
          <a:xfrm>
            <a:off x="548640" y="3989832"/>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0"/>
          <p:cNvSpPr txBox="1"/>
          <p:nvPr/>
        </p:nvSpPr>
        <p:spPr>
          <a:xfrm>
            <a:off x="1005840" y="3971544"/>
            <a:ext cx="5879592" cy="53340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Git no borra nada: escribe las dos versiones en el archivo, rodeadas de </a:t>
            </a:r>
            <a:pPr algn="l" indent="0" marL="0">
              <a:buNone/>
            </a:pPr>
            <a:r>
              <a:rPr lang="en-US" sz="1450" b="1" dirty="0">
                <a:solidFill>
                  <a:srgbClr val="1B2333"/>
                </a:solidFill>
                <a:latin typeface="Segoe UI" pitchFamily="34" charset="0"/>
                <a:ea typeface="Segoe UI" pitchFamily="34" charset="-122"/>
                <a:cs typeface="Segoe UI" pitchFamily="34" charset="-120"/>
              </a:rPr>
              <a:t>marcadores</a:t>
            </a:r>
            <a:pPr algn="l" indent="0" marL="0">
              <a:buNone/>
            </a:pPr>
            <a:r>
              <a:rPr lang="en-US" sz="1450" dirty="0">
                <a:solidFill>
                  <a:srgbClr val="1B2333"/>
                </a:solidFill>
                <a:latin typeface="Segoe UI" pitchFamily="34" charset="0"/>
                <a:ea typeface="Segoe UI" pitchFamily="34" charset="-122"/>
                <a:cs typeface="Segoe UI" pitchFamily="34" charset="-120"/>
              </a:rPr>
              <a:t>, y te deja decidir.</a:t>
            </a:r>
            <a:endParaRPr lang="en-US" sz="1450" dirty="0"/>
          </a:p>
        </p:txBody>
      </p:sp>
      <p:sp>
        <p:nvSpPr>
          <p:cNvPr id="15" name="Text 11"/>
          <p:cNvSpPr txBox="1"/>
          <p:nvPr/>
        </p:nvSpPr>
        <p:spPr>
          <a:xfrm>
            <a:off x="548640" y="4651248"/>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6" name="Text 12"/>
          <p:cNvSpPr txBox="1"/>
          <p:nvPr/>
        </p:nvSpPr>
        <p:spPr>
          <a:xfrm>
            <a:off x="1005840" y="4632960"/>
            <a:ext cx="5879592" cy="75438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Entre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&lt;&lt;&lt;&lt;&lt;&lt;&lt; HEAD</a:t>
            </a:r>
            <a:pPr algn="l" indent="0" marL="0">
              <a:buNone/>
            </a:pPr>
            <a:r>
              <a:rPr lang="en-US" sz="1450" dirty="0">
                <a:solidFill>
                  <a:srgbClr val="1B2333"/>
                </a:solidFill>
                <a:latin typeface="Segoe UI" pitchFamily="34" charset="0"/>
                <a:ea typeface="Segoe UI" pitchFamily="34" charset="-122"/>
                <a:cs typeface="Segoe UI" pitchFamily="34" charset="-120"/>
              </a:rPr>
              <a:t> y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a:t>
            </a:r>
            <a:pPr algn="l" indent="0" marL="0">
              <a:buNone/>
            </a:pPr>
            <a:r>
              <a:rPr lang="en-US" sz="1450" dirty="0">
                <a:solidFill>
                  <a:srgbClr val="1B2333"/>
                </a:solidFill>
                <a:latin typeface="Segoe UI" pitchFamily="34" charset="0"/>
                <a:ea typeface="Segoe UI" pitchFamily="34" charset="-122"/>
                <a:cs typeface="Segoe UI" pitchFamily="34" charset="-120"/>
              </a:rPr>
              <a:t> está la versión de la rama donde estás parado. Entre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a:t>
            </a:r>
            <a:pPr algn="l" indent="0" marL="0">
              <a:buNone/>
            </a:pPr>
            <a:r>
              <a:rPr lang="en-US" sz="1450" dirty="0">
                <a:solidFill>
                  <a:srgbClr val="1B2333"/>
                </a:solidFill>
                <a:latin typeface="Segoe UI" pitchFamily="34" charset="0"/>
                <a:ea typeface="Segoe UI" pitchFamily="34" charset="-122"/>
                <a:cs typeface="Segoe UI" pitchFamily="34" charset="-120"/>
              </a:rPr>
              <a:t> y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&gt;&gt;&gt;&gt;&gt;&gt;&gt; rama</a:t>
            </a:r>
            <a:pPr algn="l" indent="0" marL="0">
              <a:buNone/>
            </a:pPr>
            <a:r>
              <a:rPr lang="en-US" sz="1450" dirty="0">
                <a:solidFill>
                  <a:srgbClr val="1B2333"/>
                </a:solidFill>
                <a:latin typeface="Segoe UI" pitchFamily="34" charset="0"/>
                <a:ea typeface="Segoe UI" pitchFamily="34" charset="-122"/>
                <a:cs typeface="Segoe UI" pitchFamily="34" charset="-120"/>
              </a:rPr>
              <a:t> está la que querés traer.</a:t>
            </a:r>
            <a:endParaRPr lang="en-US" sz="1450" dirty="0"/>
          </a:p>
        </p:txBody>
      </p:sp>
      <p:sp>
        <p:nvSpPr>
          <p:cNvPr id="17" name="Text 13"/>
          <p:cNvSpPr txBox="1"/>
          <p:nvPr/>
        </p:nvSpPr>
        <p:spPr>
          <a:xfrm>
            <a:off x="548640" y="5533644"/>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8" name="Text 14"/>
          <p:cNvSpPr txBox="1"/>
          <p:nvPr/>
        </p:nvSpPr>
        <p:spPr>
          <a:xfrm>
            <a:off x="1005840" y="5515356"/>
            <a:ext cx="5879592" cy="53340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No es un error grave: es Git preguntándote algo. Lo grave es dejar los marcadores: Python da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SyntaxError</a:t>
            </a:r>
            <a:pPr algn="l" indent="0" marL="0">
              <a:buNone/>
            </a:pPr>
            <a:r>
              <a:rPr lang="en-US" sz="1450" dirty="0">
                <a:solidFill>
                  <a:srgbClr val="1B2333"/>
                </a:solidFill>
                <a:latin typeface="Segoe UI" pitchFamily="34" charset="0"/>
                <a:ea typeface="Segoe UI" pitchFamily="34" charset="-122"/>
                <a:cs typeface="Segoe UI" pitchFamily="34" charset="-120"/>
              </a:rPr>
              <a:t> al ejecutar.</a:t>
            </a:r>
            <a:endParaRPr lang="en-US" sz="1450" dirty="0"/>
          </a:p>
        </p:txBody>
      </p:sp>
      <p:sp>
        <p:nvSpPr>
          <p:cNvPr id="19" name="Shape 15"/>
          <p:cNvSpPr/>
          <p:nvPr/>
        </p:nvSpPr>
        <p:spPr>
          <a:xfrm>
            <a:off x="7315200" y="1463040"/>
            <a:ext cx="4327855" cy="2011680"/>
          </a:xfrm>
          <a:prstGeom prst="roundRect">
            <a:avLst>
              <a:gd name="adj" fmla="val 5455"/>
            </a:avLst>
          </a:prstGeom>
          <a:solidFill>
            <a:srgbClr val="FFF4C7"/>
          </a:solidFill>
          <a:ln/>
        </p:spPr>
      </p:sp>
      <p:sp>
        <p:nvSpPr>
          <p:cNvPr id="20" name="Text 16"/>
          <p:cNvSpPr txBox="1"/>
          <p:nvPr/>
        </p:nvSpPr>
        <p:spPr>
          <a:xfrm>
            <a:off x="7543800" y="1645920"/>
            <a:ext cx="457200" cy="457200"/>
          </a:xfrm>
          <a:prstGeom prst="rect">
            <a:avLst/>
          </a:prstGeom>
          <a:noFill/>
          <a:ln/>
        </p:spPr>
        <p:txBody>
          <a:bodyPr wrap="square" lIns="0" tIns="0" rIns="0" bIns="0" rtlCol="0" anchor="t"/>
          <a:lstStyle/>
          <a:p>
            <a:pPr algn="l" indent="0" marL="0">
              <a:buNone/>
            </a:pPr>
            <a:r>
              <a:rPr lang="en-US" sz="2000" dirty="0">
                <a:solidFill>
                  <a:srgbClr val="1B2333"/>
                </a:solidFill>
                <a:latin typeface="Segoe UI Emoji" pitchFamily="34" charset="0"/>
                <a:ea typeface="Segoe UI Emoji" pitchFamily="34" charset="-122"/>
                <a:cs typeface="Segoe UI Emoji" pitchFamily="34" charset="-120"/>
              </a:rPr>
              <a:t>📅</a:t>
            </a:r>
            <a:endParaRPr lang="en-US" sz="2000" dirty="0"/>
          </a:p>
        </p:txBody>
      </p:sp>
      <p:sp>
        <p:nvSpPr>
          <p:cNvPr id="21" name="Text 17"/>
          <p:cNvSpPr txBox="1"/>
          <p:nvPr/>
        </p:nvSpPr>
        <p:spPr>
          <a:xfrm>
            <a:off x="8092440" y="1682496"/>
            <a:ext cx="3322015" cy="384048"/>
          </a:xfrm>
          <a:prstGeom prst="rect">
            <a:avLst/>
          </a:prstGeom>
          <a:noFill/>
          <a:ln/>
        </p:spPr>
        <p:txBody>
          <a:bodyPr wrap="square" lIns="0" tIns="0" rIns="0" bIns="0" rtlCol="0" anchor="ctr"/>
          <a:lstStyle/>
          <a:p>
            <a:pPr algn="l" indent="0" marL="0">
              <a:buNone/>
            </a:pPr>
            <a:r>
              <a:rPr lang="en-US" sz="1400" b="1" dirty="0">
                <a:solidFill>
                  <a:srgbClr val="7A5600"/>
                </a:solidFill>
                <a:latin typeface="Segoe UI" pitchFamily="34" charset="0"/>
                <a:ea typeface="Segoe UI" pitchFamily="34" charset="-122"/>
                <a:cs typeface="Segoe UI" pitchFamily="34" charset="-120"/>
              </a:rPr>
              <a:t>Como una agenda compartida</a:t>
            </a:r>
            <a:endParaRPr lang="en-US" sz="1400" dirty="0"/>
          </a:p>
        </p:txBody>
      </p:sp>
      <p:sp>
        <p:nvSpPr>
          <p:cNvPr id="22" name="Text 18"/>
          <p:cNvSpPr txBox="1"/>
          <p:nvPr/>
        </p:nvSpPr>
        <p:spPr>
          <a:xfrm>
            <a:off x="7571232" y="2194560"/>
            <a:ext cx="3824935" cy="1188720"/>
          </a:xfrm>
          <a:prstGeom prst="rect">
            <a:avLst/>
          </a:prstGeom>
          <a:noFill/>
          <a:ln/>
        </p:spPr>
        <p:txBody>
          <a:bodyPr wrap="square" lIns="0" tIns="0" rIns="0" bIns="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Vos anotaste "reunión 18 h" y tu compañero, en el mismo renglón, "reunión 19 h". Nadie adivina cuál vale: tienen que hablar y dejar una. Git te muestra las dos y espera tu decisión.</a:t>
            </a:r>
            <a:endParaRPr lang="en-US" sz="1400" dirty="0"/>
          </a:p>
        </p:txBody>
      </p:sp>
      <p:sp>
        <p:nvSpPr>
          <p:cNvPr id="23" name="Shape 19"/>
          <p:cNvSpPr/>
          <p:nvPr/>
        </p:nvSpPr>
        <p:spPr>
          <a:xfrm>
            <a:off x="7315200" y="3703320"/>
            <a:ext cx="4327855" cy="1275588"/>
          </a:xfrm>
          <a:prstGeom prst="roundRect">
            <a:avLst>
              <a:gd name="adj" fmla="val 7168"/>
            </a:avLst>
          </a:prstGeom>
          <a:solidFill>
            <a:srgbClr val="0D1117"/>
          </a:solidFill>
          <a:ln/>
          <a:effectLst>
            <a:outerShdw sx="100000" sy="100000" kx="0" ky="0" algn="bl" rotWithShape="0" blurRad="88900" dist="19050" dir="5400000">
              <a:srgbClr val="1B2333">
                <a:alpha val="10000"/>
              </a:srgbClr>
            </a:outerShdw>
          </a:effectLst>
        </p:spPr>
      </p:sp>
      <p:sp>
        <p:nvSpPr>
          <p:cNvPr id="24" name="Shape 20"/>
          <p:cNvSpPr/>
          <p:nvPr/>
        </p:nvSpPr>
        <p:spPr>
          <a:xfrm>
            <a:off x="7498080" y="3849624"/>
            <a:ext cx="109728" cy="109728"/>
          </a:xfrm>
          <a:prstGeom prst="ellipse">
            <a:avLst/>
          </a:prstGeom>
          <a:solidFill>
            <a:srgbClr val="FF5F57"/>
          </a:solidFill>
          <a:ln/>
        </p:spPr>
      </p:sp>
      <p:sp>
        <p:nvSpPr>
          <p:cNvPr id="25" name="Shape 21"/>
          <p:cNvSpPr/>
          <p:nvPr/>
        </p:nvSpPr>
        <p:spPr>
          <a:xfrm>
            <a:off x="7680960" y="3849624"/>
            <a:ext cx="109728" cy="109728"/>
          </a:xfrm>
          <a:prstGeom prst="ellipse">
            <a:avLst/>
          </a:prstGeom>
          <a:solidFill>
            <a:srgbClr val="FEBC2E"/>
          </a:solidFill>
          <a:ln/>
        </p:spPr>
      </p:sp>
      <p:sp>
        <p:nvSpPr>
          <p:cNvPr id="26" name="Shape 22"/>
          <p:cNvSpPr/>
          <p:nvPr/>
        </p:nvSpPr>
        <p:spPr>
          <a:xfrm>
            <a:off x="7863840" y="3849624"/>
            <a:ext cx="109728" cy="109728"/>
          </a:xfrm>
          <a:prstGeom prst="ellipse">
            <a:avLst/>
          </a:prstGeom>
          <a:solidFill>
            <a:srgbClr val="28C840"/>
          </a:solidFill>
          <a:ln/>
        </p:spPr>
      </p:sp>
      <p:sp>
        <p:nvSpPr>
          <p:cNvPr id="27" name="Text 23"/>
          <p:cNvSpPr txBox="1"/>
          <p:nvPr/>
        </p:nvSpPr>
        <p:spPr>
          <a:xfrm>
            <a:off x="8092440" y="3758184"/>
            <a:ext cx="3413455"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proyecto.py (en conflicto)</a:t>
            </a:r>
            <a:endParaRPr lang="en-US" sz="1050" dirty="0"/>
          </a:p>
        </p:txBody>
      </p:sp>
      <p:sp>
        <p:nvSpPr>
          <p:cNvPr id="28" name="Text 24"/>
          <p:cNvSpPr txBox="1"/>
          <p:nvPr/>
        </p:nvSpPr>
        <p:spPr>
          <a:xfrm>
            <a:off x="7424928" y="4160520"/>
            <a:ext cx="174498" cy="708660"/>
          </a:xfrm>
          <a:prstGeom prst="rect">
            <a:avLst/>
          </a:prstGeom>
          <a:noFill/>
          <a:ln/>
        </p:spPr>
        <p:txBody>
          <a:bodyPr wrap="square" lIns="0" tIns="0" rIns="0" bIns="0" rtlCol="0" anchor="t"/>
          <a:lstStyle/>
          <a:p>
            <a:pPr algn="r" indent="0" marL="0">
              <a:lnSpc>
                <a:spcPts val="1063"/>
              </a:lnSpc>
              <a:buNone/>
            </a:pPr>
            <a:r>
              <a:rPr lang="en-US" sz="850" dirty="0">
                <a:solidFill>
                  <a:srgbClr val="6E7681"/>
                </a:solidFill>
                <a:latin typeface="Consolas" pitchFamily="34" charset="0"/>
                <a:ea typeface="Consolas" pitchFamily="34" charset="-122"/>
                <a:cs typeface="Consolas" pitchFamily="34" charset="-120"/>
              </a:rPr>
              <a:t>1</a:t>
            </a:r>
            <a:endParaRPr lang="en-US" sz="850" dirty="0"/>
          </a:p>
          <a:p>
            <a:pPr algn="r" indent="0" marL="0">
              <a:lnSpc>
                <a:spcPts val="1063"/>
              </a:lnSpc>
              <a:buNone/>
            </a:pPr>
            <a:r>
              <a:rPr lang="en-US" sz="850" dirty="0">
                <a:solidFill>
                  <a:srgbClr val="6E7681"/>
                </a:solidFill>
                <a:latin typeface="Consolas" pitchFamily="34" charset="0"/>
                <a:ea typeface="Consolas" pitchFamily="34" charset="-122"/>
                <a:cs typeface="Consolas" pitchFamily="34" charset="-120"/>
              </a:rPr>
              <a:t>2</a:t>
            </a:r>
            <a:endParaRPr lang="en-US" sz="850" dirty="0"/>
          </a:p>
          <a:p>
            <a:pPr algn="r" indent="0" marL="0">
              <a:lnSpc>
                <a:spcPts val="1063"/>
              </a:lnSpc>
              <a:buNone/>
            </a:pPr>
            <a:r>
              <a:rPr lang="en-US" sz="850" dirty="0">
                <a:solidFill>
                  <a:srgbClr val="6E7681"/>
                </a:solidFill>
                <a:latin typeface="Consolas" pitchFamily="34" charset="0"/>
                <a:ea typeface="Consolas" pitchFamily="34" charset="-122"/>
                <a:cs typeface="Consolas" pitchFamily="34" charset="-120"/>
              </a:rPr>
              <a:t>3</a:t>
            </a:r>
            <a:endParaRPr lang="en-US" sz="850" dirty="0"/>
          </a:p>
          <a:p>
            <a:pPr algn="r" indent="0" marL="0">
              <a:lnSpc>
                <a:spcPts val="1063"/>
              </a:lnSpc>
              <a:buNone/>
            </a:pPr>
            <a:r>
              <a:rPr lang="en-US" sz="850" dirty="0">
                <a:solidFill>
                  <a:srgbClr val="6E7681"/>
                </a:solidFill>
                <a:latin typeface="Consolas" pitchFamily="34" charset="0"/>
                <a:ea typeface="Consolas" pitchFamily="34" charset="-122"/>
                <a:cs typeface="Consolas" pitchFamily="34" charset="-120"/>
              </a:rPr>
              <a:t>4</a:t>
            </a:r>
            <a:endParaRPr lang="en-US" sz="850" dirty="0"/>
          </a:p>
          <a:p>
            <a:pPr algn="r" indent="0" marL="0">
              <a:lnSpc>
                <a:spcPts val="1063"/>
              </a:lnSpc>
              <a:buNone/>
            </a:pPr>
            <a:r>
              <a:rPr lang="en-US" sz="850" dirty="0">
                <a:solidFill>
                  <a:srgbClr val="6E7681"/>
                </a:solidFill>
                <a:latin typeface="Consolas" pitchFamily="34" charset="0"/>
                <a:ea typeface="Consolas" pitchFamily="34" charset="-122"/>
                <a:cs typeface="Consolas" pitchFamily="34" charset="-120"/>
              </a:rPr>
              <a:t>5</a:t>
            </a:r>
            <a:endParaRPr lang="en-US" sz="850" dirty="0"/>
          </a:p>
        </p:txBody>
      </p:sp>
      <p:sp>
        <p:nvSpPr>
          <p:cNvPr id="29" name="Text 25"/>
          <p:cNvSpPr txBox="1"/>
          <p:nvPr/>
        </p:nvSpPr>
        <p:spPr>
          <a:xfrm>
            <a:off x="7745730" y="4160520"/>
            <a:ext cx="3833317" cy="708660"/>
          </a:xfrm>
          <a:prstGeom prst="rect">
            <a:avLst/>
          </a:prstGeom>
          <a:noFill/>
          <a:ln/>
        </p:spPr>
        <p:txBody>
          <a:bodyPr wrap="none" lIns="0" tIns="0" rIns="0" bIns="0" rtlCol="0" anchor="t"/>
          <a:lstStyle/>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&lt;&lt;&lt;&lt;&lt;&lt;&lt; HEAD</a:t>
            </a:r>
            <a:endParaRPr lang="en-US" sz="850" dirty="0"/>
          </a:p>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ARCHIVO = </a:t>
            </a:r>
            <a:pPr algn="l" indent="0" marL="0">
              <a:lnSpc>
                <a:spcPts val="1063"/>
              </a:lnSpc>
              <a:buNone/>
            </a:pPr>
            <a:r>
              <a:rPr lang="en-US" sz="850" dirty="0">
                <a:solidFill>
                  <a:srgbClr val="A5D6FF"/>
                </a:solidFill>
                <a:latin typeface="Consolas" pitchFamily="34" charset="0"/>
                <a:ea typeface="Consolas" pitchFamily="34" charset="-122"/>
                <a:cs typeface="Consolas" pitchFamily="34" charset="-120"/>
              </a:rPr>
              <a:t>"alumnos.json"</a:t>
            </a:r>
            <a:endParaRPr lang="en-US" sz="850" dirty="0"/>
          </a:p>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a:t>
            </a:r>
            <a:endParaRPr lang="en-US" sz="850" dirty="0"/>
          </a:p>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ARCHIVO = </a:t>
            </a:r>
            <a:pPr algn="l" indent="0" marL="0">
              <a:lnSpc>
                <a:spcPts val="1063"/>
              </a:lnSpc>
              <a:buNone/>
            </a:pPr>
            <a:r>
              <a:rPr lang="en-US" sz="850" dirty="0">
                <a:solidFill>
                  <a:srgbClr val="A5D6FF"/>
                </a:solidFill>
                <a:latin typeface="Consolas" pitchFamily="34" charset="0"/>
                <a:ea typeface="Consolas" pitchFamily="34" charset="-122"/>
                <a:cs typeface="Consolas" pitchFamily="34" charset="-120"/>
              </a:rPr>
              <a:t>"datos/alumnos.json"</a:t>
            </a:r>
            <a:endParaRPr lang="en-US" sz="850" dirty="0"/>
          </a:p>
          <a:p>
            <a:pPr algn="l" indent="0" marL="0">
              <a:lnSpc>
                <a:spcPts val="1063"/>
              </a:lnSpc>
              <a:buNone/>
            </a:pPr>
            <a:r>
              <a:rPr lang="en-US" sz="850" dirty="0">
                <a:solidFill>
                  <a:srgbClr val="E6EDF3"/>
                </a:solidFill>
                <a:latin typeface="Consolas" pitchFamily="34" charset="0"/>
                <a:ea typeface="Consolas" pitchFamily="34" charset="-122"/>
                <a:cs typeface="Consolas" pitchFamily="34" charset="-120"/>
              </a:rPr>
              <a:t>&gt;&gt;&gt;&gt;&gt;&gt;&gt; feature-carpeta</a:t>
            </a:r>
            <a:endParaRPr lang="en-US" sz="850" dirty="0"/>
          </a:p>
        </p:txBody>
      </p:sp>
      <p:sp>
        <p:nvSpPr>
          <p:cNvPr id="30" name="Shape 26"/>
          <p:cNvSpPr/>
          <p:nvPr/>
        </p:nvSpPr>
        <p:spPr>
          <a:xfrm>
            <a:off x="7315200" y="5161788"/>
            <a:ext cx="4327855" cy="1056132"/>
          </a:xfrm>
          <a:prstGeom prst="roundRect">
            <a:avLst>
              <a:gd name="adj" fmla="val 8658"/>
            </a:avLst>
          </a:prstGeom>
          <a:solidFill>
            <a:srgbClr val="010409"/>
          </a:solidFill>
          <a:ln/>
        </p:spPr>
      </p:sp>
      <p:sp>
        <p:nvSpPr>
          <p:cNvPr id="31" name="Text 27"/>
          <p:cNvSpPr txBox="1"/>
          <p:nvPr/>
        </p:nvSpPr>
        <p:spPr>
          <a:xfrm>
            <a:off x="7498080" y="5253228"/>
            <a:ext cx="3962095" cy="256032"/>
          </a:xfrm>
          <a:prstGeom prst="rect">
            <a:avLst/>
          </a:prstGeom>
          <a:noFill/>
          <a:ln/>
        </p:spPr>
        <p:txBody>
          <a:bodyPr wrap="square" lIns="0" tIns="0" rIns="0" bIns="0" rtlCol="0" anchor="t"/>
          <a:lstStyle/>
          <a:p>
            <a:pPr algn="l" indent="0" marL="0">
              <a:buNone/>
            </a:pPr>
            <a:r>
              <a:rPr lang="en-US" sz="950" b="1" spc="150" kern="0" dirty="0">
                <a:solidFill>
                  <a:srgbClr val="6E7681"/>
                </a:solidFill>
                <a:latin typeface="Segoe UI" pitchFamily="34" charset="0"/>
                <a:ea typeface="Segoe UI" pitchFamily="34" charset="-122"/>
                <a:cs typeface="Segoe UI" pitchFamily="34" charset="-120"/>
              </a:rPr>
              <a:t>SALIDA EN CONSOLA</a:t>
            </a:r>
            <a:endParaRPr lang="en-US" sz="950" dirty="0"/>
          </a:p>
        </p:txBody>
      </p:sp>
      <p:sp>
        <p:nvSpPr>
          <p:cNvPr id="32" name="Text 28"/>
          <p:cNvSpPr txBox="1"/>
          <p:nvPr/>
        </p:nvSpPr>
        <p:spPr>
          <a:xfrm>
            <a:off x="7498080" y="5545836"/>
            <a:ext cx="4007815" cy="598932"/>
          </a:xfrm>
          <a:prstGeom prst="rect">
            <a:avLst/>
          </a:prstGeom>
          <a:noFill/>
          <a:ln/>
        </p:spPr>
        <p:txBody>
          <a:bodyPr wrap="none" lIns="0" tIns="0" rIns="0" bIns="0" rtlCol="0" anchor="t"/>
          <a:lstStyle/>
          <a:p>
            <a:pPr algn="l" indent="0" marL="0">
              <a:lnSpc>
                <a:spcPts val="1063"/>
              </a:lnSpc>
              <a:buNone/>
            </a:pPr>
            <a:r>
              <a:rPr lang="en-US" sz="850" dirty="0">
                <a:solidFill>
                  <a:srgbClr val="7EE787"/>
                </a:solidFill>
                <a:latin typeface="Consolas" pitchFamily="34" charset="0"/>
                <a:ea typeface="Consolas" pitchFamily="34" charset="-122"/>
                <a:cs typeface="Consolas" pitchFamily="34" charset="-120"/>
              </a:rPr>
              <a:t>Auto-merging proyecto.py</a:t>
            </a:r>
            <a:endParaRPr lang="en-US" sz="850" dirty="0"/>
          </a:p>
          <a:p>
            <a:pPr algn="l" indent="0" marL="0">
              <a:lnSpc>
                <a:spcPts val="1063"/>
              </a:lnSpc>
              <a:buNone/>
            </a:pPr>
            <a:r>
              <a:rPr lang="en-US" sz="850" dirty="0">
                <a:solidFill>
                  <a:srgbClr val="7EE787"/>
                </a:solidFill>
                <a:latin typeface="Consolas" pitchFamily="34" charset="0"/>
                <a:ea typeface="Consolas" pitchFamily="34" charset="-122"/>
                <a:cs typeface="Consolas" pitchFamily="34" charset="-120"/>
              </a:rPr>
              <a:t>CONFLICT (content): Merge conflict in proyecto.py</a:t>
            </a:r>
            <a:endParaRPr lang="en-US" sz="850" dirty="0"/>
          </a:p>
          <a:p>
            <a:pPr algn="l" indent="0" marL="0">
              <a:lnSpc>
                <a:spcPts val="1063"/>
              </a:lnSpc>
              <a:buNone/>
            </a:pPr>
            <a:r>
              <a:rPr lang="en-US" sz="850" dirty="0">
                <a:solidFill>
                  <a:srgbClr val="7EE787"/>
                </a:solidFill>
                <a:latin typeface="Consolas" pitchFamily="34" charset="0"/>
                <a:ea typeface="Consolas" pitchFamily="34" charset="-122"/>
                <a:cs typeface="Consolas" pitchFamily="34" charset="-120"/>
              </a:rPr>
              <a:t>Automatic merge failed; fix conflicts and then commit the result.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PROCESO</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Resolver un conflicto en cuatro pasos</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9 / 23</a:t>
            </a:r>
            <a:endParaRPr lang="en-US" sz="900" dirty="0"/>
          </a:p>
        </p:txBody>
      </p:sp>
      <p:sp>
        <p:nvSpPr>
          <p:cNvPr id="8" name="Shape 4"/>
          <p:cNvSpPr/>
          <p:nvPr/>
        </p:nvSpPr>
        <p:spPr>
          <a:xfrm>
            <a:off x="548640"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0" name="Text 6"/>
          <p:cNvSpPr txBox="1"/>
          <p:nvPr/>
        </p:nvSpPr>
        <p:spPr>
          <a:xfrm>
            <a:off x="1353312" y="1664208"/>
            <a:ext cx="1470584" cy="512064"/>
          </a:xfrm>
          <a:prstGeom prst="rect">
            <a:avLst/>
          </a:prstGeom>
          <a:noFill/>
          <a:ln/>
        </p:spPr>
        <p:txBody>
          <a:bodyPr wrap="square" lIns="0" tIns="0" rIns="0" bIns="0" rtlCol="0" anchor="ctr"/>
          <a:lstStyle/>
          <a:p>
            <a:pPr algn="l" indent="0" marL="0">
              <a:buNone/>
            </a:pPr>
            <a:r>
              <a:rPr lang="en-US" sz="1600" b="1" dirty="0">
                <a:solidFill>
                  <a:srgbClr val="1B2333"/>
                </a:solidFill>
                <a:latin typeface="Segoe UI" pitchFamily="34" charset="0"/>
                <a:ea typeface="Segoe UI" pitchFamily="34" charset="-122"/>
                <a:cs typeface="Segoe UI" pitchFamily="34" charset="-120"/>
              </a:rPr>
              <a:t>1. Ubicar</a:t>
            </a:r>
            <a:endParaRPr lang="en-US" sz="1600" dirty="0"/>
          </a:p>
        </p:txBody>
      </p:sp>
      <p:sp>
        <p:nvSpPr>
          <p:cNvPr id="11" name="Text 7"/>
          <p:cNvSpPr txBox="1"/>
          <p:nvPr/>
        </p:nvSpPr>
        <p:spPr>
          <a:xfrm>
            <a:off x="777240" y="2331720"/>
            <a:ext cx="2019224" cy="1920240"/>
          </a:xfrm>
          <a:prstGeom prst="rect">
            <a:avLst/>
          </a:prstGeom>
          <a:noFill/>
          <a:ln/>
        </p:spPr>
        <p:txBody>
          <a:bodyPr wrap="square" lIns="0" tIns="0" rIns="0" bIns="0" rtlCol="0" anchor="t"/>
          <a:lstStyle/>
          <a:p>
            <a:pPr algn="l" indent="0" marL="0">
              <a:buNone/>
            </a:pPr>
            <a:r>
              <a:rPr lang="en-US" sz="1700" dirty="0">
                <a:solidFill>
                  <a:srgbClr val="0F4C81"/>
                </a:solidFill>
                <a:highlight>
                  <a:srgbClr val="E6EDF6"/>
                </a:highlight>
                <a:latin typeface="Consolas" pitchFamily="34" charset="0"/>
                <a:ea typeface="Consolas" pitchFamily="34" charset="-122"/>
                <a:cs typeface="Consolas" pitchFamily="34" charset="-120"/>
              </a:rPr>
              <a:t>git status</a:t>
            </a:r>
            <a:pPr algn="l" indent="0" marL="0">
              <a:buNone/>
            </a:pPr>
            <a:r>
              <a:rPr lang="en-US" sz="1700" dirty="0">
                <a:solidFill>
                  <a:srgbClr val="4F5A6D"/>
                </a:solidFill>
                <a:latin typeface="Segoe UI" pitchFamily="34" charset="0"/>
                <a:ea typeface="Segoe UI" pitchFamily="34" charset="-122"/>
                <a:cs typeface="Segoe UI" pitchFamily="34" charset="-120"/>
              </a:rPr>
              <a:t> lista los archivos en conflicto como </a:t>
            </a:r>
            <a:pPr algn="l" indent="0" marL="0">
              <a:buNone/>
            </a:pPr>
            <a:r>
              <a:rPr lang="en-US" sz="1700" b="1" dirty="0">
                <a:solidFill>
                  <a:srgbClr val="4F5A6D"/>
                </a:solidFill>
                <a:latin typeface="Segoe UI" pitchFamily="34" charset="0"/>
                <a:ea typeface="Segoe UI" pitchFamily="34" charset="-122"/>
                <a:cs typeface="Segoe UI" pitchFamily="34" charset="-120"/>
              </a:rPr>
              <a:t>both modified</a:t>
            </a:r>
            <a:pPr algn="l" indent="0" marL="0">
              <a:buNone/>
            </a:pPr>
            <a:r>
              <a:rPr lang="en-US" sz="1700" dirty="0">
                <a:solidFill>
                  <a:srgbClr val="4F5A6D"/>
                </a:solidFill>
                <a:latin typeface="Segoe UI" pitchFamily="34" charset="0"/>
                <a:ea typeface="Segoe UI" pitchFamily="34" charset="-122"/>
                <a:cs typeface="Segoe UI" pitchFamily="34" charset="-120"/>
              </a:rPr>
              <a:t> (modificados por ambos).</a:t>
            </a:r>
            <a:endParaRPr lang="en-US" sz="1700" dirty="0"/>
          </a:p>
        </p:txBody>
      </p:sp>
      <p:sp>
        <p:nvSpPr>
          <p:cNvPr id="12" name="Shape 8"/>
          <p:cNvSpPr/>
          <p:nvPr/>
        </p:nvSpPr>
        <p:spPr>
          <a:xfrm>
            <a:off x="731520" y="4343400"/>
            <a:ext cx="2064944" cy="868680"/>
          </a:xfrm>
          <a:prstGeom prst="roundRect">
            <a:avLst>
              <a:gd name="adj" fmla="val 8421"/>
            </a:avLst>
          </a:prstGeom>
          <a:solidFill>
            <a:srgbClr val="0D1117"/>
          </a:solidFill>
          <a:ln/>
        </p:spPr>
      </p:sp>
      <p:sp>
        <p:nvSpPr>
          <p:cNvPr id="13" name="Text 9"/>
          <p:cNvSpPr txBox="1"/>
          <p:nvPr/>
        </p:nvSpPr>
        <p:spPr>
          <a:xfrm>
            <a:off x="868680" y="4480560"/>
            <a:ext cx="1882064" cy="640080"/>
          </a:xfrm>
          <a:prstGeom prst="rect">
            <a:avLst/>
          </a:prstGeom>
          <a:noFill/>
          <a:ln/>
        </p:spPr>
        <p:txBody>
          <a:bodyPr wrap="none" lIns="0" tIns="0" rIns="0" bIns="0" rtlCol="0" anchor="ctr"/>
          <a:lstStyle/>
          <a:p>
            <a:pPr algn="l" indent="0" marL="0">
              <a:lnSpc>
                <a:spcPts val="1625"/>
              </a:lnSpc>
              <a:buNone/>
            </a:pPr>
            <a:r>
              <a:rPr lang="en-US" sz="1300" dirty="0">
                <a:solidFill>
                  <a:srgbClr val="E6EDF3"/>
                </a:solidFill>
                <a:latin typeface="Consolas" pitchFamily="34" charset="0"/>
                <a:ea typeface="Consolas" pitchFamily="34" charset="-122"/>
                <a:cs typeface="Consolas" pitchFamily="34" charset="-120"/>
              </a:rPr>
              <a:t>git status</a:t>
            </a:r>
            <a:endParaRPr lang="en-US" sz="1300" dirty="0"/>
          </a:p>
        </p:txBody>
      </p:sp>
      <p:sp>
        <p:nvSpPr>
          <p:cNvPr id="14" name="Shape 10"/>
          <p:cNvSpPr/>
          <p:nvPr/>
        </p:nvSpPr>
        <p:spPr>
          <a:xfrm>
            <a:off x="3070784" y="3296412"/>
            <a:ext cx="274320" cy="310896"/>
          </a:xfrm>
          <a:prstGeom prst="rightArrow">
            <a:avLst/>
          </a:prstGeom>
          <a:solidFill>
            <a:srgbClr val="FFD43B"/>
          </a:solidFill>
          <a:ln/>
        </p:spPr>
      </p:sp>
      <p:sp>
        <p:nvSpPr>
          <p:cNvPr id="15" name="Shape 11"/>
          <p:cNvSpPr/>
          <p:nvPr/>
        </p:nvSpPr>
        <p:spPr>
          <a:xfrm>
            <a:off x="3436544"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16" name="Text 12"/>
          <p:cNvSpPr txBox="1"/>
          <p:nvPr/>
        </p:nvSpPr>
        <p:spPr>
          <a:xfrm>
            <a:off x="3665144"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7" name="Text 13"/>
          <p:cNvSpPr txBox="1"/>
          <p:nvPr/>
        </p:nvSpPr>
        <p:spPr>
          <a:xfrm>
            <a:off x="4241216" y="1664208"/>
            <a:ext cx="1470584" cy="512064"/>
          </a:xfrm>
          <a:prstGeom prst="rect">
            <a:avLst/>
          </a:prstGeom>
          <a:noFill/>
          <a:ln/>
        </p:spPr>
        <p:txBody>
          <a:bodyPr wrap="square" lIns="0" tIns="0" rIns="0" bIns="0" rtlCol="0" anchor="ctr"/>
          <a:lstStyle/>
          <a:p>
            <a:pPr algn="l" indent="0" marL="0">
              <a:buNone/>
            </a:pPr>
            <a:r>
              <a:rPr lang="en-US" sz="1600" b="1" dirty="0">
                <a:solidFill>
                  <a:srgbClr val="1B2333"/>
                </a:solidFill>
                <a:latin typeface="Segoe UI" pitchFamily="34" charset="0"/>
                <a:ea typeface="Segoe UI" pitchFamily="34" charset="-122"/>
                <a:cs typeface="Segoe UI" pitchFamily="34" charset="-120"/>
              </a:rPr>
              <a:t>2. Decidir</a:t>
            </a:r>
            <a:endParaRPr lang="en-US" sz="1600" dirty="0"/>
          </a:p>
        </p:txBody>
      </p:sp>
      <p:sp>
        <p:nvSpPr>
          <p:cNvPr id="18" name="Text 14"/>
          <p:cNvSpPr txBox="1"/>
          <p:nvPr/>
        </p:nvSpPr>
        <p:spPr>
          <a:xfrm>
            <a:off x="3665144" y="2331720"/>
            <a:ext cx="2019224" cy="1920240"/>
          </a:xfrm>
          <a:prstGeom prst="rect">
            <a:avLst/>
          </a:prstGeom>
          <a:noFill/>
          <a:ln/>
        </p:spPr>
        <p:txBody>
          <a:bodyPr wrap="square" lIns="0" tIns="0" rIns="0" bIns="0" rtlCol="0" anchor="t"/>
          <a:lstStyle/>
          <a:p>
            <a:pPr algn="l" indent="0" marL="0">
              <a:buNone/>
            </a:pPr>
            <a:r>
              <a:rPr lang="en-US" sz="1700" dirty="0">
                <a:solidFill>
                  <a:srgbClr val="4F5A6D"/>
                </a:solidFill>
                <a:latin typeface="Segoe UI" pitchFamily="34" charset="0"/>
                <a:ea typeface="Segoe UI" pitchFamily="34" charset="-122"/>
                <a:cs typeface="Segoe UI" pitchFamily="34" charset="-120"/>
              </a:rPr>
              <a:t>Abrís el archivo, hablás con tu compañero y dejás la versión correcta (o una combinación de las dos).</a:t>
            </a:r>
            <a:endParaRPr lang="en-US" sz="1700" dirty="0"/>
          </a:p>
        </p:txBody>
      </p:sp>
      <p:sp>
        <p:nvSpPr>
          <p:cNvPr id="19" name="Shape 15"/>
          <p:cNvSpPr/>
          <p:nvPr/>
        </p:nvSpPr>
        <p:spPr>
          <a:xfrm>
            <a:off x="3619424" y="4343400"/>
            <a:ext cx="2064944" cy="868680"/>
          </a:xfrm>
          <a:prstGeom prst="roundRect">
            <a:avLst>
              <a:gd name="adj" fmla="val 8421"/>
            </a:avLst>
          </a:prstGeom>
          <a:solidFill>
            <a:srgbClr val="0D1117"/>
          </a:solidFill>
          <a:ln/>
        </p:spPr>
      </p:sp>
      <p:sp>
        <p:nvSpPr>
          <p:cNvPr id="20" name="Text 16"/>
          <p:cNvSpPr txBox="1"/>
          <p:nvPr/>
        </p:nvSpPr>
        <p:spPr>
          <a:xfrm>
            <a:off x="3756584" y="4480560"/>
            <a:ext cx="1882064" cy="640080"/>
          </a:xfrm>
          <a:prstGeom prst="rect">
            <a:avLst/>
          </a:prstGeom>
          <a:noFill/>
          <a:ln/>
        </p:spPr>
        <p:txBody>
          <a:bodyPr wrap="none" lIns="0" tIns="0" rIns="0" bIns="0" rtlCol="0" anchor="ctr"/>
          <a:lstStyle/>
          <a:p>
            <a:pPr algn="l" indent="0" marL="0">
              <a:lnSpc>
                <a:spcPts val="1000"/>
              </a:lnSpc>
              <a:buNone/>
            </a:pPr>
            <a:r>
              <a:rPr lang="en-US" sz="800" dirty="0">
                <a:solidFill>
                  <a:srgbClr val="E6EDF3"/>
                </a:solidFill>
                <a:latin typeface="Consolas" pitchFamily="34" charset="0"/>
                <a:ea typeface="Consolas" pitchFamily="34" charset="-122"/>
                <a:cs typeface="Consolas" pitchFamily="34" charset="-120"/>
              </a:rPr>
              <a:t>ARCHIVO = </a:t>
            </a:r>
            <a:pPr algn="l" indent="0" marL="0">
              <a:lnSpc>
                <a:spcPts val="1000"/>
              </a:lnSpc>
              <a:buNone/>
            </a:pPr>
            <a:r>
              <a:rPr lang="en-US" sz="800" dirty="0">
                <a:solidFill>
                  <a:srgbClr val="A5D6FF"/>
                </a:solidFill>
                <a:latin typeface="Consolas" pitchFamily="34" charset="0"/>
                <a:ea typeface="Consolas" pitchFamily="34" charset="-122"/>
                <a:cs typeface="Consolas" pitchFamily="34" charset="-120"/>
              </a:rPr>
              <a:t>"datos/alumnos.json"</a:t>
            </a:r>
            <a:endParaRPr lang="en-US" sz="800" dirty="0"/>
          </a:p>
        </p:txBody>
      </p:sp>
      <p:sp>
        <p:nvSpPr>
          <p:cNvPr id="21" name="Shape 17"/>
          <p:cNvSpPr/>
          <p:nvPr/>
        </p:nvSpPr>
        <p:spPr>
          <a:xfrm>
            <a:off x="5958688" y="3296412"/>
            <a:ext cx="274320" cy="310896"/>
          </a:xfrm>
          <a:prstGeom prst="rightArrow">
            <a:avLst/>
          </a:prstGeom>
          <a:solidFill>
            <a:srgbClr val="FFD43B"/>
          </a:solidFill>
          <a:ln/>
        </p:spPr>
      </p:sp>
      <p:sp>
        <p:nvSpPr>
          <p:cNvPr id="22" name="Shape 18"/>
          <p:cNvSpPr/>
          <p:nvPr/>
        </p:nvSpPr>
        <p:spPr>
          <a:xfrm>
            <a:off x="6324448"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23" name="Text 19"/>
          <p:cNvSpPr txBox="1"/>
          <p:nvPr/>
        </p:nvSpPr>
        <p:spPr>
          <a:xfrm>
            <a:off x="6553048"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4" name="Text 20"/>
          <p:cNvSpPr txBox="1"/>
          <p:nvPr/>
        </p:nvSpPr>
        <p:spPr>
          <a:xfrm>
            <a:off x="7129120" y="1664208"/>
            <a:ext cx="1470584" cy="512064"/>
          </a:xfrm>
          <a:prstGeom prst="rect">
            <a:avLst/>
          </a:prstGeom>
          <a:noFill/>
          <a:ln/>
        </p:spPr>
        <p:txBody>
          <a:bodyPr wrap="square" lIns="0" tIns="0" rIns="0" bIns="0" rtlCol="0" anchor="ctr"/>
          <a:lstStyle/>
          <a:p>
            <a:pPr algn="l" indent="0" marL="0">
              <a:buNone/>
            </a:pPr>
            <a:r>
              <a:rPr lang="en-US" sz="1350" b="1" dirty="0">
                <a:solidFill>
                  <a:srgbClr val="1B2333"/>
                </a:solidFill>
                <a:latin typeface="Segoe UI" pitchFamily="34" charset="0"/>
                <a:ea typeface="Segoe UI" pitchFamily="34" charset="-122"/>
                <a:cs typeface="Segoe UI" pitchFamily="34" charset="-120"/>
              </a:rPr>
              <a:t>3. Limpiar y probar</a:t>
            </a:r>
            <a:endParaRPr lang="en-US" sz="1350" dirty="0"/>
          </a:p>
        </p:txBody>
      </p:sp>
      <p:sp>
        <p:nvSpPr>
          <p:cNvPr id="25" name="Text 21"/>
          <p:cNvSpPr txBox="1"/>
          <p:nvPr/>
        </p:nvSpPr>
        <p:spPr>
          <a:xfrm>
            <a:off x="6553048" y="2331720"/>
            <a:ext cx="2019224" cy="1920240"/>
          </a:xfrm>
          <a:prstGeom prst="rect">
            <a:avLst/>
          </a:prstGeom>
          <a:noFill/>
          <a:ln/>
        </p:spPr>
        <p:txBody>
          <a:bodyPr wrap="square" lIns="0" tIns="0" rIns="0" bIns="0" rtlCol="0" anchor="t"/>
          <a:lstStyle/>
          <a:p>
            <a:pPr algn="l" indent="0" marL="0">
              <a:buNone/>
            </a:pPr>
            <a:r>
              <a:rPr lang="en-US" sz="1700" dirty="0">
                <a:solidFill>
                  <a:srgbClr val="4F5A6D"/>
                </a:solidFill>
                <a:latin typeface="Segoe UI" pitchFamily="34" charset="0"/>
                <a:ea typeface="Segoe UI" pitchFamily="34" charset="-122"/>
                <a:cs typeface="Segoe UI" pitchFamily="34" charset="-120"/>
              </a:rPr>
              <a:t>Borrás </a:t>
            </a:r>
            <a:pPr algn="l" indent="0" marL="0">
              <a:buNone/>
            </a:pPr>
            <a:r>
              <a:rPr lang="en-US" sz="1700" b="1" dirty="0">
                <a:solidFill>
                  <a:srgbClr val="4F5A6D"/>
                </a:solidFill>
                <a:latin typeface="Segoe UI" pitchFamily="34" charset="0"/>
                <a:ea typeface="Segoe UI" pitchFamily="34" charset="-122"/>
                <a:cs typeface="Segoe UI" pitchFamily="34" charset="-120"/>
              </a:rPr>
              <a:t>las tres líneas de marcadores</a:t>
            </a:r>
            <a:pPr algn="l" indent="0" marL="0">
              <a:buNone/>
            </a:pPr>
            <a:r>
              <a:rPr lang="en-US" sz="1700" dirty="0">
                <a:solidFill>
                  <a:srgbClr val="4F5A6D"/>
                </a:solidFill>
                <a:latin typeface="Segoe UI" pitchFamily="34" charset="0"/>
                <a:ea typeface="Segoe UI" pitchFamily="34" charset="-122"/>
                <a:cs typeface="Segoe UI" pitchFamily="34" charset="-120"/>
              </a:rPr>
              <a:t> y ejecutás el programa para confirmar que anda.</a:t>
            </a:r>
            <a:endParaRPr lang="en-US" sz="1700" dirty="0"/>
          </a:p>
        </p:txBody>
      </p:sp>
      <p:sp>
        <p:nvSpPr>
          <p:cNvPr id="26" name="Shape 22"/>
          <p:cNvSpPr/>
          <p:nvPr/>
        </p:nvSpPr>
        <p:spPr>
          <a:xfrm>
            <a:off x="6507328" y="4343400"/>
            <a:ext cx="2064944" cy="868680"/>
          </a:xfrm>
          <a:prstGeom prst="roundRect">
            <a:avLst>
              <a:gd name="adj" fmla="val 8421"/>
            </a:avLst>
          </a:prstGeom>
          <a:solidFill>
            <a:srgbClr val="0D1117"/>
          </a:solidFill>
          <a:ln/>
        </p:spPr>
      </p:sp>
      <p:sp>
        <p:nvSpPr>
          <p:cNvPr id="27" name="Text 23"/>
          <p:cNvSpPr txBox="1"/>
          <p:nvPr/>
        </p:nvSpPr>
        <p:spPr>
          <a:xfrm>
            <a:off x="6644488" y="4480560"/>
            <a:ext cx="1882064" cy="640080"/>
          </a:xfrm>
          <a:prstGeom prst="rect">
            <a:avLst/>
          </a:prstGeom>
          <a:noFill/>
          <a:ln/>
        </p:spPr>
        <p:txBody>
          <a:bodyPr wrap="none" lIns="0" tIns="0" rIns="0" bIns="0" rtlCol="0" anchor="ctr"/>
          <a:lstStyle/>
          <a:p>
            <a:pPr algn="l" indent="0" marL="0">
              <a:lnSpc>
                <a:spcPts val="1625"/>
              </a:lnSpc>
              <a:buNone/>
            </a:pPr>
            <a:r>
              <a:rPr lang="en-US" sz="1300" dirty="0">
                <a:solidFill>
                  <a:srgbClr val="E6EDF3"/>
                </a:solidFill>
                <a:latin typeface="Consolas" pitchFamily="34" charset="0"/>
                <a:ea typeface="Consolas" pitchFamily="34" charset="-122"/>
                <a:cs typeface="Consolas" pitchFamily="34" charset="-120"/>
              </a:rPr>
              <a:t>python proyecto.py</a:t>
            </a:r>
            <a:endParaRPr lang="en-US" sz="1300" dirty="0"/>
          </a:p>
        </p:txBody>
      </p:sp>
      <p:sp>
        <p:nvSpPr>
          <p:cNvPr id="28" name="Shape 24"/>
          <p:cNvSpPr/>
          <p:nvPr/>
        </p:nvSpPr>
        <p:spPr>
          <a:xfrm>
            <a:off x="8846591" y="3296412"/>
            <a:ext cx="274320" cy="310896"/>
          </a:xfrm>
          <a:prstGeom prst="rightArrow">
            <a:avLst/>
          </a:prstGeom>
          <a:solidFill>
            <a:srgbClr val="FFD43B"/>
          </a:solidFill>
          <a:ln/>
        </p:spPr>
      </p:sp>
      <p:sp>
        <p:nvSpPr>
          <p:cNvPr id="29" name="Shape 25"/>
          <p:cNvSpPr/>
          <p:nvPr/>
        </p:nvSpPr>
        <p:spPr>
          <a:xfrm>
            <a:off x="9212351" y="1463040"/>
            <a:ext cx="2430704" cy="3977640"/>
          </a:xfrm>
          <a:prstGeom prst="roundRect">
            <a:avLst>
              <a:gd name="adj" fmla="val 3762"/>
            </a:avLst>
          </a:prstGeom>
          <a:solidFill>
            <a:srgbClr val="FFFFFF"/>
          </a:solidFill>
          <a:ln/>
          <a:effectLst>
            <a:outerShdw sx="100000" sy="100000" kx="0" ky="0" algn="bl" rotWithShape="0" blurRad="88900" dist="19050" dir="5400000">
              <a:srgbClr val="1B2333">
                <a:alpha val="10000"/>
              </a:srgbClr>
            </a:outerShdw>
          </a:effectLst>
        </p:spPr>
      </p:sp>
      <p:sp>
        <p:nvSpPr>
          <p:cNvPr id="30" name="Text 26"/>
          <p:cNvSpPr txBox="1"/>
          <p:nvPr/>
        </p:nvSpPr>
        <p:spPr>
          <a:xfrm>
            <a:off x="9440951" y="1691640"/>
            <a:ext cx="457200" cy="457200"/>
          </a:xfrm>
          <a:prstGeom prst="ellipse">
            <a:avLst/>
          </a:prstGeom>
          <a:solidFill>
            <a:srgbClr val="2B5B84"/>
          </a:solid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1" name="Text 27"/>
          <p:cNvSpPr txBox="1"/>
          <p:nvPr/>
        </p:nvSpPr>
        <p:spPr>
          <a:xfrm>
            <a:off x="10017023" y="1664208"/>
            <a:ext cx="1470584" cy="512064"/>
          </a:xfrm>
          <a:prstGeom prst="rect">
            <a:avLst/>
          </a:prstGeom>
          <a:noFill/>
          <a:ln/>
        </p:spPr>
        <p:txBody>
          <a:bodyPr wrap="square" lIns="0" tIns="0" rIns="0" bIns="0" rtlCol="0" anchor="ctr"/>
          <a:lstStyle/>
          <a:p>
            <a:pPr algn="l" indent="0" marL="0">
              <a:buNone/>
            </a:pPr>
            <a:r>
              <a:rPr lang="en-US" sz="1600" b="1" dirty="0">
                <a:solidFill>
                  <a:srgbClr val="1B2333"/>
                </a:solidFill>
                <a:latin typeface="Segoe UI" pitchFamily="34" charset="0"/>
                <a:ea typeface="Segoe UI" pitchFamily="34" charset="-122"/>
                <a:cs typeface="Segoe UI" pitchFamily="34" charset="-120"/>
              </a:rPr>
              <a:t>4. Confirmar</a:t>
            </a:r>
            <a:endParaRPr lang="en-US" sz="1600" dirty="0"/>
          </a:p>
        </p:txBody>
      </p:sp>
      <p:sp>
        <p:nvSpPr>
          <p:cNvPr id="32" name="Text 28"/>
          <p:cNvSpPr txBox="1"/>
          <p:nvPr/>
        </p:nvSpPr>
        <p:spPr>
          <a:xfrm>
            <a:off x="9440951" y="2331720"/>
            <a:ext cx="2019224" cy="1920240"/>
          </a:xfrm>
          <a:prstGeom prst="rect">
            <a:avLst/>
          </a:prstGeom>
          <a:noFill/>
          <a:ln/>
        </p:spPr>
        <p:txBody>
          <a:bodyPr wrap="square" lIns="0" tIns="0" rIns="0" bIns="0" rtlCol="0" anchor="t"/>
          <a:lstStyle/>
          <a:p>
            <a:pPr algn="l" indent="0" marL="0">
              <a:buNone/>
            </a:pPr>
            <a:r>
              <a:rPr lang="en-US" sz="1700" dirty="0">
                <a:solidFill>
                  <a:srgbClr val="4F5A6D"/>
                </a:solidFill>
                <a:latin typeface="Segoe UI" pitchFamily="34" charset="0"/>
                <a:ea typeface="Segoe UI" pitchFamily="34" charset="-122"/>
                <a:cs typeface="Segoe UI" pitchFamily="34" charset="-120"/>
              </a:rPr>
              <a:t>Marcás el archivo como resuelto con </a:t>
            </a:r>
            <a:pPr algn="l" indent="0" marL="0">
              <a:buNone/>
            </a:pPr>
            <a:r>
              <a:rPr lang="en-US" sz="1700" dirty="0">
                <a:solidFill>
                  <a:srgbClr val="0F4C81"/>
                </a:solidFill>
                <a:highlight>
                  <a:srgbClr val="E6EDF6"/>
                </a:highlight>
                <a:latin typeface="Consolas" pitchFamily="34" charset="0"/>
                <a:ea typeface="Consolas" pitchFamily="34" charset="-122"/>
                <a:cs typeface="Consolas" pitchFamily="34" charset="-120"/>
              </a:rPr>
              <a:t>git add</a:t>
            </a:r>
            <a:pPr algn="l" indent="0" marL="0">
              <a:buNone/>
            </a:pPr>
            <a:r>
              <a:rPr lang="en-US" sz="1700" dirty="0">
                <a:solidFill>
                  <a:srgbClr val="4F5A6D"/>
                </a:solidFill>
                <a:latin typeface="Segoe UI" pitchFamily="34" charset="0"/>
                <a:ea typeface="Segoe UI" pitchFamily="34" charset="-122"/>
                <a:cs typeface="Segoe UI" pitchFamily="34" charset="-120"/>
              </a:rPr>
              <a:t> y cerrás el merge con un commit.</a:t>
            </a:r>
            <a:endParaRPr lang="en-US" sz="1700" dirty="0"/>
          </a:p>
        </p:txBody>
      </p:sp>
      <p:sp>
        <p:nvSpPr>
          <p:cNvPr id="33" name="Shape 29"/>
          <p:cNvSpPr/>
          <p:nvPr/>
        </p:nvSpPr>
        <p:spPr>
          <a:xfrm>
            <a:off x="9395231" y="4343400"/>
            <a:ext cx="2064944" cy="868680"/>
          </a:xfrm>
          <a:prstGeom prst="roundRect">
            <a:avLst>
              <a:gd name="adj" fmla="val 8421"/>
            </a:avLst>
          </a:prstGeom>
          <a:solidFill>
            <a:srgbClr val="0D1117"/>
          </a:solidFill>
          <a:ln/>
        </p:spPr>
      </p:sp>
      <p:sp>
        <p:nvSpPr>
          <p:cNvPr id="34" name="Text 30"/>
          <p:cNvSpPr txBox="1"/>
          <p:nvPr/>
        </p:nvSpPr>
        <p:spPr>
          <a:xfrm>
            <a:off x="9532391" y="4480560"/>
            <a:ext cx="1882064" cy="640080"/>
          </a:xfrm>
          <a:prstGeom prst="rect">
            <a:avLst/>
          </a:prstGeom>
          <a:noFill/>
          <a:ln/>
        </p:spPr>
        <p:txBody>
          <a:bodyPr wrap="none" lIns="0" tIns="0" rIns="0" bIns="0" rtlCol="0" anchor="ctr"/>
          <a:lstStyle/>
          <a:p>
            <a:pPr algn="l" indent="0" marL="0">
              <a:lnSpc>
                <a:spcPts val="1625"/>
              </a:lnSpc>
              <a:buNone/>
            </a:pPr>
            <a:r>
              <a:rPr lang="en-US" sz="1300" dirty="0">
                <a:solidFill>
                  <a:srgbClr val="E6EDF3"/>
                </a:solidFill>
                <a:latin typeface="Consolas" pitchFamily="34" charset="0"/>
                <a:ea typeface="Consolas" pitchFamily="34" charset="-122"/>
                <a:cs typeface="Consolas" pitchFamily="34" charset="-120"/>
              </a:rPr>
              <a:t>git add proyecto.py</a:t>
            </a:r>
            <a:endParaRPr lang="en-US" sz="1300" dirty="0"/>
          </a:p>
          <a:p>
            <a:pPr algn="l" indent="0" marL="0">
              <a:lnSpc>
                <a:spcPts val="1625"/>
              </a:lnSpc>
              <a:buNone/>
            </a:pPr>
            <a:r>
              <a:rPr lang="en-US" sz="1300" dirty="0">
                <a:solidFill>
                  <a:srgbClr val="E6EDF3"/>
                </a:solidFill>
                <a:latin typeface="Consolas" pitchFamily="34" charset="0"/>
                <a:ea typeface="Consolas" pitchFamily="34" charset="-122"/>
                <a:cs typeface="Consolas" pitchFamily="34" charset="-120"/>
              </a:rPr>
              <a:t>git commit</a:t>
            </a:r>
            <a:endParaRPr lang="en-US" sz="1300" dirty="0"/>
          </a:p>
        </p:txBody>
      </p:sp>
      <p:sp>
        <p:nvSpPr>
          <p:cNvPr id="35" name="Shape 31"/>
          <p:cNvSpPr/>
          <p:nvPr/>
        </p:nvSpPr>
        <p:spPr>
          <a:xfrm>
            <a:off x="548640" y="5650992"/>
            <a:ext cx="11094415" cy="566928"/>
          </a:xfrm>
          <a:prstGeom prst="roundRect">
            <a:avLst>
              <a:gd name="adj" fmla="val 12903"/>
            </a:avLst>
          </a:prstGeom>
          <a:solidFill>
            <a:srgbClr val="FFF4C7"/>
          </a:solidFill>
          <a:ln/>
        </p:spPr>
      </p:sp>
      <p:sp>
        <p:nvSpPr>
          <p:cNvPr id="36" name="Text 32"/>
          <p:cNvSpPr txBox="1"/>
          <p:nvPr/>
        </p:nvSpPr>
        <p:spPr>
          <a:xfrm>
            <a:off x="694944" y="5724144"/>
            <a:ext cx="420624" cy="420624"/>
          </a:xfrm>
          <a:prstGeom prst="rect">
            <a:avLst/>
          </a:prstGeom>
          <a:noFill/>
          <a:ln/>
        </p:spPr>
        <p:txBody>
          <a:bodyPr wrap="square" lIns="0" tIns="0" rIns="0" bIns="0" rtlCol="0" anchor="ctr"/>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37" name="Text 33"/>
          <p:cNvSpPr txBox="1"/>
          <p:nvPr/>
        </p:nvSpPr>
        <p:spPr>
          <a:xfrm>
            <a:off x="1170432" y="5678424"/>
            <a:ext cx="10317175" cy="512064"/>
          </a:xfrm>
          <a:prstGeom prst="rect">
            <a:avLst/>
          </a:prstGeom>
          <a:noFill/>
          <a:ln/>
        </p:spPr>
        <p:txBody>
          <a:bodyPr wrap="square" lIns="0" tIns="0" rIns="0" bIns="0" rtlCol="0" anchor="ctr"/>
          <a:lstStyle/>
          <a:p>
            <a:pPr algn="l" indent="0" marL="0">
              <a:buNone/>
            </a:pPr>
            <a:r>
              <a:rPr lang="en-US" sz="1350" dirty="0">
                <a:solidFill>
                  <a:srgbClr val="1B2333"/>
                </a:solidFill>
                <a:latin typeface="Segoe UI" pitchFamily="34" charset="0"/>
                <a:ea typeface="Segoe UI" pitchFamily="34" charset="-122"/>
                <a:cs typeface="Segoe UI" pitchFamily="34" charset="-120"/>
              </a:rPr>
              <a:t>Si te perdiste, </a:t>
            </a:r>
            <a:pPr algn="l" indent="0" marL="0">
              <a:buNone/>
            </a:pPr>
            <a:r>
              <a:rPr lang="en-US" sz="1350" dirty="0">
                <a:solidFill>
                  <a:srgbClr val="0F4C81"/>
                </a:solidFill>
                <a:highlight>
                  <a:srgbClr val="E6EDF6"/>
                </a:highlight>
                <a:latin typeface="Consolas" pitchFamily="34" charset="0"/>
                <a:ea typeface="Consolas" pitchFamily="34" charset="-122"/>
                <a:cs typeface="Consolas" pitchFamily="34" charset="-120"/>
              </a:rPr>
              <a:t>git merge --abort</a:t>
            </a:r>
            <a:pPr algn="l" indent="0" marL="0">
              <a:buNone/>
            </a:pPr>
            <a:r>
              <a:rPr lang="en-US" sz="1350" dirty="0">
                <a:solidFill>
                  <a:srgbClr val="1B2333"/>
                </a:solidFill>
                <a:latin typeface="Segoe UI" pitchFamily="34" charset="0"/>
                <a:ea typeface="Segoe UI" pitchFamily="34" charset="-122"/>
                <a:cs typeface="Segoe UI" pitchFamily="34" charset="-120"/>
              </a:rPr>
              <a:t> deshace el merge y deja todo como estaba antes. Para prevenir: </a:t>
            </a:r>
            <a:pPr algn="l" indent="0" marL="0">
              <a:buNone/>
            </a:pPr>
            <a:r>
              <a:rPr lang="en-US" sz="1350" dirty="0">
                <a:solidFill>
                  <a:srgbClr val="0F4C81"/>
                </a:solidFill>
                <a:highlight>
                  <a:srgbClr val="E6EDF6"/>
                </a:highlight>
                <a:latin typeface="Consolas" pitchFamily="34" charset="0"/>
                <a:ea typeface="Consolas" pitchFamily="34" charset="-122"/>
                <a:cs typeface="Consolas" pitchFamily="34" charset="-120"/>
              </a:rPr>
              <a:t>git pull</a:t>
            </a:r>
            <a:pPr algn="l" indent="0" marL="0">
              <a:buNone/>
            </a:pPr>
            <a:r>
              <a:rPr lang="en-US" sz="1350" dirty="0">
                <a:solidFill>
                  <a:srgbClr val="1B2333"/>
                </a:solidFill>
                <a:latin typeface="Segoe UI" pitchFamily="34" charset="0"/>
                <a:ea typeface="Segoe UI" pitchFamily="34" charset="-122"/>
                <a:cs typeface="Segoe UI" pitchFamily="34" charset="-120"/>
              </a:rPr>
              <a:t> seguido y cada integrante en funciones distintas.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BUENAS PRÁCTICAS</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Commits que ayudan vs. commits que confunden</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10 / 23</a:t>
            </a:r>
            <a:endParaRPr lang="en-US" sz="900" dirty="0"/>
          </a:p>
        </p:txBody>
      </p:sp>
      <p:sp>
        <p:nvSpPr>
          <p:cNvPr id="8" name="Shape 4"/>
          <p:cNvSpPr/>
          <p:nvPr/>
        </p:nvSpPr>
        <p:spPr>
          <a:xfrm>
            <a:off x="548640" y="1463040"/>
            <a:ext cx="5364328" cy="3977640"/>
          </a:xfrm>
          <a:prstGeom prst="roundRect">
            <a:avLst>
              <a:gd name="adj" fmla="val 2299"/>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691640"/>
            <a:ext cx="4907128" cy="420624"/>
          </a:xfrm>
          <a:prstGeom prst="roundRect">
            <a:avLst>
              <a:gd name="adj" fmla="val 50000"/>
            </a:avLst>
          </a:prstGeom>
          <a:solidFill>
            <a:srgbClr val="C23B3B"/>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  Así no</a:t>
            </a:r>
            <a:endParaRPr lang="en-US" sz="1250" dirty="0"/>
          </a:p>
        </p:txBody>
      </p:sp>
      <p:sp>
        <p:nvSpPr>
          <p:cNvPr id="10" name="Text 6"/>
          <p:cNvSpPr txBox="1"/>
          <p:nvPr/>
        </p:nvSpPr>
        <p:spPr>
          <a:xfrm>
            <a:off x="777240" y="2286000"/>
            <a:ext cx="4952848" cy="2039112"/>
          </a:xfrm>
          <a:prstGeom prst="rect">
            <a:avLst/>
          </a:prstGeom>
          <a:noFill/>
          <a:ln/>
        </p:spPr>
        <p:txBody>
          <a:bodyPr wrap="square" lIns="25400" tIns="25400" rIns="25400" bIns="25400" rtlCol="0" anchor="t"/>
          <a:lstStyle/>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Mensajes vacíos de sentido: "cambios", "asdf", "ahora sí".</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Un solo commit gigante el día antes de la entrega.</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Commitear código que no ejecuta o con marcadores de conflicto.</a:t>
            </a:r>
            <a:endParaRPr lang="en-US" sz="1500" dirty="0"/>
          </a:p>
        </p:txBody>
      </p:sp>
      <p:sp>
        <p:nvSpPr>
          <p:cNvPr id="11" name="Shape 7"/>
          <p:cNvSpPr/>
          <p:nvPr/>
        </p:nvSpPr>
        <p:spPr>
          <a:xfrm>
            <a:off x="777240" y="4416552"/>
            <a:ext cx="4907128" cy="795528"/>
          </a:xfrm>
          <a:prstGeom prst="roundRect">
            <a:avLst>
              <a:gd name="adj" fmla="val 11494"/>
            </a:avLst>
          </a:prstGeom>
          <a:solidFill>
            <a:srgbClr val="0D1117"/>
          </a:solidFill>
          <a:ln/>
          <a:effectLst>
            <a:outerShdw sx="100000" sy="100000" kx="0" ky="0" algn="bl" rotWithShape="0" blurRad="88900" dist="19050" dir="5400000">
              <a:srgbClr val="1B2333">
                <a:alpha val="10000"/>
              </a:srgbClr>
            </a:outerShdw>
          </a:effectLst>
        </p:spPr>
      </p:sp>
      <p:sp>
        <p:nvSpPr>
          <p:cNvPr id="12" name="Shape 8"/>
          <p:cNvSpPr/>
          <p:nvPr/>
        </p:nvSpPr>
        <p:spPr>
          <a:xfrm>
            <a:off x="960120" y="4562856"/>
            <a:ext cx="109728" cy="109728"/>
          </a:xfrm>
          <a:prstGeom prst="ellipse">
            <a:avLst/>
          </a:prstGeom>
          <a:solidFill>
            <a:srgbClr val="FF5F57"/>
          </a:solidFill>
          <a:ln/>
        </p:spPr>
      </p:sp>
      <p:sp>
        <p:nvSpPr>
          <p:cNvPr id="13" name="Shape 9"/>
          <p:cNvSpPr/>
          <p:nvPr/>
        </p:nvSpPr>
        <p:spPr>
          <a:xfrm>
            <a:off x="1143000" y="4562856"/>
            <a:ext cx="109728" cy="109728"/>
          </a:xfrm>
          <a:prstGeom prst="ellipse">
            <a:avLst/>
          </a:prstGeom>
          <a:solidFill>
            <a:srgbClr val="FEBC2E"/>
          </a:solidFill>
          <a:ln/>
        </p:spPr>
      </p:sp>
      <p:sp>
        <p:nvSpPr>
          <p:cNvPr id="14" name="Shape 10"/>
          <p:cNvSpPr/>
          <p:nvPr/>
        </p:nvSpPr>
        <p:spPr>
          <a:xfrm>
            <a:off x="1325880" y="4562856"/>
            <a:ext cx="109728" cy="109728"/>
          </a:xfrm>
          <a:prstGeom prst="ellipse">
            <a:avLst/>
          </a:prstGeom>
          <a:solidFill>
            <a:srgbClr val="28C840"/>
          </a:solidFill>
          <a:ln/>
        </p:spPr>
      </p:sp>
      <p:sp>
        <p:nvSpPr>
          <p:cNvPr id="15" name="Text 11"/>
          <p:cNvSpPr txBox="1"/>
          <p:nvPr/>
        </p:nvSpPr>
        <p:spPr>
          <a:xfrm>
            <a:off x="1554480" y="4471416"/>
            <a:ext cx="3992728"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python</a:t>
            </a:r>
            <a:endParaRPr lang="en-US" sz="1050" dirty="0"/>
          </a:p>
        </p:txBody>
      </p:sp>
      <p:sp>
        <p:nvSpPr>
          <p:cNvPr id="16" name="Text 12"/>
          <p:cNvSpPr txBox="1"/>
          <p:nvPr/>
        </p:nvSpPr>
        <p:spPr>
          <a:xfrm>
            <a:off x="886968" y="4873752"/>
            <a:ext cx="216408" cy="228600"/>
          </a:xfrm>
          <a:prstGeom prst="rect">
            <a:avLst/>
          </a:prstGeom>
          <a:noFill/>
          <a:ln/>
        </p:spPr>
        <p:txBody>
          <a:bodyPr wrap="square" lIns="0" tIns="0" rIns="0" bIns="0" rtlCol="0" anchor="t"/>
          <a:lstStyle/>
          <a:p>
            <a:pPr algn="r" indent="0" marL="0">
              <a:lnSpc>
                <a:spcPts val="1750"/>
              </a:lnSpc>
              <a:buNone/>
            </a:pPr>
            <a:r>
              <a:rPr lang="en-US" sz="1400" dirty="0">
                <a:solidFill>
                  <a:srgbClr val="6E7681"/>
                </a:solidFill>
                <a:latin typeface="Consolas" pitchFamily="34" charset="0"/>
                <a:ea typeface="Consolas" pitchFamily="34" charset="-122"/>
                <a:cs typeface="Consolas" pitchFamily="34" charset="-120"/>
              </a:rPr>
              <a:t>1</a:t>
            </a:r>
            <a:endParaRPr lang="en-US" sz="1400" dirty="0"/>
          </a:p>
        </p:txBody>
      </p:sp>
      <p:sp>
        <p:nvSpPr>
          <p:cNvPr id="17" name="Text 13"/>
          <p:cNvSpPr txBox="1"/>
          <p:nvPr/>
        </p:nvSpPr>
        <p:spPr>
          <a:xfrm>
            <a:off x="1249680" y="4873752"/>
            <a:ext cx="4370680" cy="228600"/>
          </a:xfrm>
          <a:prstGeom prst="rect">
            <a:avLst/>
          </a:prstGeom>
          <a:noFill/>
          <a:ln/>
        </p:spPr>
        <p:txBody>
          <a:bodyPr wrap="none" lIns="0" tIns="0" rIns="0" bIns="0" rtlCol="0" anchor="t"/>
          <a:lstStyle/>
          <a:p>
            <a:pPr algn="l" indent="0" marL="0">
              <a:lnSpc>
                <a:spcPts val="1750"/>
              </a:lnSpc>
              <a:buNone/>
            </a:pPr>
            <a:r>
              <a:rPr lang="en-US" sz="1400" dirty="0">
                <a:solidFill>
                  <a:srgbClr val="E6EDF3"/>
                </a:solidFill>
                <a:latin typeface="Consolas" pitchFamily="34" charset="0"/>
                <a:ea typeface="Consolas" pitchFamily="34" charset="-122"/>
                <a:cs typeface="Consolas" pitchFamily="34" charset="-120"/>
              </a:rPr>
              <a:t>git commit -m </a:t>
            </a:r>
            <a:pPr algn="l" indent="0" marL="0">
              <a:lnSpc>
                <a:spcPts val="1750"/>
              </a:lnSpc>
              <a:buNone/>
            </a:pPr>
            <a:r>
              <a:rPr lang="en-US" sz="1400" dirty="0">
                <a:solidFill>
                  <a:srgbClr val="A5D6FF"/>
                </a:solidFill>
                <a:latin typeface="Consolas" pitchFamily="34" charset="0"/>
                <a:ea typeface="Consolas" pitchFamily="34" charset="-122"/>
                <a:cs typeface="Consolas" pitchFamily="34" charset="-120"/>
              </a:rPr>
              <a:t>"cambios"</a:t>
            </a:r>
            <a:endParaRPr lang="en-US" sz="1400" dirty="0"/>
          </a:p>
        </p:txBody>
      </p:sp>
      <p:sp>
        <p:nvSpPr>
          <p:cNvPr id="18" name="Shape 14"/>
          <p:cNvSpPr/>
          <p:nvPr/>
        </p:nvSpPr>
        <p:spPr>
          <a:xfrm>
            <a:off x="6278728" y="1463040"/>
            <a:ext cx="5364328" cy="3977640"/>
          </a:xfrm>
          <a:prstGeom prst="roundRect">
            <a:avLst>
              <a:gd name="adj" fmla="val 2299"/>
            </a:avLst>
          </a:prstGeom>
          <a:solidFill>
            <a:srgbClr val="FFFFFF"/>
          </a:solidFill>
          <a:ln/>
          <a:effectLst>
            <a:outerShdw sx="100000" sy="100000" kx="0" ky="0" algn="bl" rotWithShape="0" blurRad="88900" dist="19050" dir="5400000">
              <a:srgbClr val="1B2333">
                <a:alpha val="10000"/>
              </a:srgbClr>
            </a:outerShdw>
          </a:effectLst>
        </p:spPr>
      </p:sp>
      <p:sp>
        <p:nvSpPr>
          <p:cNvPr id="19" name="Text 15"/>
          <p:cNvSpPr txBox="1"/>
          <p:nvPr/>
        </p:nvSpPr>
        <p:spPr>
          <a:xfrm>
            <a:off x="6507328" y="1691640"/>
            <a:ext cx="4907128" cy="420624"/>
          </a:xfrm>
          <a:prstGeom prst="roundRect">
            <a:avLst>
              <a:gd name="adj" fmla="val 50000"/>
            </a:avLst>
          </a:prstGeom>
          <a:solidFill>
            <a:srgbClr val="1E8A5F"/>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  Así sí</a:t>
            </a:r>
            <a:endParaRPr lang="en-US" sz="1250" dirty="0"/>
          </a:p>
        </p:txBody>
      </p:sp>
      <p:sp>
        <p:nvSpPr>
          <p:cNvPr id="20" name="Text 16"/>
          <p:cNvSpPr txBox="1"/>
          <p:nvPr/>
        </p:nvSpPr>
        <p:spPr>
          <a:xfrm>
            <a:off x="6507328" y="2286000"/>
            <a:ext cx="4952848" cy="2039112"/>
          </a:xfrm>
          <a:prstGeom prst="rect">
            <a:avLst/>
          </a:prstGeom>
          <a:noFill/>
          <a:ln/>
        </p:spPr>
        <p:txBody>
          <a:bodyPr wrap="square" lIns="25400" tIns="25400" rIns="25400" bIns="25400" rtlCol="0" anchor="t"/>
          <a:lstStyle/>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Tipo + qué hace: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feat:</a:t>
            </a:r>
            <a:pPr algn="l" indent="0" marL="0">
              <a:buNone/>
            </a:pPr>
            <a:r>
              <a:rPr lang="en-US" sz="1500" dirty="0">
                <a:solidFill>
                  <a:srgbClr val="1B2333"/>
                </a:solidFill>
                <a:latin typeface="Segoe UI" pitchFamily="34" charset="0"/>
                <a:ea typeface="Segoe UI" pitchFamily="34" charset="-122"/>
                <a:cs typeface="Segoe UI" pitchFamily="34" charset="-120"/>
              </a:rPr>
              <a:t> (nuevo),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fix:</a:t>
            </a:r>
            <a:pPr algn="l" indent="0" marL="0">
              <a:buNone/>
            </a:pPr>
            <a:r>
              <a:rPr lang="en-US" sz="1500" dirty="0">
                <a:solidFill>
                  <a:srgbClr val="1B2333"/>
                </a:solidFill>
                <a:latin typeface="Segoe UI" pitchFamily="34" charset="0"/>
                <a:ea typeface="Segoe UI" pitchFamily="34" charset="-122"/>
                <a:cs typeface="Segoe UI" pitchFamily="34" charset="-120"/>
              </a:rPr>
              <a:t> (arreglo),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refactor:</a:t>
            </a:r>
            <a:pPr algn="l" indent="0" marL="0">
              <a:buNone/>
            </a:pPr>
            <a:r>
              <a:rPr lang="en-US" sz="1500" dirty="0">
                <a:solidFill>
                  <a:srgbClr val="1B2333"/>
                </a:solidFill>
                <a:latin typeface="Segoe UI" pitchFamily="34" charset="0"/>
                <a:ea typeface="Segoe UI" pitchFamily="34" charset="-122"/>
                <a:cs typeface="Segoe UI" pitchFamily="34" charset="-120"/>
              </a:rPr>
              <a:t>,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docs:</a:t>
            </a:r>
            <a:pPr algn="l" indent="0" marL="0">
              <a:buNone/>
            </a:pPr>
            <a:r>
              <a:rPr lang="en-US" sz="1500" dirty="0">
                <a:solidFill>
                  <a:srgbClr val="1B2333"/>
                </a:solidFill>
                <a:latin typeface="Segoe UI" pitchFamily="34" charset="0"/>
                <a:ea typeface="Segoe UI" pitchFamily="34" charset="-122"/>
                <a:cs typeface="Segoe UI" pitchFamily="34" charset="-120"/>
              </a:rPr>
              <a:t>.</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Commits chicos: una idea por commit, que se puedan revertir sin romper nada.</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Probar antes de commitear: si no corre, no se sube.</a:t>
            </a:r>
            <a:endParaRPr lang="en-US" sz="1500" dirty="0"/>
          </a:p>
        </p:txBody>
      </p:sp>
      <p:sp>
        <p:nvSpPr>
          <p:cNvPr id="21" name="Shape 17"/>
          <p:cNvSpPr/>
          <p:nvPr/>
        </p:nvSpPr>
        <p:spPr>
          <a:xfrm>
            <a:off x="6507328" y="4416552"/>
            <a:ext cx="4907128" cy="795528"/>
          </a:xfrm>
          <a:prstGeom prst="roundRect">
            <a:avLst>
              <a:gd name="adj" fmla="val 11494"/>
            </a:avLst>
          </a:prstGeom>
          <a:solidFill>
            <a:srgbClr val="0D1117"/>
          </a:solidFill>
          <a:ln/>
          <a:effectLst>
            <a:outerShdw sx="100000" sy="100000" kx="0" ky="0" algn="bl" rotWithShape="0" blurRad="88900" dist="19050" dir="5400000">
              <a:srgbClr val="1B2333">
                <a:alpha val="10000"/>
              </a:srgbClr>
            </a:outerShdw>
          </a:effectLst>
        </p:spPr>
      </p:sp>
      <p:sp>
        <p:nvSpPr>
          <p:cNvPr id="22" name="Shape 18"/>
          <p:cNvSpPr/>
          <p:nvPr/>
        </p:nvSpPr>
        <p:spPr>
          <a:xfrm>
            <a:off x="6690208" y="4562856"/>
            <a:ext cx="109728" cy="109728"/>
          </a:xfrm>
          <a:prstGeom prst="ellipse">
            <a:avLst/>
          </a:prstGeom>
          <a:solidFill>
            <a:srgbClr val="FF5F57"/>
          </a:solidFill>
          <a:ln/>
        </p:spPr>
      </p:sp>
      <p:sp>
        <p:nvSpPr>
          <p:cNvPr id="23" name="Shape 19"/>
          <p:cNvSpPr/>
          <p:nvPr/>
        </p:nvSpPr>
        <p:spPr>
          <a:xfrm>
            <a:off x="6873088" y="4562856"/>
            <a:ext cx="109728" cy="109728"/>
          </a:xfrm>
          <a:prstGeom prst="ellipse">
            <a:avLst/>
          </a:prstGeom>
          <a:solidFill>
            <a:srgbClr val="FEBC2E"/>
          </a:solidFill>
          <a:ln/>
        </p:spPr>
      </p:sp>
      <p:sp>
        <p:nvSpPr>
          <p:cNvPr id="24" name="Shape 20"/>
          <p:cNvSpPr/>
          <p:nvPr/>
        </p:nvSpPr>
        <p:spPr>
          <a:xfrm>
            <a:off x="7055968" y="4562856"/>
            <a:ext cx="109728" cy="109728"/>
          </a:xfrm>
          <a:prstGeom prst="ellipse">
            <a:avLst/>
          </a:prstGeom>
          <a:solidFill>
            <a:srgbClr val="28C840"/>
          </a:solidFill>
          <a:ln/>
        </p:spPr>
      </p:sp>
      <p:sp>
        <p:nvSpPr>
          <p:cNvPr id="25" name="Text 21"/>
          <p:cNvSpPr txBox="1"/>
          <p:nvPr/>
        </p:nvSpPr>
        <p:spPr>
          <a:xfrm>
            <a:off x="7284568" y="4471416"/>
            <a:ext cx="3992728"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python</a:t>
            </a:r>
            <a:endParaRPr lang="en-US" sz="1050" dirty="0"/>
          </a:p>
        </p:txBody>
      </p:sp>
      <p:sp>
        <p:nvSpPr>
          <p:cNvPr id="26" name="Text 22"/>
          <p:cNvSpPr txBox="1"/>
          <p:nvPr/>
        </p:nvSpPr>
        <p:spPr>
          <a:xfrm>
            <a:off x="6617056" y="4873752"/>
            <a:ext cx="216408" cy="228600"/>
          </a:xfrm>
          <a:prstGeom prst="rect">
            <a:avLst/>
          </a:prstGeom>
          <a:noFill/>
          <a:ln/>
        </p:spPr>
        <p:txBody>
          <a:bodyPr wrap="square" lIns="0" tIns="0" rIns="0" bIns="0" rtlCol="0" anchor="t"/>
          <a:lstStyle/>
          <a:p>
            <a:pPr algn="r" indent="0" marL="0">
              <a:lnSpc>
                <a:spcPts val="1750"/>
              </a:lnSpc>
              <a:buNone/>
            </a:pPr>
            <a:r>
              <a:rPr lang="en-US" sz="1400" dirty="0">
                <a:solidFill>
                  <a:srgbClr val="6E7681"/>
                </a:solidFill>
                <a:latin typeface="Consolas" pitchFamily="34" charset="0"/>
                <a:ea typeface="Consolas" pitchFamily="34" charset="-122"/>
                <a:cs typeface="Consolas" pitchFamily="34" charset="-120"/>
              </a:rPr>
              <a:t>1</a:t>
            </a:r>
            <a:endParaRPr lang="en-US" sz="1400" dirty="0"/>
          </a:p>
        </p:txBody>
      </p:sp>
      <p:sp>
        <p:nvSpPr>
          <p:cNvPr id="27" name="Text 23"/>
          <p:cNvSpPr txBox="1"/>
          <p:nvPr/>
        </p:nvSpPr>
        <p:spPr>
          <a:xfrm>
            <a:off x="6979768" y="4873752"/>
            <a:ext cx="4370680" cy="228600"/>
          </a:xfrm>
          <a:prstGeom prst="rect">
            <a:avLst/>
          </a:prstGeom>
          <a:noFill/>
          <a:ln/>
        </p:spPr>
        <p:txBody>
          <a:bodyPr wrap="none" lIns="0" tIns="0" rIns="0" bIns="0" rtlCol="0" anchor="t"/>
          <a:lstStyle/>
          <a:p>
            <a:pPr algn="l" indent="0" marL="0">
              <a:lnSpc>
                <a:spcPts val="1750"/>
              </a:lnSpc>
              <a:buNone/>
            </a:pPr>
            <a:r>
              <a:rPr lang="en-US" sz="1400" dirty="0">
                <a:solidFill>
                  <a:srgbClr val="E6EDF3"/>
                </a:solidFill>
                <a:latin typeface="Consolas" pitchFamily="34" charset="0"/>
                <a:ea typeface="Consolas" pitchFamily="34" charset="-122"/>
                <a:cs typeface="Consolas" pitchFamily="34" charset="-120"/>
              </a:rPr>
              <a:t>git commit -m </a:t>
            </a:r>
            <a:pPr algn="l" indent="0" marL="0">
              <a:lnSpc>
                <a:spcPts val="1750"/>
              </a:lnSpc>
              <a:buNone/>
            </a:pPr>
            <a:r>
              <a:rPr lang="en-US" sz="1400" dirty="0">
                <a:solidFill>
                  <a:srgbClr val="A5D6FF"/>
                </a:solidFill>
                <a:latin typeface="Consolas" pitchFamily="34" charset="0"/>
                <a:ea typeface="Consolas" pitchFamily="34" charset="-122"/>
                <a:cs typeface="Consolas" pitchFamily="34" charset="-120"/>
              </a:rPr>
              <a:t>"fix: valida notas de 0 a 10"</a:t>
            </a:r>
            <a:endParaRPr lang="en-US" sz="1400" dirty="0"/>
          </a:p>
        </p:txBody>
      </p:sp>
      <p:sp>
        <p:nvSpPr>
          <p:cNvPr id="28" name="Shape 24"/>
          <p:cNvSpPr/>
          <p:nvPr/>
        </p:nvSpPr>
        <p:spPr>
          <a:xfrm>
            <a:off x="548640" y="5650992"/>
            <a:ext cx="11094415" cy="566928"/>
          </a:xfrm>
          <a:prstGeom prst="roundRect">
            <a:avLst>
              <a:gd name="adj" fmla="val 12903"/>
            </a:avLst>
          </a:prstGeom>
          <a:solidFill>
            <a:srgbClr val="FFF4C7"/>
          </a:solidFill>
          <a:ln/>
        </p:spPr>
      </p:sp>
      <p:sp>
        <p:nvSpPr>
          <p:cNvPr id="29" name="Text 25"/>
          <p:cNvSpPr txBox="1"/>
          <p:nvPr/>
        </p:nvSpPr>
        <p:spPr>
          <a:xfrm>
            <a:off x="694944" y="5724144"/>
            <a:ext cx="420624" cy="420624"/>
          </a:xfrm>
          <a:prstGeom prst="rect">
            <a:avLst/>
          </a:prstGeom>
          <a:noFill/>
          <a:ln/>
        </p:spPr>
        <p:txBody>
          <a:bodyPr wrap="square" lIns="0" tIns="0" rIns="0" bIns="0" rtlCol="0" anchor="ctr"/>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30" name="Text 26"/>
          <p:cNvSpPr txBox="1"/>
          <p:nvPr/>
        </p:nvSpPr>
        <p:spPr>
          <a:xfrm>
            <a:off x="1170432" y="5678424"/>
            <a:ext cx="10317175" cy="512064"/>
          </a:xfrm>
          <a:prstGeom prst="rect">
            <a:avLst/>
          </a:prstGeom>
          <a:noFill/>
          <a:ln/>
        </p:spPr>
        <p:txBody>
          <a:bodyPr wrap="square" lIns="0" tIns="0" rIns="0" bIns="0" rtlCol="0" anchor="ctr"/>
          <a:lstStyle/>
          <a:p>
            <a:pPr algn="l" indent="0" marL="0">
              <a:buNone/>
            </a:pPr>
            <a:r>
              <a:rPr lang="en-US" sz="1350" dirty="0">
                <a:solidFill>
                  <a:srgbClr val="1B2333"/>
                </a:solidFill>
                <a:latin typeface="Segoe UI" pitchFamily="34" charset="0"/>
                <a:ea typeface="Segoe UI" pitchFamily="34" charset="-122"/>
                <a:cs typeface="Segoe UI" pitchFamily="34" charset="-120"/>
              </a:rPr>
              <a:t>El historial de commits es el diario del proyecto. En el coloquio se mira: muestra quién trabajó, cuándo y en qué.</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ORGANIZACIÓN</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Issues: repartir las tareas del equipo</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11 / 23</a:t>
            </a:r>
            <a:endParaRPr lang="en-US" sz="900" dirty="0"/>
          </a:p>
        </p:txBody>
      </p:sp>
      <p:sp>
        <p:nvSpPr>
          <p:cNvPr id="8" name="Shape 4"/>
          <p:cNvSpPr/>
          <p:nvPr/>
        </p:nvSpPr>
        <p:spPr>
          <a:xfrm>
            <a:off x="548640" y="1463040"/>
            <a:ext cx="5410048" cy="1851660"/>
          </a:xfrm>
          <a:prstGeom prst="roundRect">
            <a:avLst>
              <a:gd name="adj" fmla="val 4938"/>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691640"/>
            <a:ext cx="530352" cy="530352"/>
          </a:xfrm>
          <a:prstGeom prst="ellipse">
            <a:avLst/>
          </a:prstGeom>
          <a:solidFill>
            <a:srgbClr val="E7EFF8"/>
          </a:solidFill>
          <a:ln/>
        </p:spPr>
        <p:txBody>
          <a:bodyPr wrap="square" lIns="0" tIns="0" rIns="0" bIns="0" rtlCol="0" anchor="ctr"/>
          <a:lstStyle/>
          <a:p>
            <a:pPr algn="ctr" indent="0" marL="0">
              <a:buNone/>
            </a:pPr>
            <a:r>
              <a:rPr lang="en-US" sz="1700" b="1" dirty="0">
                <a:solidFill>
                  <a:srgbClr val="2B5B84"/>
                </a:solidFill>
                <a:latin typeface="Segoe UI Emoji" pitchFamily="34" charset="0"/>
                <a:ea typeface="Segoe UI Emoji" pitchFamily="34" charset="-122"/>
                <a:cs typeface="Segoe UI Emoji" pitchFamily="34" charset="-120"/>
              </a:rPr>
              <a:t>📌</a:t>
            </a:r>
            <a:endParaRPr lang="en-US" sz="1700" dirty="0"/>
          </a:p>
        </p:txBody>
      </p:sp>
      <p:sp>
        <p:nvSpPr>
          <p:cNvPr id="10" name="Text 6"/>
          <p:cNvSpPr txBox="1"/>
          <p:nvPr/>
        </p:nvSpPr>
        <p:spPr>
          <a:xfrm>
            <a:off x="1417320" y="1664208"/>
            <a:ext cx="4358488" cy="585216"/>
          </a:xfrm>
          <a:prstGeom prst="rect">
            <a:avLst/>
          </a:prstGeom>
          <a:noFill/>
          <a:ln/>
        </p:spPr>
        <p:txBody>
          <a:bodyPr wrap="square" lIns="0" tIns="0" rIns="0" bIns="0" rtlCol="0" anchor="ctr"/>
          <a:lstStyle/>
          <a:p>
            <a:pPr algn="l" indent="0" marL="0">
              <a:buNone/>
            </a:pPr>
            <a:r>
              <a:rPr lang="en-US" sz="1550" b="1" dirty="0">
                <a:solidFill>
                  <a:srgbClr val="1B2333"/>
                </a:solidFill>
                <a:latin typeface="Segoe UI" pitchFamily="34" charset="0"/>
                <a:ea typeface="Segoe UI" pitchFamily="34" charset="-122"/>
                <a:cs typeface="Segoe UI" pitchFamily="34" charset="-120"/>
              </a:rPr>
              <a:t>¿Qué es un issue?</a:t>
            </a:r>
            <a:endParaRPr lang="en-US" sz="1550" dirty="0"/>
          </a:p>
        </p:txBody>
      </p:sp>
      <p:sp>
        <p:nvSpPr>
          <p:cNvPr id="11" name="Text 7"/>
          <p:cNvSpPr txBox="1"/>
          <p:nvPr/>
        </p:nvSpPr>
        <p:spPr>
          <a:xfrm>
            <a:off x="777240" y="2359152"/>
            <a:ext cx="4998568" cy="845820"/>
          </a:xfrm>
          <a:prstGeom prst="rect">
            <a:avLst/>
          </a:prstGeom>
          <a:noFill/>
          <a:ln/>
        </p:spPr>
        <p:txBody>
          <a:bodyPr wrap="square" lIns="0" tIns="0" rIns="0" bIns="0" rtlCol="0" anchor="t"/>
          <a:lstStyle/>
          <a:p>
            <a:pPr algn="l" indent="0" marL="0">
              <a:buNone/>
            </a:pPr>
            <a:r>
              <a:rPr lang="en-US" sz="1400" dirty="0">
                <a:solidFill>
                  <a:srgbClr val="4F5A6D"/>
                </a:solidFill>
                <a:latin typeface="Segoe UI" pitchFamily="34" charset="0"/>
                <a:ea typeface="Segoe UI" pitchFamily="34" charset="-122"/>
                <a:cs typeface="Segoe UI" pitchFamily="34" charset="-120"/>
              </a:rPr>
              <a:t>Una ficha en la pestaña Issues de GitHub que describe </a:t>
            </a:r>
            <a:pPr algn="l" indent="0" marL="0">
              <a:buNone/>
            </a:pPr>
            <a:r>
              <a:rPr lang="en-US" sz="1400" b="1" dirty="0">
                <a:solidFill>
                  <a:srgbClr val="4F5A6D"/>
                </a:solidFill>
                <a:latin typeface="Segoe UI" pitchFamily="34" charset="0"/>
                <a:ea typeface="Segoe UI" pitchFamily="34" charset="-122"/>
                <a:cs typeface="Segoe UI" pitchFamily="34" charset="-120"/>
              </a:rPr>
              <a:t>una tarea</a:t>
            </a:r>
            <a:pPr algn="l" indent="0" marL="0">
              <a:buNone/>
            </a:pPr>
            <a:r>
              <a:rPr lang="en-US" sz="1400" dirty="0">
                <a:solidFill>
                  <a:srgbClr val="4F5A6D"/>
                </a:solidFill>
                <a:latin typeface="Segoe UI" pitchFamily="34" charset="0"/>
                <a:ea typeface="Segoe UI" pitchFamily="34" charset="-122"/>
                <a:cs typeface="Segoe UI" pitchFamily="34" charset="-120"/>
              </a:rPr>
              <a:t>, un error o una mejora. Tiene título, descripción, comentarios y un número (#3).</a:t>
            </a:r>
            <a:endParaRPr lang="en-US" sz="1400" dirty="0"/>
          </a:p>
        </p:txBody>
      </p:sp>
      <p:sp>
        <p:nvSpPr>
          <p:cNvPr id="12" name="Shape 8"/>
          <p:cNvSpPr/>
          <p:nvPr/>
        </p:nvSpPr>
        <p:spPr>
          <a:xfrm>
            <a:off x="6233008" y="1463040"/>
            <a:ext cx="5410048" cy="1851660"/>
          </a:xfrm>
          <a:prstGeom prst="roundRect">
            <a:avLst>
              <a:gd name="adj" fmla="val 4938"/>
            </a:avLst>
          </a:prstGeom>
          <a:solidFill>
            <a:srgbClr val="FFFFFF"/>
          </a:solidFill>
          <a:ln/>
          <a:effectLst>
            <a:outerShdw sx="100000" sy="100000" kx="0" ky="0" algn="bl" rotWithShape="0" blurRad="88900" dist="19050" dir="5400000">
              <a:srgbClr val="1B2333">
                <a:alpha val="10000"/>
              </a:srgbClr>
            </a:outerShdw>
          </a:effectLst>
        </p:spPr>
      </p:sp>
      <p:sp>
        <p:nvSpPr>
          <p:cNvPr id="13" name="Text 9"/>
          <p:cNvSpPr txBox="1"/>
          <p:nvPr/>
        </p:nvSpPr>
        <p:spPr>
          <a:xfrm>
            <a:off x="6461608" y="1691640"/>
            <a:ext cx="530352" cy="530352"/>
          </a:xfrm>
          <a:prstGeom prst="ellipse">
            <a:avLst/>
          </a:prstGeom>
          <a:solidFill>
            <a:srgbClr val="E7EFF8"/>
          </a:solidFill>
          <a:ln/>
        </p:spPr>
        <p:txBody>
          <a:bodyPr wrap="square" lIns="0" tIns="0" rIns="0" bIns="0" rtlCol="0" anchor="ctr"/>
          <a:lstStyle/>
          <a:p>
            <a:pPr algn="ctr" indent="0" marL="0">
              <a:buNone/>
            </a:pPr>
            <a:r>
              <a:rPr lang="en-US" sz="1700" b="1" dirty="0">
                <a:solidFill>
                  <a:srgbClr val="2B5B84"/>
                </a:solidFill>
                <a:latin typeface="Segoe UI Emoji" pitchFamily="34" charset="0"/>
                <a:ea typeface="Segoe UI Emoji" pitchFamily="34" charset="-122"/>
                <a:cs typeface="Segoe UI Emoji" pitchFamily="34" charset="-120"/>
              </a:rPr>
              <a:t>✂️</a:t>
            </a:r>
            <a:endParaRPr lang="en-US" sz="1700" dirty="0"/>
          </a:p>
        </p:txBody>
      </p:sp>
      <p:sp>
        <p:nvSpPr>
          <p:cNvPr id="14" name="Text 10"/>
          <p:cNvSpPr txBox="1"/>
          <p:nvPr/>
        </p:nvSpPr>
        <p:spPr>
          <a:xfrm>
            <a:off x="7101688" y="1664208"/>
            <a:ext cx="4358488" cy="585216"/>
          </a:xfrm>
          <a:prstGeom prst="rect">
            <a:avLst/>
          </a:prstGeom>
          <a:noFill/>
          <a:ln/>
        </p:spPr>
        <p:txBody>
          <a:bodyPr wrap="square" lIns="0" tIns="0" rIns="0" bIns="0" rtlCol="0" anchor="ctr"/>
          <a:lstStyle/>
          <a:p>
            <a:pPr algn="l" indent="0" marL="0">
              <a:buNone/>
            </a:pPr>
            <a:r>
              <a:rPr lang="en-US" sz="1550" b="1" dirty="0">
                <a:solidFill>
                  <a:srgbClr val="1B2333"/>
                </a:solidFill>
                <a:latin typeface="Segoe UI" pitchFamily="34" charset="0"/>
                <a:ea typeface="Segoe UI" pitchFamily="34" charset="-122"/>
                <a:cs typeface="Segoe UI" pitchFamily="34" charset="-120"/>
              </a:rPr>
              <a:t>Una tarea por issue</a:t>
            </a:r>
            <a:endParaRPr lang="en-US" sz="1550" dirty="0"/>
          </a:p>
        </p:txBody>
      </p:sp>
      <p:sp>
        <p:nvSpPr>
          <p:cNvPr id="15" name="Text 11"/>
          <p:cNvSpPr txBox="1"/>
          <p:nvPr/>
        </p:nvSpPr>
        <p:spPr>
          <a:xfrm>
            <a:off x="6461608" y="2359152"/>
            <a:ext cx="4998568" cy="845820"/>
          </a:xfrm>
          <a:prstGeom prst="rect">
            <a:avLst/>
          </a:prstGeom>
          <a:noFill/>
          <a:ln/>
        </p:spPr>
        <p:txBody>
          <a:bodyPr wrap="square" lIns="0" tIns="0" rIns="0" bIns="0" rtlCol="0" anchor="t"/>
          <a:lstStyle/>
          <a:p>
            <a:pPr algn="l" indent="0" marL="0">
              <a:buNone/>
            </a:pPr>
            <a:r>
              <a:rPr lang="en-US" sz="1400" dirty="0">
                <a:solidFill>
                  <a:srgbClr val="4F5A6D"/>
                </a:solidFill>
                <a:latin typeface="Segoe UI" pitchFamily="34" charset="0"/>
                <a:ea typeface="Segoe UI" pitchFamily="34" charset="-122"/>
                <a:cs typeface="Segoe UI" pitchFamily="34" charset="-120"/>
              </a:rPr>
              <a:t>Partí el proyecto en piezas chicas: "Opción 2: listado ordenado", "Validar notas", "Escribir el README". Cada pieza se puede hacer en una rama propia.</a:t>
            </a:r>
            <a:endParaRPr lang="en-US" sz="1400" dirty="0"/>
          </a:p>
        </p:txBody>
      </p:sp>
      <p:sp>
        <p:nvSpPr>
          <p:cNvPr id="16" name="Shape 12"/>
          <p:cNvSpPr/>
          <p:nvPr/>
        </p:nvSpPr>
        <p:spPr>
          <a:xfrm>
            <a:off x="548640" y="3589020"/>
            <a:ext cx="5410048" cy="1851660"/>
          </a:xfrm>
          <a:prstGeom prst="roundRect">
            <a:avLst>
              <a:gd name="adj" fmla="val 4938"/>
            </a:avLst>
          </a:prstGeom>
          <a:solidFill>
            <a:srgbClr val="FFFFFF"/>
          </a:solidFill>
          <a:ln/>
          <a:effectLst>
            <a:outerShdw sx="100000" sy="100000" kx="0" ky="0" algn="bl" rotWithShape="0" blurRad="88900" dist="19050" dir="5400000">
              <a:srgbClr val="1B2333">
                <a:alpha val="10000"/>
              </a:srgbClr>
            </a:outerShdw>
          </a:effectLst>
        </p:spPr>
      </p:sp>
      <p:sp>
        <p:nvSpPr>
          <p:cNvPr id="17" name="Text 13"/>
          <p:cNvSpPr txBox="1"/>
          <p:nvPr/>
        </p:nvSpPr>
        <p:spPr>
          <a:xfrm>
            <a:off x="777240" y="3817620"/>
            <a:ext cx="530352" cy="530352"/>
          </a:xfrm>
          <a:prstGeom prst="ellipse">
            <a:avLst/>
          </a:prstGeom>
          <a:solidFill>
            <a:srgbClr val="E7EFF8"/>
          </a:solidFill>
          <a:ln/>
        </p:spPr>
        <p:txBody>
          <a:bodyPr wrap="square" lIns="0" tIns="0" rIns="0" bIns="0" rtlCol="0" anchor="ctr"/>
          <a:lstStyle/>
          <a:p>
            <a:pPr algn="ctr" indent="0" marL="0">
              <a:buNone/>
            </a:pPr>
            <a:r>
              <a:rPr lang="en-US" sz="1700" b="1" dirty="0">
                <a:solidFill>
                  <a:srgbClr val="2B5B84"/>
                </a:solidFill>
                <a:latin typeface="Segoe UI Emoji" pitchFamily="34" charset="0"/>
                <a:ea typeface="Segoe UI Emoji" pitchFamily="34" charset="-122"/>
                <a:cs typeface="Segoe UI Emoji" pitchFamily="34" charset="-120"/>
              </a:rPr>
              <a:t>🙋</a:t>
            </a:r>
            <a:endParaRPr lang="en-US" sz="1700" dirty="0"/>
          </a:p>
        </p:txBody>
      </p:sp>
      <p:sp>
        <p:nvSpPr>
          <p:cNvPr id="18" name="Text 14"/>
          <p:cNvSpPr txBox="1"/>
          <p:nvPr/>
        </p:nvSpPr>
        <p:spPr>
          <a:xfrm>
            <a:off x="1417320" y="3790188"/>
            <a:ext cx="4358488" cy="585216"/>
          </a:xfrm>
          <a:prstGeom prst="rect">
            <a:avLst/>
          </a:prstGeom>
          <a:noFill/>
          <a:ln/>
        </p:spPr>
        <p:txBody>
          <a:bodyPr wrap="square" lIns="0" tIns="0" rIns="0" bIns="0" rtlCol="0" anchor="ctr"/>
          <a:lstStyle/>
          <a:p>
            <a:pPr algn="l" indent="0" marL="0">
              <a:buNone/>
            </a:pPr>
            <a:r>
              <a:rPr lang="en-US" sz="1550" b="1" dirty="0">
                <a:solidFill>
                  <a:srgbClr val="1B2333"/>
                </a:solidFill>
                <a:latin typeface="Segoe UI" pitchFamily="34" charset="0"/>
                <a:ea typeface="Segoe UI" pitchFamily="34" charset="-122"/>
                <a:cs typeface="Segoe UI" pitchFamily="34" charset="-120"/>
              </a:rPr>
              <a:t>Un responsable</a:t>
            </a:r>
            <a:endParaRPr lang="en-US" sz="1550" dirty="0"/>
          </a:p>
        </p:txBody>
      </p:sp>
      <p:sp>
        <p:nvSpPr>
          <p:cNvPr id="19" name="Text 15"/>
          <p:cNvSpPr txBox="1"/>
          <p:nvPr/>
        </p:nvSpPr>
        <p:spPr>
          <a:xfrm>
            <a:off x="777240" y="4485132"/>
            <a:ext cx="4998568" cy="845820"/>
          </a:xfrm>
          <a:prstGeom prst="rect">
            <a:avLst/>
          </a:prstGeom>
          <a:noFill/>
          <a:ln/>
        </p:spPr>
        <p:txBody>
          <a:bodyPr wrap="square" lIns="0" tIns="0" rIns="0" bIns="0" rtlCol="0" anchor="t"/>
          <a:lstStyle/>
          <a:p>
            <a:pPr algn="l" indent="0" marL="0">
              <a:buNone/>
            </a:pPr>
            <a:r>
              <a:rPr lang="en-US" sz="1400" dirty="0">
                <a:solidFill>
                  <a:srgbClr val="4F5A6D"/>
                </a:solidFill>
                <a:latin typeface="Segoe UI" pitchFamily="34" charset="0"/>
                <a:ea typeface="Segoe UI" pitchFamily="34" charset="-122"/>
                <a:cs typeface="Segoe UI" pitchFamily="34" charset="-120"/>
              </a:rPr>
              <a:t>Cada issue se </a:t>
            </a:r>
            <a:pPr algn="l" indent="0" marL="0">
              <a:buNone/>
            </a:pPr>
            <a:r>
              <a:rPr lang="en-US" sz="1400" b="1" dirty="0">
                <a:solidFill>
                  <a:srgbClr val="4F5A6D"/>
                </a:solidFill>
                <a:latin typeface="Segoe UI" pitchFamily="34" charset="0"/>
                <a:ea typeface="Segoe UI" pitchFamily="34" charset="-122"/>
                <a:cs typeface="Segoe UI" pitchFamily="34" charset="-120"/>
              </a:rPr>
              <a:t>asigna</a:t>
            </a:r>
            <a:pPr algn="l" indent="0" marL="0">
              <a:buNone/>
            </a:pPr>
            <a:r>
              <a:rPr lang="en-US" sz="1400" dirty="0">
                <a:solidFill>
                  <a:srgbClr val="4F5A6D"/>
                </a:solidFill>
                <a:latin typeface="Segoe UI" pitchFamily="34" charset="0"/>
                <a:ea typeface="Segoe UI" pitchFamily="34" charset="-122"/>
                <a:cs typeface="Segoe UI" pitchFamily="34" charset="-120"/>
              </a:rPr>
              <a:t> (Assignees) a un integrante. Así nadie hace dos veces lo mismo y nadie se queda sin tarea.</a:t>
            </a:r>
            <a:endParaRPr lang="en-US" sz="1400" dirty="0"/>
          </a:p>
        </p:txBody>
      </p:sp>
      <p:sp>
        <p:nvSpPr>
          <p:cNvPr id="20" name="Shape 16"/>
          <p:cNvSpPr/>
          <p:nvPr/>
        </p:nvSpPr>
        <p:spPr>
          <a:xfrm>
            <a:off x="6233008" y="3589020"/>
            <a:ext cx="5410048" cy="1851660"/>
          </a:xfrm>
          <a:prstGeom prst="roundRect">
            <a:avLst>
              <a:gd name="adj" fmla="val 4938"/>
            </a:avLst>
          </a:prstGeom>
          <a:solidFill>
            <a:srgbClr val="FFFFFF"/>
          </a:solidFill>
          <a:ln/>
          <a:effectLst>
            <a:outerShdw sx="100000" sy="100000" kx="0" ky="0" algn="bl" rotWithShape="0" blurRad="88900" dist="19050" dir="5400000">
              <a:srgbClr val="1B2333">
                <a:alpha val="10000"/>
              </a:srgbClr>
            </a:outerShdw>
          </a:effectLst>
        </p:spPr>
      </p:sp>
      <p:sp>
        <p:nvSpPr>
          <p:cNvPr id="21" name="Text 17"/>
          <p:cNvSpPr txBox="1"/>
          <p:nvPr/>
        </p:nvSpPr>
        <p:spPr>
          <a:xfrm>
            <a:off x="6461608" y="3817620"/>
            <a:ext cx="530352" cy="530352"/>
          </a:xfrm>
          <a:prstGeom prst="ellipse">
            <a:avLst/>
          </a:prstGeom>
          <a:solidFill>
            <a:srgbClr val="E7EFF8"/>
          </a:solidFill>
          <a:ln/>
        </p:spPr>
        <p:txBody>
          <a:bodyPr wrap="square" lIns="0" tIns="0" rIns="0" bIns="0" rtlCol="0" anchor="ctr"/>
          <a:lstStyle/>
          <a:p>
            <a:pPr algn="ctr" indent="0" marL="0">
              <a:buNone/>
            </a:pPr>
            <a:r>
              <a:rPr lang="en-US" sz="1700" b="1" dirty="0">
                <a:solidFill>
                  <a:srgbClr val="2B5B84"/>
                </a:solidFill>
                <a:latin typeface="Segoe UI Emoji" pitchFamily="34" charset="0"/>
                <a:ea typeface="Segoe UI Emoji" pitchFamily="34" charset="-122"/>
                <a:cs typeface="Segoe UI Emoji" pitchFamily="34" charset="-120"/>
              </a:rPr>
              <a:t>🔗</a:t>
            </a:r>
            <a:endParaRPr lang="en-US" sz="1700" dirty="0"/>
          </a:p>
        </p:txBody>
      </p:sp>
      <p:sp>
        <p:nvSpPr>
          <p:cNvPr id="22" name="Text 18"/>
          <p:cNvSpPr txBox="1"/>
          <p:nvPr/>
        </p:nvSpPr>
        <p:spPr>
          <a:xfrm>
            <a:off x="7101688" y="3790188"/>
            <a:ext cx="4358488" cy="585216"/>
          </a:xfrm>
          <a:prstGeom prst="rect">
            <a:avLst/>
          </a:prstGeom>
          <a:noFill/>
          <a:ln/>
        </p:spPr>
        <p:txBody>
          <a:bodyPr wrap="square" lIns="0" tIns="0" rIns="0" bIns="0" rtlCol="0" anchor="ctr"/>
          <a:lstStyle/>
          <a:p>
            <a:pPr algn="l" indent="0" marL="0">
              <a:buNone/>
            </a:pPr>
            <a:r>
              <a:rPr lang="en-US" sz="1550" b="1" dirty="0">
                <a:solidFill>
                  <a:srgbClr val="1B2333"/>
                </a:solidFill>
                <a:latin typeface="Segoe UI" pitchFamily="34" charset="0"/>
                <a:ea typeface="Segoe UI" pitchFamily="34" charset="-122"/>
                <a:cs typeface="Segoe UI" pitchFamily="34" charset="-120"/>
              </a:rPr>
              <a:t>Cerrar con el PR</a:t>
            </a:r>
            <a:endParaRPr lang="en-US" sz="1550" dirty="0"/>
          </a:p>
        </p:txBody>
      </p:sp>
      <p:sp>
        <p:nvSpPr>
          <p:cNvPr id="23" name="Text 19"/>
          <p:cNvSpPr txBox="1"/>
          <p:nvPr/>
        </p:nvSpPr>
        <p:spPr>
          <a:xfrm>
            <a:off x="6461608" y="4485132"/>
            <a:ext cx="4998568" cy="845820"/>
          </a:xfrm>
          <a:prstGeom prst="rect">
            <a:avLst/>
          </a:prstGeom>
          <a:noFill/>
          <a:ln/>
        </p:spPr>
        <p:txBody>
          <a:bodyPr wrap="square" lIns="0" tIns="0" rIns="0" bIns="0" rtlCol="0" anchor="t"/>
          <a:lstStyle/>
          <a:p>
            <a:pPr algn="l" indent="0" marL="0">
              <a:buNone/>
            </a:pPr>
            <a:r>
              <a:rPr lang="en-US" sz="1400" dirty="0">
                <a:solidFill>
                  <a:srgbClr val="4F5A6D"/>
                </a:solidFill>
                <a:latin typeface="Segoe UI" pitchFamily="34" charset="0"/>
                <a:ea typeface="Segoe UI" pitchFamily="34" charset="-122"/>
                <a:cs typeface="Segoe UI" pitchFamily="34" charset="-120"/>
              </a:rPr>
              <a:t>Si la descripción del Pull Request dice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Closes #3</a:t>
            </a:r>
            <a:pPr algn="l" indent="0" marL="0">
              <a:buNone/>
            </a:pPr>
            <a:r>
              <a:rPr lang="en-US" sz="1400" dirty="0">
                <a:solidFill>
                  <a:srgbClr val="4F5A6D"/>
                </a:solidFill>
                <a:latin typeface="Segoe UI" pitchFamily="34" charset="0"/>
                <a:ea typeface="Segoe UI" pitchFamily="34" charset="-122"/>
                <a:cs typeface="Segoe UI" pitchFamily="34" charset="-120"/>
              </a:rPr>
              <a:t>, al hacer el merge en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400" dirty="0">
                <a:solidFill>
                  <a:srgbClr val="4F5A6D"/>
                </a:solidFill>
                <a:latin typeface="Segoe UI" pitchFamily="34" charset="0"/>
                <a:ea typeface="Segoe UI" pitchFamily="34" charset="-122"/>
                <a:cs typeface="Segoe UI" pitchFamily="34" charset="-120"/>
              </a:rPr>
              <a:t> GitHub cierra el issue solo y queda el vínculo tarea-código.</a:t>
            </a:r>
            <a:endParaRPr lang="en-US" sz="1400" dirty="0"/>
          </a:p>
        </p:txBody>
      </p:sp>
      <p:sp>
        <p:nvSpPr>
          <p:cNvPr id="24" name="Shape 20"/>
          <p:cNvSpPr/>
          <p:nvPr/>
        </p:nvSpPr>
        <p:spPr>
          <a:xfrm>
            <a:off x="548640" y="5650992"/>
            <a:ext cx="11094415" cy="566928"/>
          </a:xfrm>
          <a:prstGeom prst="roundRect">
            <a:avLst>
              <a:gd name="adj" fmla="val 12903"/>
            </a:avLst>
          </a:prstGeom>
          <a:solidFill>
            <a:srgbClr val="FFF4C7"/>
          </a:solidFill>
          <a:ln/>
        </p:spPr>
      </p:sp>
      <p:sp>
        <p:nvSpPr>
          <p:cNvPr id="25" name="Text 21"/>
          <p:cNvSpPr txBox="1"/>
          <p:nvPr/>
        </p:nvSpPr>
        <p:spPr>
          <a:xfrm>
            <a:off x="694944" y="5724144"/>
            <a:ext cx="420624" cy="420624"/>
          </a:xfrm>
          <a:prstGeom prst="rect">
            <a:avLst/>
          </a:prstGeom>
          <a:noFill/>
          <a:ln/>
        </p:spPr>
        <p:txBody>
          <a:bodyPr wrap="square" lIns="0" tIns="0" rIns="0" bIns="0" rtlCol="0" anchor="ctr"/>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26" name="Text 22"/>
          <p:cNvSpPr txBox="1"/>
          <p:nvPr/>
        </p:nvSpPr>
        <p:spPr>
          <a:xfrm>
            <a:off x="1170432" y="5678424"/>
            <a:ext cx="10317175" cy="512064"/>
          </a:xfrm>
          <a:prstGeom prst="rect">
            <a:avLst/>
          </a:prstGeom>
          <a:noFill/>
          <a:ln/>
        </p:spPr>
        <p:txBody>
          <a:bodyPr wrap="square" lIns="0" tIns="0" rIns="0" bIns="0" rtlCol="0" anchor="ctr"/>
          <a:lstStyle/>
          <a:p>
            <a:pPr algn="l" indent="0" marL="0">
              <a:buNone/>
            </a:pPr>
            <a:r>
              <a:rPr lang="en-US" sz="1350" dirty="0">
                <a:solidFill>
                  <a:srgbClr val="1B2333"/>
                </a:solidFill>
                <a:latin typeface="Segoe UI" pitchFamily="34" charset="0"/>
                <a:ea typeface="Segoe UI" pitchFamily="34" charset="-122"/>
                <a:cs typeface="Segoe UI" pitchFamily="34" charset="-120"/>
              </a:rPr>
              <a:t>Pensalo como la lista de un asado: quién trae la carne, quién el carbón, quién las bebidas. Sin lista, llegan tres con carbón y nadie con carne.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CÓDIGO DEL PROYECTO</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400" b="1" dirty="0">
                <a:solidFill>
                  <a:srgbClr val="1B2333"/>
                </a:solidFill>
                <a:latin typeface="Segoe UI" pitchFamily="34" charset="0"/>
                <a:ea typeface="Segoe UI" pitchFamily="34" charset="-122"/>
                <a:cs typeface="Segoe UI" pitchFamily="34" charset="-120"/>
              </a:rPr>
              <a:t>clase27_plantilla_proyecto.py: el menú marca cómo repartir</a:t>
            </a:r>
            <a:endParaRPr lang="en-US" sz="24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12 / 23</a:t>
            </a:r>
            <a:endParaRPr lang="en-US" sz="900" dirty="0"/>
          </a:p>
        </p:txBody>
      </p:sp>
      <p:sp>
        <p:nvSpPr>
          <p:cNvPr id="8" name="Shape 4"/>
          <p:cNvSpPr/>
          <p:nvPr/>
        </p:nvSpPr>
        <p:spPr>
          <a:xfrm>
            <a:off x="548640" y="1463040"/>
            <a:ext cx="6720840" cy="4754880"/>
          </a:xfrm>
          <a:prstGeom prst="roundRect">
            <a:avLst>
              <a:gd name="adj" fmla="val 1923"/>
            </a:avLst>
          </a:prstGeom>
          <a:solidFill>
            <a:srgbClr val="0D1117"/>
          </a:solidFill>
          <a:ln/>
          <a:effectLst>
            <a:outerShdw sx="100000" sy="100000" kx="0" ky="0" algn="bl" rotWithShape="0" blurRad="88900" dist="19050" dir="5400000">
              <a:srgbClr val="1B2333">
                <a:alpha val="10000"/>
              </a:srgbClr>
            </a:outerShdw>
          </a:effectLst>
        </p:spPr>
      </p:sp>
      <p:sp>
        <p:nvSpPr>
          <p:cNvPr id="9" name="Shape 5"/>
          <p:cNvSpPr/>
          <p:nvPr/>
        </p:nvSpPr>
        <p:spPr>
          <a:xfrm>
            <a:off x="731520" y="1609344"/>
            <a:ext cx="109728" cy="109728"/>
          </a:xfrm>
          <a:prstGeom prst="ellipse">
            <a:avLst/>
          </a:prstGeom>
          <a:solidFill>
            <a:srgbClr val="FF5F57"/>
          </a:solidFill>
          <a:ln/>
        </p:spPr>
      </p:sp>
      <p:sp>
        <p:nvSpPr>
          <p:cNvPr id="10" name="Shape 6"/>
          <p:cNvSpPr/>
          <p:nvPr/>
        </p:nvSpPr>
        <p:spPr>
          <a:xfrm>
            <a:off x="914400" y="1609344"/>
            <a:ext cx="109728" cy="109728"/>
          </a:xfrm>
          <a:prstGeom prst="ellipse">
            <a:avLst/>
          </a:prstGeom>
          <a:solidFill>
            <a:srgbClr val="FEBC2E"/>
          </a:solidFill>
          <a:ln/>
        </p:spPr>
      </p:sp>
      <p:sp>
        <p:nvSpPr>
          <p:cNvPr id="11" name="Shape 7"/>
          <p:cNvSpPr/>
          <p:nvPr/>
        </p:nvSpPr>
        <p:spPr>
          <a:xfrm>
            <a:off x="1097280" y="1609344"/>
            <a:ext cx="109728" cy="109728"/>
          </a:xfrm>
          <a:prstGeom prst="ellipse">
            <a:avLst/>
          </a:prstGeom>
          <a:solidFill>
            <a:srgbClr val="28C840"/>
          </a:solidFill>
          <a:ln/>
        </p:spPr>
      </p:sp>
      <p:sp>
        <p:nvSpPr>
          <p:cNvPr id="12" name="Text 8"/>
          <p:cNvSpPr txBox="1"/>
          <p:nvPr/>
        </p:nvSpPr>
        <p:spPr>
          <a:xfrm>
            <a:off x="1325880" y="1517904"/>
            <a:ext cx="5806440"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clase27_plantilla_proyecto.py</a:t>
            </a:r>
            <a:endParaRPr lang="en-US" sz="1050" dirty="0"/>
          </a:p>
        </p:txBody>
      </p:sp>
      <p:sp>
        <p:nvSpPr>
          <p:cNvPr id="13" name="Text 9"/>
          <p:cNvSpPr txBox="1"/>
          <p:nvPr/>
        </p:nvSpPr>
        <p:spPr>
          <a:xfrm>
            <a:off x="658368" y="1920240"/>
            <a:ext cx="361188" cy="4187952"/>
          </a:xfrm>
          <a:prstGeom prst="rect">
            <a:avLst/>
          </a:prstGeom>
          <a:noFill/>
          <a:ln/>
        </p:spPr>
        <p:txBody>
          <a:bodyPr wrap="square" lIns="0" tIns="0" rIns="0" bIns="0" rtlCol="0" anchor="t"/>
          <a:lstStyle/>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88</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89</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90</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91</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92</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93</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94</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95</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96</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97</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98</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99</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100</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 </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105</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106</a:t>
            </a:r>
            <a:endParaRPr lang="en-US" sz="1100" dirty="0"/>
          </a:p>
          <a:p>
            <a:pPr algn="r" indent="0" marL="0">
              <a:lnSpc>
                <a:spcPts val="1375"/>
              </a:lnSpc>
              <a:buNone/>
            </a:pPr>
            <a:r>
              <a:rPr lang="en-US" sz="1100" dirty="0">
                <a:solidFill>
                  <a:srgbClr val="6E7681"/>
                </a:solidFill>
                <a:latin typeface="Consolas" pitchFamily="34" charset="0"/>
                <a:ea typeface="Consolas" pitchFamily="34" charset="-122"/>
                <a:cs typeface="Consolas" pitchFamily="34" charset="-120"/>
              </a:rPr>
              <a:t>107</a:t>
            </a:r>
            <a:endParaRPr lang="en-US" sz="1100" dirty="0"/>
          </a:p>
        </p:txBody>
      </p:sp>
      <p:sp>
        <p:nvSpPr>
          <p:cNvPr id="14" name="Text 10"/>
          <p:cNvSpPr txBox="1"/>
          <p:nvPr/>
        </p:nvSpPr>
        <p:spPr>
          <a:xfrm>
            <a:off x="1165860" y="1920240"/>
            <a:ext cx="6039612" cy="4187952"/>
          </a:xfrm>
          <a:prstGeom prst="rect">
            <a:avLst/>
          </a:prstGeom>
          <a:noFill/>
          <a:ln/>
        </p:spPr>
        <p:txBody>
          <a:bodyPr wrap="none" lIns="0" tIns="0" rIns="0" bIns="0" rtlCol="0" anchor="t"/>
          <a:lstStyle/>
          <a:p>
            <a:pPr algn="l" indent="0" marL="0">
              <a:lnSpc>
                <a:spcPts val="1375"/>
              </a:lnSpc>
              <a:buNone/>
            </a:pPr>
            <a:r>
              <a:rPr lang="en-US" sz="1100" dirty="0">
                <a:solidFill>
                  <a:srgbClr val="FF7B72"/>
                </a:solidFill>
                <a:latin typeface="Consolas" pitchFamily="34" charset="0"/>
                <a:ea typeface="Consolas" pitchFamily="34" charset="-122"/>
                <a:cs typeface="Consolas" pitchFamily="34" charset="-120"/>
              </a:rPr>
              <a:t>def</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A657"/>
                </a:solidFill>
                <a:latin typeface="Consolas" pitchFamily="34" charset="0"/>
                <a:ea typeface="Consolas" pitchFamily="34" charset="-122"/>
                <a:cs typeface="Consolas" pitchFamily="34" charset="-120"/>
              </a:rPr>
              <a:t>main</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A5D6FF"/>
                </a:solidFill>
                <a:latin typeface="Consolas" pitchFamily="34" charset="0"/>
                <a:ea typeface="Consolas" pitchFamily="34" charset="-122"/>
                <a:cs typeface="Consolas" pitchFamily="34" charset="-120"/>
              </a:rPr>
              <a:t>"""Programa principal: menu con while."""</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alumnos = </a:t>
            </a:r>
            <a:pPr algn="l" indent="0" marL="0">
              <a:lnSpc>
                <a:spcPts val="1375"/>
              </a:lnSpc>
              <a:buNone/>
            </a:pPr>
            <a:r>
              <a:rPr lang="en-US" sz="1100" dirty="0">
                <a:solidFill>
                  <a:srgbClr val="FFA657"/>
                </a:solidFill>
                <a:latin typeface="Consolas" pitchFamily="34" charset="0"/>
                <a:ea typeface="Consolas" pitchFamily="34" charset="-122"/>
                <a:cs typeface="Consolas" pitchFamily="34" charset="-120"/>
              </a:rPr>
              <a:t>cargar</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7B72"/>
                </a:solidFill>
                <a:latin typeface="Consolas" pitchFamily="34" charset="0"/>
                <a:ea typeface="Consolas" pitchFamily="34" charset="-122"/>
                <a:cs typeface="Consolas" pitchFamily="34" charset="-120"/>
              </a:rPr>
              <a:t>while</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7B72"/>
                </a:solidFill>
                <a:latin typeface="Consolas" pitchFamily="34" charset="0"/>
                <a:ea typeface="Consolas" pitchFamily="34" charset="-122"/>
                <a:cs typeface="Consolas" pitchFamily="34" charset="-120"/>
              </a:rPr>
              <a:t>True</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D2A8FF"/>
                </a:solidFill>
                <a:latin typeface="Consolas" pitchFamily="34" charset="0"/>
                <a:ea typeface="Consolas" pitchFamily="34" charset="-122"/>
                <a:cs typeface="Consolas" pitchFamily="34" charset="-120"/>
              </a:rPr>
              <a:t>print</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pPr algn="l" indent="0" marL="0">
              <a:lnSpc>
                <a:spcPts val="1375"/>
              </a:lnSpc>
              <a:buNone/>
            </a:pPr>
            <a:r>
              <a:rPr lang="en-US" sz="1100" dirty="0">
                <a:solidFill>
                  <a:srgbClr val="A5D6FF"/>
                </a:solidFill>
                <a:latin typeface="Consolas" pitchFamily="34" charset="0"/>
                <a:ea typeface="Consolas" pitchFamily="34" charset="-122"/>
                <a:cs typeface="Consolas" pitchFamily="34" charset="-120"/>
              </a:rPr>
              <a:t>"\n1) Alta  2) Listado  3) Promedio general  4) Salir"</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op = </a:t>
            </a:r>
            <a:pPr algn="l" indent="0" marL="0">
              <a:lnSpc>
                <a:spcPts val="1375"/>
              </a:lnSpc>
              <a:buNone/>
            </a:pPr>
            <a:r>
              <a:rPr lang="en-US" sz="1100" dirty="0">
                <a:solidFill>
                  <a:srgbClr val="D2A8FF"/>
                </a:solidFill>
                <a:latin typeface="Consolas" pitchFamily="34" charset="0"/>
                <a:ea typeface="Consolas" pitchFamily="34" charset="-122"/>
                <a:cs typeface="Consolas" pitchFamily="34" charset="-120"/>
              </a:rPr>
              <a:t>input</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pPr algn="l" indent="0" marL="0">
              <a:lnSpc>
                <a:spcPts val="1375"/>
              </a:lnSpc>
              <a:buNone/>
            </a:pPr>
            <a:r>
              <a:rPr lang="en-US" sz="1100" dirty="0">
                <a:solidFill>
                  <a:srgbClr val="A5D6FF"/>
                </a:solidFill>
                <a:latin typeface="Consolas" pitchFamily="34" charset="0"/>
                <a:ea typeface="Consolas" pitchFamily="34" charset="-122"/>
                <a:cs typeface="Consolas" pitchFamily="34" charset="-120"/>
              </a:rPr>
              <a:t>"Opción: "</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7B72"/>
                </a:solidFill>
                <a:latin typeface="Consolas" pitchFamily="34" charset="0"/>
                <a:ea typeface="Consolas" pitchFamily="34" charset="-122"/>
                <a:cs typeface="Consolas" pitchFamily="34" charset="-120"/>
              </a:rPr>
              <a:t>if</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op == </a:t>
            </a:r>
            <a:pPr algn="l" indent="0" marL="0">
              <a:lnSpc>
                <a:spcPts val="1375"/>
              </a:lnSpc>
              <a:buNone/>
            </a:pPr>
            <a:r>
              <a:rPr lang="en-US" sz="1100" dirty="0">
                <a:solidFill>
                  <a:srgbClr val="A5D6FF"/>
                </a:solidFill>
                <a:latin typeface="Consolas" pitchFamily="34" charset="0"/>
                <a:ea typeface="Consolas" pitchFamily="34" charset="-122"/>
                <a:cs typeface="Consolas" pitchFamily="34" charset="-120"/>
              </a:rPr>
              <a:t>"1"</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A657"/>
                </a:solidFill>
                <a:latin typeface="Consolas" pitchFamily="34" charset="0"/>
                <a:ea typeface="Consolas" pitchFamily="34" charset="-122"/>
                <a:cs typeface="Consolas" pitchFamily="34" charset="-120"/>
              </a:rPr>
              <a:t>alta</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(alumnos)</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A657"/>
                </a:solidFill>
                <a:latin typeface="Consolas" pitchFamily="34" charset="0"/>
                <a:ea typeface="Consolas" pitchFamily="34" charset="-122"/>
                <a:cs typeface="Consolas" pitchFamily="34" charset="-120"/>
              </a:rPr>
              <a:t>guardar</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(alumnos)      </a:t>
            </a:r>
            <a:pPr algn="l" indent="0" marL="0">
              <a:lnSpc>
                <a:spcPts val="1375"/>
              </a:lnSpc>
              <a:buNone/>
            </a:pPr>
            <a:r>
              <a:rPr lang="en-US" sz="1100" i="1" dirty="0">
                <a:solidFill>
                  <a:srgbClr val="8B949E"/>
                </a:solidFill>
                <a:latin typeface="Consolas" pitchFamily="34" charset="0"/>
                <a:ea typeface="Consolas" pitchFamily="34" charset="-122"/>
                <a:cs typeface="Consolas" pitchFamily="34" charset="-120"/>
              </a:rPr>
              <a:t># persistir tras cada alta: anti Ctrl+C</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7B72"/>
                </a:solidFill>
                <a:latin typeface="Consolas" pitchFamily="34" charset="0"/>
                <a:ea typeface="Consolas" pitchFamily="34" charset="-122"/>
                <a:cs typeface="Consolas" pitchFamily="34" charset="-120"/>
              </a:rPr>
              <a:t>elif</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op == </a:t>
            </a:r>
            <a:pPr algn="l" indent="0" marL="0">
              <a:lnSpc>
                <a:spcPts val="1375"/>
              </a:lnSpc>
              <a:buNone/>
            </a:pPr>
            <a:r>
              <a:rPr lang="en-US" sz="1100" dirty="0">
                <a:solidFill>
                  <a:srgbClr val="A5D6FF"/>
                </a:solidFill>
                <a:latin typeface="Consolas" pitchFamily="34" charset="0"/>
                <a:ea typeface="Consolas" pitchFamily="34" charset="-122"/>
                <a:cs typeface="Consolas" pitchFamily="34" charset="-120"/>
              </a:rPr>
              <a:t>"2"</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A657"/>
                </a:solidFill>
                <a:latin typeface="Consolas" pitchFamily="34" charset="0"/>
                <a:ea typeface="Consolas" pitchFamily="34" charset="-122"/>
                <a:cs typeface="Consolas" pitchFamily="34" charset="-120"/>
              </a:rPr>
              <a:t>listado</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(alumnos)</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7B72"/>
                </a:solidFill>
                <a:latin typeface="Consolas" pitchFamily="34" charset="0"/>
                <a:ea typeface="Consolas" pitchFamily="34" charset="-122"/>
                <a:cs typeface="Consolas" pitchFamily="34" charset="-120"/>
              </a:rPr>
              <a:t>elif</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op == </a:t>
            </a:r>
            <a:pPr algn="l" indent="0" marL="0">
              <a:lnSpc>
                <a:spcPts val="1375"/>
              </a:lnSpc>
              <a:buNone/>
            </a:pPr>
            <a:r>
              <a:rPr lang="en-US" sz="1100" dirty="0">
                <a:solidFill>
                  <a:srgbClr val="A5D6FF"/>
                </a:solidFill>
                <a:latin typeface="Consolas" pitchFamily="34" charset="0"/>
                <a:ea typeface="Consolas" pitchFamily="34" charset="-122"/>
                <a:cs typeface="Consolas" pitchFamily="34" charset="-120"/>
              </a:rPr>
              <a:t>"3"</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FFA657"/>
                </a:solidFill>
                <a:latin typeface="Consolas" pitchFamily="34" charset="0"/>
                <a:ea typeface="Consolas" pitchFamily="34" charset="-122"/>
                <a:cs typeface="Consolas" pitchFamily="34" charset="-120"/>
              </a:rPr>
              <a:t>promedio_general</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(alumnos)</a:t>
            </a:r>
            <a:endParaRPr lang="en-US" sz="1100" dirty="0"/>
          </a:p>
          <a:p>
            <a:pPr algn="l" indent="0" marL="0">
              <a:lnSpc>
                <a:spcPts val="1375"/>
              </a:lnSpc>
              <a:buNone/>
            </a:pPr>
            <a:r>
              <a:rPr lang="en-US" sz="1100" i="1" dirty="0">
                <a:solidFill>
                  <a:srgbClr val="8B949E"/>
                </a:solidFill>
                <a:latin typeface="Consolas" pitchFamily="34" charset="0"/>
                <a:ea typeface="Consolas" pitchFamily="34" charset="-122"/>
                <a:cs typeface="Consolas" pitchFamily="34" charset="-120"/>
              </a:rPr>
              <a:t># ...</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pPr algn="l" indent="0" marL="0">
              <a:lnSpc>
                <a:spcPts val="1375"/>
              </a:lnSpc>
              <a:buNone/>
            </a:pPr>
            <a:r>
              <a:rPr lang="en-US" sz="1100" dirty="0">
                <a:solidFill>
                  <a:srgbClr val="D2A8FF"/>
                </a:solidFill>
                <a:latin typeface="Consolas" pitchFamily="34" charset="0"/>
                <a:ea typeface="Consolas" pitchFamily="34" charset="-122"/>
                <a:cs typeface="Consolas" pitchFamily="34" charset="-120"/>
              </a:rPr>
              <a:t>print</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pPr algn="l" indent="0" marL="0">
              <a:lnSpc>
                <a:spcPts val="1375"/>
              </a:lnSpc>
              <a:buNone/>
            </a:pPr>
            <a:r>
              <a:rPr lang="en-US" sz="1100" dirty="0">
                <a:solidFill>
                  <a:srgbClr val="A5D6FF"/>
                </a:solidFill>
                <a:latin typeface="Consolas" pitchFamily="34" charset="0"/>
                <a:ea typeface="Consolas" pitchFamily="34" charset="-122"/>
                <a:cs typeface="Consolas" pitchFamily="34" charset="-120"/>
              </a:rPr>
              <a:t>"Hasta luego"</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algn="l" indent="0" marL="0">
              <a:lnSpc>
                <a:spcPts val="1375"/>
              </a:lnSpc>
              <a:buNone/>
            </a:pPr>
            <a:r>
              <a:rPr lang="en-US" sz="1100" dirty="0">
                <a:solidFill>
                  <a:srgbClr val="FFA657"/>
                </a:solidFill>
                <a:latin typeface="Consolas" pitchFamily="34" charset="0"/>
                <a:ea typeface="Consolas" pitchFamily="34" charset="-122"/>
                <a:cs typeface="Consolas" pitchFamily="34" charset="-120"/>
              </a:rPr>
              <a:t>main</a:t>
            </a:r>
            <a:pPr algn="l" indent="0" marL="0">
              <a:lnSpc>
                <a:spcPts val="1375"/>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15" name="Text 11"/>
          <p:cNvSpPr txBox="1"/>
          <p:nvPr/>
        </p:nvSpPr>
        <p:spPr>
          <a:xfrm>
            <a:off x="7635240" y="1481328"/>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L90</a:t>
            </a:r>
            <a:endParaRPr lang="en-US" sz="950" dirty="0"/>
          </a:p>
        </p:txBody>
      </p:sp>
      <p:sp>
        <p:nvSpPr>
          <p:cNvPr id="16" name="Text 12"/>
          <p:cNvSpPr txBox="1"/>
          <p:nvPr/>
        </p:nvSpPr>
        <p:spPr>
          <a:xfrm>
            <a:off x="8503920" y="1463040"/>
            <a:ext cx="3139135" cy="754380"/>
          </a:xfrm>
          <a:prstGeom prst="rect">
            <a:avLst/>
          </a:prstGeom>
          <a:noFill/>
          <a:ln/>
        </p:spPr>
        <p:txBody>
          <a:bodyPr wrap="square" lIns="12700" tIns="12700" rIns="12700" bIns="12700" rtlCol="0" anchor="t"/>
          <a:lstStyle/>
          <a:p>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cargar()</a:t>
            </a:r>
            <a:pPr algn="l" indent="0" marL="0">
              <a:buNone/>
            </a:pPr>
            <a:r>
              <a:rPr lang="en-US" sz="1450" dirty="0">
                <a:solidFill>
                  <a:srgbClr val="1B2333"/>
                </a:solidFill>
                <a:latin typeface="Segoe UI" pitchFamily="34" charset="0"/>
                <a:ea typeface="Segoe UI" pitchFamily="34" charset="-122"/>
                <a:cs typeface="Segoe UI" pitchFamily="34" charset="-120"/>
              </a:rPr>
              <a:t> una vez al inicio: toda la sesión trabaja con la lista en memoria.</a:t>
            </a:r>
            <a:endParaRPr lang="en-US" sz="1450" dirty="0"/>
          </a:p>
        </p:txBody>
      </p:sp>
      <p:sp>
        <p:nvSpPr>
          <p:cNvPr id="17" name="Text 13"/>
          <p:cNvSpPr txBox="1"/>
          <p:nvPr/>
        </p:nvSpPr>
        <p:spPr>
          <a:xfrm>
            <a:off x="7635240" y="2363724"/>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L94–96</a:t>
            </a:r>
            <a:endParaRPr lang="en-US" sz="950" dirty="0"/>
          </a:p>
        </p:txBody>
      </p:sp>
      <p:sp>
        <p:nvSpPr>
          <p:cNvPr id="18" name="Text 14"/>
          <p:cNvSpPr txBox="1"/>
          <p:nvPr/>
        </p:nvSpPr>
        <p:spPr>
          <a:xfrm>
            <a:off x="8503920" y="2345436"/>
            <a:ext cx="3139135" cy="75438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Opción 1 =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alta()</a:t>
            </a:r>
            <a:pPr algn="l" indent="0" marL="0">
              <a:buNone/>
            </a:pPr>
            <a:r>
              <a:rPr lang="en-US" sz="1450" dirty="0">
                <a:solidFill>
                  <a:srgbClr val="1B2333"/>
                </a:solidFill>
                <a:latin typeface="Segoe UI" pitchFamily="34" charset="0"/>
                <a:ea typeface="Segoe UI" pitchFamily="34" charset="-122"/>
                <a:cs typeface="Segoe UI" pitchFamily="34" charset="-120"/>
              </a:rPr>
              <a:t> +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guardar()</a:t>
            </a:r>
            <a:pPr algn="l" indent="0" marL="0">
              <a:buNone/>
            </a:pPr>
            <a:r>
              <a:rPr lang="en-US" sz="1450" dirty="0">
                <a:solidFill>
                  <a:srgbClr val="1B2333"/>
                </a:solidFill>
                <a:latin typeface="Segoe UI" pitchFamily="34" charset="0"/>
                <a:ea typeface="Segoe UI" pitchFamily="34" charset="-122"/>
                <a:cs typeface="Segoe UI" pitchFamily="34" charset="-120"/>
              </a:rPr>
              <a:t>: un issue y una rama para un integrante.</a:t>
            </a:r>
            <a:endParaRPr lang="en-US" sz="1450" dirty="0"/>
          </a:p>
        </p:txBody>
      </p:sp>
      <p:sp>
        <p:nvSpPr>
          <p:cNvPr id="19" name="Text 15"/>
          <p:cNvSpPr txBox="1"/>
          <p:nvPr/>
        </p:nvSpPr>
        <p:spPr>
          <a:xfrm>
            <a:off x="7635240" y="3246120"/>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L97–100</a:t>
            </a:r>
            <a:endParaRPr lang="en-US" sz="950" dirty="0"/>
          </a:p>
        </p:txBody>
      </p:sp>
      <p:sp>
        <p:nvSpPr>
          <p:cNvPr id="20" name="Text 16"/>
          <p:cNvSpPr txBox="1"/>
          <p:nvPr/>
        </p:nvSpPr>
        <p:spPr>
          <a:xfrm>
            <a:off x="8503920" y="3227832"/>
            <a:ext cx="3139135" cy="75438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Opciones 2 y 3: otras funciones, otro issue. Casi no tocan las mismas líneas.</a:t>
            </a:r>
            <a:endParaRPr lang="en-US" sz="1450" dirty="0"/>
          </a:p>
        </p:txBody>
      </p:sp>
      <p:sp>
        <p:nvSpPr>
          <p:cNvPr id="21" name="Text 17"/>
          <p:cNvSpPr txBox="1"/>
          <p:nvPr/>
        </p:nvSpPr>
        <p:spPr>
          <a:xfrm>
            <a:off x="7635240" y="4128516"/>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L107</a:t>
            </a:r>
            <a:endParaRPr lang="en-US" sz="950" dirty="0"/>
          </a:p>
        </p:txBody>
      </p:sp>
      <p:sp>
        <p:nvSpPr>
          <p:cNvPr id="22" name="Text 18"/>
          <p:cNvSpPr txBox="1"/>
          <p:nvPr/>
        </p:nvSpPr>
        <p:spPr>
          <a:xfrm>
            <a:off x="8503920" y="4110228"/>
            <a:ext cx="3139135" cy="754380"/>
          </a:xfrm>
          <a:prstGeom prst="rect">
            <a:avLst/>
          </a:prstGeom>
          <a:noFill/>
          <a:ln/>
        </p:spPr>
        <p:txBody>
          <a:bodyPr wrap="square" lIns="12700" tIns="12700" rIns="12700" bIns="12700" rtlCol="0" anchor="t"/>
          <a:lstStyle/>
          <a:p>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main()</a:t>
            </a:r>
            <a:pPr algn="l" indent="0" marL="0">
              <a:buNone/>
            </a:pPr>
            <a:r>
              <a:rPr lang="en-US" sz="1450" dirty="0">
                <a:solidFill>
                  <a:srgbClr val="1B2333"/>
                </a:solidFill>
                <a:latin typeface="Segoe UI" pitchFamily="34" charset="0"/>
                <a:ea typeface="Segoe UI" pitchFamily="34" charset="-122"/>
                <a:cs typeface="Segoe UI" pitchFamily="34" charset="-120"/>
              </a:rPr>
              <a:t> sólo coordina. Si cada uno trabaja en su función, los conflictos son mínimos.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097280"/>
            <a:ext cx="4572000" cy="1737360"/>
          </a:xfrm>
          <a:prstGeom prst="rect">
            <a:avLst/>
          </a:prstGeom>
          <a:noFill/>
          <a:ln/>
        </p:spPr>
        <p:txBody>
          <a:bodyPr wrap="square" lIns="0" tIns="0" rIns="0" bIns="0" rtlCol="0" anchor="b"/>
          <a:lstStyle/>
          <a:p>
            <a:pPr algn="l" indent="0" marL="0">
              <a:buNone/>
            </a:pPr>
            <a:r>
              <a:rPr lang="en-US" sz="11000" b="1" dirty="0">
                <a:solidFill>
                  <a:srgbClr val="FFD43B"/>
                </a:solidFill>
                <a:latin typeface="Segoe UI" pitchFamily="34" charset="0"/>
                <a:ea typeface="Segoe UI" pitchFamily="34" charset="-122"/>
                <a:cs typeface="Segoe UI" pitchFamily="34" charset="-120"/>
              </a:rPr>
              <a:t>02</a:t>
            </a:r>
            <a:endParaRPr lang="en-US" sz="11000" dirty="0"/>
          </a:p>
        </p:txBody>
      </p:sp>
      <p:sp>
        <p:nvSpPr>
          <p:cNvPr id="3" name="Text 1"/>
          <p:cNvSpPr txBox="1"/>
          <p:nvPr/>
        </p:nvSpPr>
        <p:spPr>
          <a:xfrm>
            <a:off x="548640" y="2971800"/>
            <a:ext cx="1051560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Segoe UI" pitchFamily="34" charset="0"/>
                <a:ea typeface="Segoe UI" pitchFamily="34" charset="-122"/>
                <a:cs typeface="Segoe UI" pitchFamily="34" charset="-120"/>
              </a:rPr>
              <a:t>Taller: depurar y refactorizar el proyecto</a:t>
            </a:r>
            <a:endParaRPr lang="en-US" sz="3600" dirty="0"/>
          </a:p>
        </p:txBody>
      </p:sp>
      <p:sp>
        <p:nvSpPr>
          <p:cNvPr id="4" name="Text 2"/>
          <p:cNvSpPr txBox="1"/>
          <p:nvPr/>
        </p:nvSpPr>
        <p:spPr>
          <a:xfrm>
            <a:off x="548640" y="4251960"/>
            <a:ext cx="9601200" cy="1188720"/>
          </a:xfrm>
          <a:prstGeom prst="rect">
            <a:avLst/>
          </a:prstGeom>
          <a:noFill/>
          <a:ln/>
        </p:spPr>
        <p:txBody>
          <a:bodyPr wrap="square" lIns="0" tIns="0" rIns="0" bIns="0" rtlCol="0" anchor="t"/>
          <a:lstStyle/>
          <a:p>
            <a:pPr algn="l" indent="0" marL="0">
              <a:buNone/>
            </a:pPr>
            <a:r>
              <a:rPr lang="en-US" sz="2000" dirty="0">
                <a:solidFill>
                  <a:srgbClr val="C9D7EE"/>
                </a:solidFill>
                <a:latin typeface="Segoe UI" pitchFamily="34" charset="0"/>
                <a:ea typeface="Segoe UI" pitchFamily="34" charset="-122"/>
                <a:cs typeface="Segoe UI" pitchFamily="34" charset="-120"/>
              </a:rPr>
              <a:t>Arreglar un error no es probar cosas al azar: es seguir un método, como un detective.</a:t>
            </a:r>
            <a:endParaRPr lang="en-US" sz="2000" dirty="0"/>
          </a:p>
        </p:txBody>
      </p:sp>
      <p:sp>
        <p:nvSpPr>
          <p:cNvPr id="5" name="Text 3"/>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FA3C4"/>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6" name="Text 4"/>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FA3C4"/>
                </a:solidFill>
                <a:latin typeface="Segoe UI" pitchFamily="34" charset="0"/>
                <a:ea typeface="Segoe UI" pitchFamily="34" charset="-122"/>
                <a:cs typeface="Segoe UI" pitchFamily="34" charset="-120"/>
              </a:rPr>
              <a:t>Clase 18  ·  13 / 23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DEPURACIÓN</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Depurar con prints: hacer visible lo invisible</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14 / 23</a:t>
            </a:r>
            <a:endParaRPr lang="en-US" sz="900" dirty="0"/>
          </a:p>
        </p:txBody>
      </p:sp>
      <p:sp>
        <p:nvSpPr>
          <p:cNvPr id="8" name="Shape 4"/>
          <p:cNvSpPr/>
          <p:nvPr/>
        </p:nvSpPr>
        <p:spPr>
          <a:xfrm>
            <a:off x="548640" y="1463040"/>
            <a:ext cx="6355080" cy="1188720"/>
          </a:xfrm>
          <a:prstGeom prst="roundRect">
            <a:avLst>
              <a:gd name="adj" fmla="val 7692"/>
            </a:avLst>
          </a:prstGeom>
          <a:solidFill>
            <a:srgbClr val="E7EFF8"/>
          </a:solidFill>
          <a:ln/>
        </p:spPr>
      </p:sp>
      <p:sp>
        <p:nvSpPr>
          <p:cNvPr id="9" name="Text 5"/>
          <p:cNvSpPr txBox="1"/>
          <p:nvPr/>
        </p:nvSpPr>
        <p:spPr>
          <a:xfrm>
            <a:off x="822960" y="1600200"/>
            <a:ext cx="5806440" cy="914400"/>
          </a:xfrm>
          <a:prstGeom prst="rect">
            <a:avLst/>
          </a:prstGeom>
          <a:noFill/>
          <a:ln/>
        </p:spPr>
        <p:txBody>
          <a:bodyPr wrap="square" lIns="0" tIns="0" rIns="0" bIns="0" rtlCol="0" anchor="ctr"/>
          <a:lstStyle/>
          <a:p>
            <a:pPr algn="l" indent="0" marL="0">
              <a:buNone/>
            </a:pPr>
            <a:r>
              <a:rPr lang="en-US" sz="1800" b="1" dirty="0">
                <a:solidFill>
                  <a:srgbClr val="2B5B84"/>
                </a:solidFill>
                <a:latin typeface="Segoe UI" pitchFamily="34" charset="0"/>
                <a:ea typeface="Segoe UI" pitchFamily="34" charset="-122"/>
                <a:cs typeface="Segoe UI" pitchFamily="34" charset="-120"/>
              </a:rPr>
              <a:t>Depurar (debug) es encontrar por qué el programa hace algo distinto de lo que esperabas, mirando qué valen las variables.</a:t>
            </a:r>
            <a:endParaRPr lang="en-US" sz="1800" dirty="0"/>
          </a:p>
        </p:txBody>
      </p:sp>
      <p:sp>
        <p:nvSpPr>
          <p:cNvPr id="10" name="Text 6"/>
          <p:cNvSpPr txBox="1"/>
          <p:nvPr/>
        </p:nvSpPr>
        <p:spPr>
          <a:xfrm>
            <a:off x="548640" y="2926080"/>
            <a:ext cx="6355080" cy="274320"/>
          </a:xfrm>
          <a:prstGeom prst="rect">
            <a:avLst/>
          </a:prstGeom>
          <a:noFill/>
          <a:ln/>
        </p:spPr>
        <p:txBody>
          <a:bodyPr wrap="square" lIns="0" tIns="0" rIns="0" bIns="0" rtlCol="0" anchor="t"/>
          <a:lstStyle/>
          <a:p>
            <a:pPr algn="l" indent="0" marL="0">
              <a:buNone/>
            </a:pPr>
            <a:r>
              <a:rPr lang="en-US" sz="1100" b="1" spc="150" kern="0" dirty="0">
                <a:solidFill>
                  <a:srgbClr val="4F5A6D"/>
                </a:solidFill>
                <a:latin typeface="Segoe UI" pitchFamily="34" charset="0"/>
                <a:ea typeface="Segoe UI" pitchFamily="34" charset="-122"/>
                <a:cs typeface="Segoe UI" pitchFamily="34" charset="-120"/>
              </a:rPr>
              <a:t>PASO A PASO</a:t>
            </a:r>
            <a:endParaRPr lang="en-US" sz="1100" dirty="0"/>
          </a:p>
        </p:txBody>
      </p:sp>
      <p:sp>
        <p:nvSpPr>
          <p:cNvPr id="11" name="Text 7"/>
          <p:cNvSpPr txBox="1"/>
          <p:nvPr/>
        </p:nvSpPr>
        <p:spPr>
          <a:xfrm>
            <a:off x="548640" y="3328416"/>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8"/>
          <p:cNvSpPr txBox="1"/>
          <p:nvPr/>
        </p:nvSpPr>
        <p:spPr>
          <a:xfrm>
            <a:off x="1005840" y="3310128"/>
            <a:ext cx="5879592" cy="51816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Primero </a:t>
            </a:r>
            <a:pPr algn="l" indent="0" marL="0">
              <a:buNone/>
            </a:pPr>
            <a:r>
              <a:rPr lang="en-US" sz="1400" b="1" dirty="0">
                <a:solidFill>
                  <a:srgbClr val="1B2333"/>
                </a:solidFill>
                <a:latin typeface="Segoe UI" pitchFamily="34" charset="0"/>
                <a:ea typeface="Segoe UI" pitchFamily="34" charset="-122"/>
                <a:cs typeface="Segoe UI" pitchFamily="34" charset="-120"/>
              </a:rPr>
              <a:t>reproducí</a:t>
            </a:r>
            <a:pPr algn="l" indent="0" marL="0">
              <a:buNone/>
            </a:pPr>
            <a:r>
              <a:rPr lang="en-US" sz="1400" dirty="0">
                <a:solidFill>
                  <a:srgbClr val="1B2333"/>
                </a:solidFill>
                <a:latin typeface="Segoe UI" pitchFamily="34" charset="0"/>
                <a:ea typeface="Segoe UI" pitchFamily="34" charset="-122"/>
                <a:cs typeface="Segoe UI" pitchFamily="34" charset="-120"/>
              </a:rPr>
              <a:t> el error: anotá qué datos lo provocan. Si no lo podés repetir, no lo podés arreglar.</a:t>
            </a:r>
            <a:endParaRPr lang="en-US" sz="1400" dirty="0"/>
          </a:p>
        </p:txBody>
      </p:sp>
      <p:sp>
        <p:nvSpPr>
          <p:cNvPr id="13" name="Text 9"/>
          <p:cNvSpPr txBox="1"/>
          <p:nvPr/>
        </p:nvSpPr>
        <p:spPr>
          <a:xfrm>
            <a:off x="548640" y="3974592"/>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0"/>
          <p:cNvSpPr txBox="1"/>
          <p:nvPr/>
        </p:nvSpPr>
        <p:spPr>
          <a:xfrm>
            <a:off x="1005840" y="3956304"/>
            <a:ext cx="5879592" cy="73152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Agregá un </a:t>
            </a:r>
            <a:pPr algn="l" indent="0" marL="0">
              <a:buNone/>
            </a:pPr>
            <a:r>
              <a:rPr lang="en-US" sz="1400" b="1" dirty="0">
                <a:solidFill>
                  <a:srgbClr val="1B2333"/>
                </a:solidFill>
                <a:latin typeface="Segoe UI" pitchFamily="34" charset="0"/>
                <a:ea typeface="Segoe UI" pitchFamily="34" charset="-122"/>
                <a:cs typeface="Segoe UI" pitchFamily="34" charset="-120"/>
              </a:rPr>
              <a:t>print de depuración</a:t>
            </a:r>
            <a:pPr algn="l" indent="0" marL="0">
              <a:buNone/>
            </a:pPr>
            <a:r>
              <a:rPr lang="en-US" sz="1400" dirty="0">
                <a:solidFill>
                  <a:srgbClr val="1B2333"/>
                </a:solidFill>
                <a:latin typeface="Segoe UI" pitchFamily="34" charset="0"/>
                <a:ea typeface="Segoe UI" pitchFamily="34" charset="-122"/>
                <a:cs typeface="Segoe UI" pitchFamily="34" charset="-120"/>
              </a:rPr>
              <a:t> dentro del ciclo que muestre las variables en cada vuelta. Es un trazado (dry-run) hecho por la compu.</a:t>
            </a:r>
            <a:endParaRPr lang="en-US" sz="1400" dirty="0"/>
          </a:p>
        </p:txBody>
      </p:sp>
      <p:sp>
        <p:nvSpPr>
          <p:cNvPr id="15" name="Text 11"/>
          <p:cNvSpPr txBox="1"/>
          <p:nvPr/>
        </p:nvSpPr>
        <p:spPr>
          <a:xfrm>
            <a:off x="548640" y="4834128"/>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6" name="Text 12"/>
          <p:cNvSpPr txBox="1"/>
          <p:nvPr/>
        </p:nvSpPr>
        <p:spPr>
          <a:xfrm>
            <a:off x="1005840" y="4815840"/>
            <a:ext cx="5879592" cy="73152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Compará lo que ves con lo que </a:t>
            </a:r>
            <a:pPr algn="l" indent="0" marL="0">
              <a:buNone/>
            </a:pPr>
            <a:r>
              <a:rPr lang="en-US" sz="1400" b="1" dirty="0">
                <a:solidFill>
                  <a:srgbClr val="1B2333"/>
                </a:solidFill>
                <a:latin typeface="Segoe UI" pitchFamily="34" charset="0"/>
                <a:ea typeface="Segoe UI" pitchFamily="34" charset="-122"/>
                <a:cs typeface="Segoe UI" pitchFamily="34" charset="-120"/>
              </a:rPr>
              <a:t>deberías</a:t>
            </a:r>
            <a:pPr algn="l" indent="0" marL="0">
              <a:buNone/>
            </a:pPr>
            <a:r>
              <a:rPr lang="en-US" sz="1400" dirty="0">
                <a:solidFill>
                  <a:srgbClr val="1B2333"/>
                </a:solidFill>
                <a:latin typeface="Segoe UI" pitchFamily="34" charset="0"/>
                <a:ea typeface="Segoe UI" pitchFamily="34" charset="-122"/>
                <a:cs typeface="Segoe UI" pitchFamily="34" charset="-120"/>
              </a:rPr>
              <a:t> ver. En el ejemplo,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suma</a:t>
            </a:r>
            <a:pPr algn="l" indent="0" marL="0">
              <a:buNone/>
            </a:pPr>
            <a:r>
              <a:rPr lang="en-US" sz="1400" dirty="0">
                <a:solidFill>
                  <a:srgbClr val="1B2333"/>
                </a:solidFill>
                <a:latin typeface="Segoe UI" pitchFamily="34" charset="0"/>
                <a:ea typeface="Segoe UI" pitchFamily="34" charset="-122"/>
                <a:cs typeface="Segoe UI" pitchFamily="34" charset="-120"/>
              </a:rPr>
              <a:t> tendría que ir 8, 14, 24… pero se pisa en cada vuelta: falta el </a:t>
            </a:r>
            <a:pPr algn="l" indent="0" marL="0">
              <a:buNone/>
            </a:pPr>
            <a:r>
              <a:rPr lang="en-US" sz="1400" dirty="0">
                <a:solidFill>
                  <a:srgbClr val="0F4C81"/>
                </a:solidFill>
                <a:highlight>
                  <a:srgbClr val="E6EDF6"/>
                </a:highlight>
                <a:latin typeface="Consolas" pitchFamily="34" charset="0"/>
                <a:ea typeface="Consolas" pitchFamily="34" charset="-122"/>
                <a:cs typeface="Consolas" pitchFamily="34" charset="-120"/>
              </a:rPr>
              <a:t>+=</a:t>
            </a:r>
            <a:pPr algn="l" indent="0" marL="0">
              <a:buNone/>
            </a:pPr>
            <a:r>
              <a:rPr lang="en-US" sz="1400" dirty="0">
                <a:solidFill>
                  <a:srgbClr val="1B2333"/>
                </a:solidFill>
                <a:latin typeface="Segoe UI" pitchFamily="34" charset="0"/>
                <a:ea typeface="Segoe UI" pitchFamily="34" charset="-122"/>
                <a:cs typeface="Segoe UI" pitchFamily="34" charset="-120"/>
              </a:rPr>
              <a:t>.</a:t>
            </a:r>
            <a:endParaRPr lang="en-US" sz="1400" dirty="0"/>
          </a:p>
        </p:txBody>
      </p:sp>
      <p:sp>
        <p:nvSpPr>
          <p:cNvPr id="17" name="Text 13"/>
          <p:cNvSpPr txBox="1"/>
          <p:nvPr/>
        </p:nvSpPr>
        <p:spPr>
          <a:xfrm>
            <a:off x="548640" y="5693664"/>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8" name="Text 14"/>
          <p:cNvSpPr txBox="1"/>
          <p:nvPr/>
        </p:nvSpPr>
        <p:spPr>
          <a:xfrm>
            <a:off x="1005840" y="5675376"/>
            <a:ext cx="5879592" cy="518160"/>
          </a:xfrm>
          <a:prstGeom prst="rect">
            <a:avLst/>
          </a:prstGeom>
          <a:noFill/>
          <a:ln/>
        </p:spPr>
        <p:txBody>
          <a:bodyPr wrap="square" lIns="12700" tIns="12700" rIns="12700" bIns="12700" rtlCol="0" anchor="t"/>
          <a:lstStyle/>
          <a:p>
            <a:pPr algn="l" indent="0" marL="0">
              <a:buNone/>
            </a:pPr>
            <a:r>
              <a:rPr lang="en-US" sz="1400" dirty="0">
                <a:solidFill>
                  <a:srgbClr val="1B2333"/>
                </a:solidFill>
                <a:latin typeface="Segoe UI" pitchFamily="34" charset="0"/>
                <a:ea typeface="Segoe UI" pitchFamily="34" charset="-122"/>
                <a:cs typeface="Segoe UI" pitchFamily="34" charset="-120"/>
              </a:rPr>
              <a:t>Corregí </a:t>
            </a:r>
            <a:pPr algn="l" indent="0" marL="0">
              <a:buNone/>
            </a:pPr>
            <a:r>
              <a:rPr lang="en-US" sz="1400" b="1" dirty="0">
                <a:solidFill>
                  <a:srgbClr val="1B2333"/>
                </a:solidFill>
                <a:latin typeface="Segoe UI" pitchFamily="34" charset="0"/>
                <a:ea typeface="Segoe UI" pitchFamily="34" charset="-122"/>
                <a:cs typeface="Segoe UI" pitchFamily="34" charset="-120"/>
              </a:rPr>
              <a:t>una sola cosa</a:t>
            </a:r>
            <a:pPr algn="l" indent="0" marL="0">
              <a:buNone/>
            </a:pPr>
            <a:r>
              <a:rPr lang="en-US" sz="1400" dirty="0">
                <a:solidFill>
                  <a:srgbClr val="1B2333"/>
                </a:solidFill>
                <a:latin typeface="Segoe UI" pitchFamily="34" charset="0"/>
                <a:ea typeface="Segoe UI" pitchFamily="34" charset="-122"/>
                <a:cs typeface="Segoe UI" pitchFamily="34" charset="-120"/>
              </a:rPr>
              <a:t> por vez, volvé a probar y al final borrá los prints de depuración antes del commit.</a:t>
            </a:r>
            <a:endParaRPr lang="en-US" sz="1400" dirty="0"/>
          </a:p>
        </p:txBody>
      </p:sp>
      <p:sp>
        <p:nvSpPr>
          <p:cNvPr id="19" name="Shape 15"/>
          <p:cNvSpPr/>
          <p:nvPr/>
        </p:nvSpPr>
        <p:spPr>
          <a:xfrm>
            <a:off x="7315200" y="1463040"/>
            <a:ext cx="4327855" cy="1988820"/>
          </a:xfrm>
          <a:prstGeom prst="roundRect">
            <a:avLst>
              <a:gd name="adj" fmla="val 5517"/>
            </a:avLst>
          </a:prstGeom>
          <a:solidFill>
            <a:srgbClr val="FFF4C7"/>
          </a:solidFill>
          <a:ln/>
        </p:spPr>
      </p:sp>
      <p:sp>
        <p:nvSpPr>
          <p:cNvPr id="20" name="Text 16"/>
          <p:cNvSpPr txBox="1"/>
          <p:nvPr/>
        </p:nvSpPr>
        <p:spPr>
          <a:xfrm>
            <a:off x="7543800" y="1645920"/>
            <a:ext cx="457200" cy="457200"/>
          </a:xfrm>
          <a:prstGeom prst="rect">
            <a:avLst/>
          </a:prstGeom>
          <a:noFill/>
          <a:ln/>
        </p:spPr>
        <p:txBody>
          <a:bodyPr wrap="square" lIns="0" tIns="0" rIns="0" bIns="0" rtlCol="0" anchor="t"/>
          <a:lstStyle/>
          <a:p>
            <a:pPr algn="l" indent="0" marL="0">
              <a:buNone/>
            </a:pPr>
            <a:r>
              <a:rPr lang="en-US" sz="2000" dirty="0">
                <a:solidFill>
                  <a:srgbClr val="1B2333"/>
                </a:solidFill>
                <a:latin typeface="Segoe UI Emoji" pitchFamily="34" charset="0"/>
                <a:ea typeface="Segoe UI Emoji" pitchFamily="34" charset="-122"/>
                <a:cs typeface="Segoe UI Emoji" pitchFamily="34" charset="-120"/>
              </a:rPr>
              <a:t>🔦</a:t>
            </a:r>
            <a:endParaRPr lang="en-US" sz="2000" dirty="0"/>
          </a:p>
        </p:txBody>
      </p:sp>
      <p:sp>
        <p:nvSpPr>
          <p:cNvPr id="21" name="Text 17"/>
          <p:cNvSpPr txBox="1"/>
          <p:nvPr/>
        </p:nvSpPr>
        <p:spPr>
          <a:xfrm>
            <a:off x="8092440" y="1682496"/>
            <a:ext cx="3322015" cy="384048"/>
          </a:xfrm>
          <a:prstGeom prst="rect">
            <a:avLst/>
          </a:prstGeom>
          <a:noFill/>
          <a:ln/>
        </p:spPr>
        <p:txBody>
          <a:bodyPr wrap="square" lIns="0" tIns="0" rIns="0" bIns="0" rtlCol="0" anchor="ctr"/>
          <a:lstStyle/>
          <a:p>
            <a:pPr algn="l" indent="0" marL="0">
              <a:buNone/>
            </a:pPr>
            <a:r>
              <a:rPr lang="en-US" sz="1400" b="1" dirty="0">
                <a:solidFill>
                  <a:srgbClr val="7A5600"/>
                </a:solidFill>
                <a:latin typeface="Segoe UI" pitchFamily="34" charset="0"/>
                <a:ea typeface="Segoe UI" pitchFamily="34" charset="-122"/>
                <a:cs typeface="Segoe UI" pitchFamily="34" charset="-120"/>
              </a:rPr>
              <a:t>Como buscar una pérdida de agua</a:t>
            </a:r>
            <a:endParaRPr lang="en-US" sz="1400" dirty="0"/>
          </a:p>
        </p:txBody>
      </p:sp>
      <p:sp>
        <p:nvSpPr>
          <p:cNvPr id="22" name="Text 18"/>
          <p:cNvSpPr txBox="1"/>
          <p:nvPr/>
        </p:nvSpPr>
        <p:spPr>
          <a:xfrm>
            <a:off x="7571232" y="2194560"/>
            <a:ext cx="3824935" cy="1165860"/>
          </a:xfrm>
          <a:prstGeom prst="rect">
            <a:avLst/>
          </a:prstGeom>
          <a:noFill/>
          <a:ln/>
        </p:spPr>
        <p:txBody>
          <a:bodyPr wrap="square" lIns="0" tIns="0" rIns="0" bIns="0" rtlCol="0" anchor="t"/>
          <a:lstStyle/>
          <a:p>
            <a:pPr algn="l" indent="0" marL="0">
              <a:buNone/>
            </a:pPr>
            <a:r>
              <a:rPr lang="en-US" sz="1350" dirty="0">
                <a:solidFill>
                  <a:srgbClr val="1B2333"/>
                </a:solidFill>
                <a:latin typeface="Segoe UI" pitchFamily="34" charset="0"/>
                <a:ea typeface="Segoe UI" pitchFamily="34" charset="-122"/>
                <a:cs typeface="Segoe UI" pitchFamily="34" charset="-120"/>
              </a:rPr>
              <a:t>El plomero no rompe toda la pared. Abre una canilla por vez y mira el medidor para ver dónde se pierde el agua. Los prints son esos puntos de control: te dicen en qué línea el valor dejó de ser el esperado.</a:t>
            </a:r>
            <a:endParaRPr lang="en-US" sz="1350" dirty="0"/>
          </a:p>
        </p:txBody>
      </p:sp>
      <p:sp>
        <p:nvSpPr>
          <p:cNvPr id="23" name="Shape 19"/>
          <p:cNvSpPr/>
          <p:nvPr/>
        </p:nvSpPr>
        <p:spPr>
          <a:xfrm>
            <a:off x="7315200" y="3680460"/>
            <a:ext cx="4327855" cy="1288847"/>
          </a:xfrm>
          <a:prstGeom prst="roundRect">
            <a:avLst>
              <a:gd name="adj" fmla="val 7095"/>
            </a:avLst>
          </a:prstGeom>
          <a:solidFill>
            <a:srgbClr val="0D1117"/>
          </a:solidFill>
          <a:ln/>
          <a:effectLst>
            <a:outerShdw sx="100000" sy="100000" kx="0" ky="0" algn="bl" rotWithShape="0" blurRad="88900" dist="19050" dir="5400000">
              <a:srgbClr val="1B2333">
                <a:alpha val="10000"/>
              </a:srgbClr>
            </a:outerShdw>
          </a:effectLst>
        </p:spPr>
      </p:sp>
      <p:sp>
        <p:nvSpPr>
          <p:cNvPr id="24" name="Shape 20"/>
          <p:cNvSpPr/>
          <p:nvPr/>
        </p:nvSpPr>
        <p:spPr>
          <a:xfrm>
            <a:off x="7498080" y="3826764"/>
            <a:ext cx="109728" cy="109728"/>
          </a:xfrm>
          <a:prstGeom prst="ellipse">
            <a:avLst/>
          </a:prstGeom>
          <a:solidFill>
            <a:srgbClr val="FF5F57"/>
          </a:solidFill>
          <a:ln/>
        </p:spPr>
      </p:sp>
      <p:sp>
        <p:nvSpPr>
          <p:cNvPr id="25" name="Shape 21"/>
          <p:cNvSpPr/>
          <p:nvPr/>
        </p:nvSpPr>
        <p:spPr>
          <a:xfrm>
            <a:off x="7680960" y="3826764"/>
            <a:ext cx="109728" cy="109728"/>
          </a:xfrm>
          <a:prstGeom prst="ellipse">
            <a:avLst/>
          </a:prstGeom>
          <a:solidFill>
            <a:srgbClr val="FEBC2E"/>
          </a:solidFill>
          <a:ln/>
        </p:spPr>
      </p:sp>
      <p:sp>
        <p:nvSpPr>
          <p:cNvPr id="26" name="Shape 22"/>
          <p:cNvSpPr/>
          <p:nvPr/>
        </p:nvSpPr>
        <p:spPr>
          <a:xfrm>
            <a:off x="7863840" y="3826764"/>
            <a:ext cx="109728" cy="109728"/>
          </a:xfrm>
          <a:prstGeom prst="ellipse">
            <a:avLst/>
          </a:prstGeom>
          <a:solidFill>
            <a:srgbClr val="28C840"/>
          </a:solidFill>
          <a:ln/>
        </p:spPr>
      </p:sp>
      <p:sp>
        <p:nvSpPr>
          <p:cNvPr id="27" name="Text 23"/>
          <p:cNvSpPr txBox="1"/>
          <p:nvPr/>
        </p:nvSpPr>
        <p:spPr>
          <a:xfrm>
            <a:off x="8092440" y="3735324"/>
            <a:ext cx="3413455"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depurar.py</a:t>
            </a:r>
            <a:endParaRPr lang="en-US" sz="1050" dirty="0"/>
          </a:p>
        </p:txBody>
      </p:sp>
      <p:sp>
        <p:nvSpPr>
          <p:cNvPr id="28" name="Text 24"/>
          <p:cNvSpPr txBox="1"/>
          <p:nvPr/>
        </p:nvSpPr>
        <p:spPr>
          <a:xfrm>
            <a:off x="7424928" y="4137660"/>
            <a:ext cx="163068" cy="721919"/>
          </a:xfrm>
          <a:prstGeom prst="rect">
            <a:avLst/>
          </a:prstGeom>
          <a:noFill/>
          <a:ln/>
        </p:spPr>
        <p:txBody>
          <a:bodyPr wrap="square" lIns="0" tIns="0" rIns="0" bIns="0" rtlCol="0" anchor="t"/>
          <a:lstStyle/>
          <a:p>
            <a:pPr algn="r" indent="0" marL="0">
              <a:lnSpc>
                <a:spcPts val="875"/>
              </a:lnSpc>
              <a:buNone/>
            </a:pPr>
            <a:r>
              <a:rPr lang="en-US" sz="700" dirty="0">
                <a:solidFill>
                  <a:srgbClr val="6E7681"/>
                </a:solidFill>
                <a:latin typeface="Consolas" pitchFamily="34" charset="0"/>
                <a:ea typeface="Consolas" pitchFamily="34" charset="-122"/>
                <a:cs typeface="Consolas" pitchFamily="34" charset="-120"/>
              </a:rPr>
              <a:t>1</a:t>
            </a:r>
            <a:endParaRPr lang="en-US" sz="700" dirty="0"/>
          </a:p>
          <a:p>
            <a:pPr algn="r" indent="0" marL="0">
              <a:lnSpc>
                <a:spcPts val="875"/>
              </a:lnSpc>
              <a:buNone/>
            </a:pPr>
            <a:r>
              <a:rPr lang="en-US" sz="700" dirty="0">
                <a:solidFill>
                  <a:srgbClr val="6E7681"/>
                </a:solidFill>
                <a:latin typeface="Consolas" pitchFamily="34" charset="0"/>
                <a:ea typeface="Consolas" pitchFamily="34" charset="-122"/>
                <a:cs typeface="Consolas" pitchFamily="34" charset="-120"/>
              </a:rPr>
              <a:t>2</a:t>
            </a:r>
            <a:endParaRPr lang="en-US" sz="700" dirty="0"/>
          </a:p>
          <a:p>
            <a:pPr algn="r" indent="0" marL="0">
              <a:lnSpc>
                <a:spcPts val="875"/>
              </a:lnSpc>
              <a:buNone/>
            </a:pPr>
            <a:r>
              <a:rPr lang="en-US" sz="700" dirty="0">
                <a:solidFill>
                  <a:srgbClr val="6E7681"/>
                </a:solidFill>
                <a:latin typeface="Consolas" pitchFamily="34" charset="0"/>
                <a:ea typeface="Consolas" pitchFamily="34" charset="-122"/>
                <a:cs typeface="Consolas" pitchFamily="34" charset="-120"/>
              </a:rPr>
              <a:t>3</a:t>
            </a:r>
            <a:endParaRPr lang="en-US" sz="700" dirty="0"/>
          </a:p>
          <a:p>
            <a:pPr algn="r" indent="0" marL="0">
              <a:lnSpc>
                <a:spcPts val="875"/>
              </a:lnSpc>
              <a:buNone/>
            </a:pPr>
            <a:r>
              <a:rPr lang="en-US" sz="700" dirty="0">
                <a:solidFill>
                  <a:srgbClr val="6E7681"/>
                </a:solidFill>
                <a:latin typeface="Consolas" pitchFamily="34" charset="0"/>
                <a:ea typeface="Consolas" pitchFamily="34" charset="-122"/>
                <a:cs typeface="Consolas" pitchFamily="34" charset="-120"/>
              </a:rPr>
              <a:t>4</a:t>
            </a:r>
            <a:endParaRPr lang="en-US" sz="700" dirty="0"/>
          </a:p>
          <a:p>
            <a:pPr algn="r" indent="0" marL="0">
              <a:lnSpc>
                <a:spcPts val="875"/>
              </a:lnSpc>
              <a:buNone/>
            </a:pPr>
            <a:r>
              <a:rPr lang="en-US" sz="700" dirty="0">
                <a:solidFill>
                  <a:srgbClr val="6E7681"/>
                </a:solidFill>
                <a:latin typeface="Consolas" pitchFamily="34" charset="0"/>
                <a:ea typeface="Consolas" pitchFamily="34" charset="-122"/>
                <a:cs typeface="Consolas" pitchFamily="34" charset="-120"/>
              </a:rPr>
              <a:t>5</a:t>
            </a:r>
            <a:endParaRPr lang="en-US" sz="700" dirty="0"/>
          </a:p>
          <a:p>
            <a:pPr algn="r" indent="0" marL="0">
              <a:lnSpc>
                <a:spcPts val="875"/>
              </a:lnSpc>
              <a:buNone/>
            </a:pPr>
            <a:r>
              <a:rPr lang="en-US" sz="700" dirty="0">
                <a:solidFill>
                  <a:srgbClr val="6E7681"/>
                </a:solidFill>
                <a:latin typeface="Consolas" pitchFamily="34" charset="0"/>
                <a:ea typeface="Consolas" pitchFamily="34" charset="-122"/>
                <a:cs typeface="Consolas" pitchFamily="34" charset="-120"/>
              </a:rPr>
              <a:t>6</a:t>
            </a:r>
            <a:endParaRPr lang="en-US" sz="700" dirty="0"/>
          </a:p>
        </p:txBody>
      </p:sp>
      <p:sp>
        <p:nvSpPr>
          <p:cNvPr id="29" name="Text 25"/>
          <p:cNvSpPr txBox="1"/>
          <p:nvPr/>
        </p:nvSpPr>
        <p:spPr>
          <a:xfrm>
            <a:off x="7734300" y="4137660"/>
            <a:ext cx="3844747" cy="721919"/>
          </a:xfrm>
          <a:prstGeom prst="rect">
            <a:avLst/>
          </a:prstGeom>
          <a:noFill/>
          <a:ln/>
        </p:spPr>
        <p:txBody>
          <a:bodyPr wrap="none" lIns="0" tIns="0" rIns="0" bIns="0" rtlCol="0" anchor="t"/>
          <a:lstStyle/>
          <a:p>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notas = [</a:t>
            </a:r>
            <a:pPr algn="l" indent="0" marL="0">
              <a:lnSpc>
                <a:spcPts val="875"/>
              </a:lnSpc>
              <a:buNone/>
            </a:pPr>
            <a:r>
              <a:rPr lang="en-US" sz="700" dirty="0">
                <a:solidFill>
                  <a:srgbClr val="79C0FF"/>
                </a:solidFill>
                <a:latin typeface="Consolas" pitchFamily="34" charset="0"/>
                <a:ea typeface="Consolas" pitchFamily="34" charset="-122"/>
                <a:cs typeface="Consolas" pitchFamily="34" charset="-120"/>
              </a:rPr>
              <a:t>8</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 </a:t>
            </a:r>
            <a:pPr algn="l" indent="0" marL="0">
              <a:lnSpc>
                <a:spcPts val="875"/>
              </a:lnSpc>
              <a:buNone/>
            </a:pPr>
            <a:r>
              <a:rPr lang="en-US" sz="700" dirty="0">
                <a:solidFill>
                  <a:srgbClr val="79C0FF"/>
                </a:solidFill>
                <a:latin typeface="Consolas" pitchFamily="34" charset="0"/>
                <a:ea typeface="Consolas" pitchFamily="34" charset="-122"/>
                <a:cs typeface="Consolas" pitchFamily="34" charset="-120"/>
              </a:rPr>
              <a:t>6</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 </a:t>
            </a:r>
            <a:pPr algn="l" indent="0" marL="0">
              <a:lnSpc>
                <a:spcPts val="875"/>
              </a:lnSpc>
              <a:buNone/>
            </a:pPr>
            <a:r>
              <a:rPr lang="en-US" sz="700" dirty="0">
                <a:solidFill>
                  <a:srgbClr val="79C0FF"/>
                </a:solidFill>
                <a:latin typeface="Consolas" pitchFamily="34" charset="0"/>
                <a:ea typeface="Consolas" pitchFamily="34" charset="-122"/>
                <a:cs typeface="Consolas" pitchFamily="34" charset="-120"/>
              </a:rPr>
              <a:t>10</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a:t>
            </a:r>
            <a:endParaRPr lang="en-US" sz="700" dirty="0"/>
          </a:p>
          <a:p>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suma = </a:t>
            </a:r>
            <a:pPr algn="l" indent="0" marL="0">
              <a:lnSpc>
                <a:spcPts val="875"/>
              </a:lnSpc>
              <a:buNone/>
            </a:pPr>
            <a:r>
              <a:rPr lang="en-US" sz="700" dirty="0">
                <a:solidFill>
                  <a:srgbClr val="79C0FF"/>
                </a:solidFill>
                <a:latin typeface="Consolas" pitchFamily="34" charset="0"/>
                <a:ea typeface="Consolas" pitchFamily="34" charset="-122"/>
                <a:cs typeface="Consolas" pitchFamily="34" charset="-120"/>
              </a:rPr>
              <a:t>0</a:t>
            </a:r>
            <a:endParaRPr lang="en-US" sz="700" dirty="0"/>
          </a:p>
          <a:p>
            <a:pPr algn="l" indent="0" marL="0">
              <a:lnSpc>
                <a:spcPts val="875"/>
              </a:lnSpc>
              <a:buNone/>
            </a:pPr>
            <a:r>
              <a:rPr lang="en-US" sz="700" dirty="0">
                <a:solidFill>
                  <a:srgbClr val="FF7B72"/>
                </a:solidFill>
                <a:latin typeface="Consolas" pitchFamily="34" charset="0"/>
                <a:ea typeface="Consolas" pitchFamily="34" charset="-122"/>
                <a:cs typeface="Consolas" pitchFamily="34" charset="-120"/>
              </a:rPr>
              <a:t>for</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 n </a:t>
            </a:r>
            <a:pPr algn="l" indent="0" marL="0">
              <a:lnSpc>
                <a:spcPts val="875"/>
              </a:lnSpc>
              <a:buNone/>
            </a:pPr>
            <a:r>
              <a:rPr lang="en-US" sz="700" dirty="0">
                <a:solidFill>
                  <a:srgbClr val="FF7B72"/>
                </a:solidFill>
                <a:latin typeface="Consolas" pitchFamily="34" charset="0"/>
                <a:ea typeface="Consolas" pitchFamily="34" charset="-122"/>
                <a:cs typeface="Consolas" pitchFamily="34" charset="-120"/>
              </a:rPr>
              <a:t>in</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 notas:</a:t>
            </a:r>
            <a:endParaRPr lang="en-US" sz="700" dirty="0"/>
          </a:p>
          <a:p>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    suma = n</a:t>
            </a:r>
            <a:endParaRPr lang="en-US" sz="700" dirty="0"/>
          </a:p>
          <a:p>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    </a:t>
            </a:r>
            <a:pPr algn="l" indent="0" marL="0">
              <a:lnSpc>
                <a:spcPts val="875"/>
              </a:lnSpc>
              <a:buNone/>
            </a:pPr>
            <a:r>
              <a:rPr lang="en-US" sz="700" dirty="0">
                <a:solidFill>
                  <a:srgbClr val="D2A8FF"/>
                </a:solidFill>
                <a:latin typeface="Consolas" pitchFamily="34" charset="0"/>
                <a:ea typeface="Consolas" pitchFamily="34" charset="-122"/>
                <a:cs typeface="Consolas" pitchFamily="34" charset="-120"/>
              </a:rPr>
              <a:t>print</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a:t>
            </a:r>
            <a:pPr algn="l" indent="0" marL="0">
              <a:lnSpc>
                <a:spcPts val="875"/>
              </a:lnSpc>
              <a:buNone/>
            </a:pPr>
            <a:r>
              <a:rPr lang="en-US" sz="700" dirty="0">
                <a:solidFill>
                  <a:srgbClr val="A5D6FF"/>
                </a:solidFill>
                <a:latin typeface="Consolas" pitchFamily="34" charset="0"/>
                <a:ea typeface="Consolas" pitchFamily="34" charset="-122"/>
                <a:cs typeface="Consolas" pitchFamily="34" charset="-120"/>
              </a:rPr>
              <a:t>"DEBUG"</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 n, suma)</a:t>
            </a:r>
            <a:endParaRPr lang="en-US" sz="700" dirty="0"/>
          </a:p>
          <a:p>
            <a:pPr algn="l" indent="0" marL="0">
              <a:lnSpc>
                <a:spcPts val="875"/>
              </a:lnSpc>
              <a:buNone/>
            </a:pPr>
            <a:r>
              <a:rPr lang="en-US" sz="700" dirty="0">
                <a:solidFill>
                  <a:srgbClr val="D2A8FF"/>
                </a:solidFill>
                <a:latin typeface="Consolas" pitchFamily="34" charset="0"/>
                <a:ea typeface="Consolas" pitchFamily="34" charset="-122"/>
                <a:cs typeface="Consolas" pitchFamily="34" charset="-120"/>
              </a:rPr>
              <a:t>print</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(suma / </a:t>
            </a:r>
            <a:pPr algn="l" indent="0" marL="0">
              <a:lnSpc>
                <a:spcPts val="875"/>
              </a:lnSpc>
              <a:buNone/>
            </a:pPr>
            <a:r>
              <a:rPr lang="en-US" sz="700" dirty="0">
                <a:solidFill>
                  <a:srgbClr val="D2A8FF"/>
                </a:solidFill>
                <a:latin typeface="Consolas" pitchFamily="34" charset="0"/>
                <a:ea typeface="Consolas" pitchFamily="34" charset="-122"/>
                <a:cs typeface="Consolas" pitchFamily="34" charset="-120"/>
              </a:rPr>
              <a:t>len</a:t>
            </a:r>
            <a:pPr algn="l" indent="0" marL="0">
              <a:lnSpc>
                <a:spcPts val="875"/>
              </a:lnSpc>
              <a:buNone/>
            </a:pPr>
            <a:r>
              <a:rPr lang="en-US" sz="700" dirty="0">
                <a:solidFill>
                  <a:srgbClr val="E6EDF3"/>
                </a:solidFill>
                <a:latin typeface="Consolas" pitchFamily="34" charset="0"/>
                <a:ea typeface="Consolas" pitchFamily="34" charset="-122"/>
                <a:cs typeface="Consolas" pitchFamily="34" charset="-120"/>
              </a:rPr>
              <a:t>(notas))</a:t>
            </a:r>
            <a:endParaRPr lang="en-US" sz="700" dirty="0"/>
          </a:p>
        </p:txBody>
      </p:sp>
      <p:sp>
        <p:nvSpPr>
          <p:cNvPr id="30" name="Shape 26"/>
          <p:cNvSpPr/>
          <p:nvPr/>
        </p:nvSpPr>
        <p:spPr>
          <a:xfrm>
            <a:off x="7315200" y="5152187"/>
            <a:ext cx="4327855" cy="1065733"/>
          </a:xfrm>
          <a:prstGeom prst="roundRect">
            <a:avLst>
              <a:gd name="adj" fmla="val 8580"/>
            </a:avLst>
          </a:prstGeom>
          <a:solidFill>
            <a:srgbClr val="010409"/>
          </a:solidFill>
          <a:ln/>
        </p:spPr>
      </p:sp>
      <p:sp>
        <p:nvSpPr>
          <p:cNvPr id="31" name="Text 27"/>
          <p:cNvSpPr txBox="1"/>
          <p:nvPr/>
        </p:nvSpPr>
        <p:spPr>
          <a:xfrm>
            <a:off x="7498080" y="5243627"/>
            <a:ext cx="3962095" cy="256032"/>
          </a:xfrm>
          <a:prstGeom prst="rect">
            <a:avLst/>
          </a:prstGeom>
          <a:noFill/>
          <a:ln/>
        </p:spPr>
        <p:txBody>
          <a:bodyPr wrap="square" lIns="0" tIns="0" rIns="0" bIns="0" rtlCol="0" anchor="t"/>
          <a:lstStyle/>
          <a:p>
            <a:pPr algn="l" indent="0" marL="0">
              <a:buNone/>
            </a:pPr>
            <a:r>
              <a:rPr lang="en-US" sz="950" b="1" spc="150" kern="0" dirty="0">
                <a:solidFill>
                  <a:srgbClr val="6E7681"/>
                </a:solidFill>
                <a:latin typeface="Segoe UI" pitchFamily="34" charset="0"/>
                <a:ea typeface="Segoe UI" pitchFamily="34" charset="-122"/>
                <a:cs typeface="Segoe UI" pitchFamily="34" charset="-120"/>
              </a:rPr>
              <a:t>SALIDA EN CONSOLA</a:t>
            </a:r>
            <a:endParaRPr lang="en-US" sz="950" dirty="0"/>
          </a:p>
        </p:txBody>
      </p:sp>
      <p:sp>
        <p:nvSpPr>
          <p:cNvPr id="32" name="Text 28"/>
          <p:cNvSpPr txBox="1"/>
          <p:nvPr/>
        </p:nvSpPr>
        <p:spPr>
          <a:xfrm>
            <a:off x="7498080" y="5536235"/>
            <a:ext cx="4007815" cy="608533"/>
          </a:xfrm>
          <a:prstGeom prst="rect">
            <a:avLst/>
          </a:prstGeom>
          <a:noFill/>
          <a:ln/>
        </p:spPr>
        <p:txBody>
          <a:bodyPr wrap="none" lIns="0" tIns="0" rIns="0" bIns="0" rtlCol="0" anchor="t"/>
          <a:lstStyle/>
          <a:p>
            <a:pPr algn="l" indent="0" marL="0">
              <a:lnSpc>
                <a:spcPts val="1125"/>
              </a:lnSpc>
              <a:buNone/>
            </a:pPr>
            <a:r>
              <a:rPr lang="en-US" sz="900" dirty="0">
                <a:solidFill>
                  <a:srgbClr val="7EE787"/>
                </a:solidFill>
                <a:latin typeface="Consolas" pitchFamily="34" charset="0"/>
                <a:ea typeface="Consolas" pitchFamily="34" charset="-122"/>
                <a:cs typeface="Consolas" pitchFamily="34" charset="-120"/>
              </a:rPr>
              <a:t>DEBUG 8 8</a:t>
            </a:r>
            <a:endParaRPr lang="en-US" sz="900" dirty="0"/>
          </a:p>
          <a:p>
            <a:pPr algn="l" indent="0" marL="0">
              <a:lnSpc>
                <a:spcPts val="1125"/>
              </a:lnSpc>
              <a:buNone/>
            </a:pPr>
            <a:r>
              <a:rPr lang="en-US" sz="900" dirty="0">
                <a:solidFill>
                  <a:srgbClr val="7EE787"/>
                </a:solidFill>
                <a:latin typeface="Consolas" pitchFamily="34" charset="0"/>
                <a:ea typeface="Consolas" pitchFamily="34" charset="-122"/>
                <a:cs typeface="Consolas" pitchFamily="34" charset="-120"/>
              </a:rPr>
              <a:t>DEBUG 6 6</a:t>
            </a:r>
            <a:endParaRPr lang="en-US" sz="900" dirty="0"/>
          </a:p>
          <a:p>
            <a:pPr algn="l" indent="0" marL="0">
              <a:lnSpc>
                <a:spcPts val="1125"/>
              </a:lnSpc>
              <a:buNone/>
            </a:pPr>
            <a:r>
              <a:rPr lang="en-US" sz="900" dirty="0">
                <a:solidFill>
                  <a:srgbClr val="7EE787"/>
                </a:solidFill>
                <a:latin typeface="Consolas" pitchFamily="34" charset="0"/>
                <a:ea typeface="Consolas" pitchFamily="34" charset="-122"/>
                <a:cs typeface="Consolas" pitchFamily="34" charset="-120"/>
              </a:rPr>
              <a:t>DEBUG 10 10</a:t>
            </a:r>
            <a:endParaRPr lang="en-US" sz="900" dirty="0"/>
          </a:p>
          <a:p>
            <a:pPr algn="l" indent="0" marL="0">
              <a:lnSpc>
                <a:spcPts val="1125"/>
              </a:lnSpc>
              <a:buNone/>
            </a:pPr>
            <a:r>
              <a:rPr lang="en-US" sz="900" dirty="0">
                <a:solidFill>
                  <a:srgbClr val="7EE787"/>
                </a:solidFill>
                <a:latin typeface="Consolas" pitchFamily="34" charset="0"/>
                <a:ea typeface="Consolas" pitchFamily="34" charset="-122"/>
                <a:cs typeface="Consolas" pitchFamily="34" charset="-120"/>
              </a:rPr>
              <a:t>3.3333333333333335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DEPURACIÓN</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Leer un traceback de abajo hacia arriba</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15 / 23</a:t>
            </a:r>
            <a:endParaRPr lang="en-US" sz="900" dirty="0"/>
          </a:p>
        </p:txBody>
      </p:sp>
      <p:sp>
        <p:nvSpPr>
          <p:cNvPr id="8" name="Shape 4"/>
          <p:cNvSpPr/>
          <p:nvPr/>
        </p:nvSpPr>
        <p:spPr>
          <a:xfrm>
            <a:off x="548640" y="1463040"/>
            <a:ext cx="6355080" cy="1188720"/>
          </a:xfrm>
          <a:prstGeom prst="roundRect">
            <a:avLst>
              <a:gd name="adj" fmla="val 7692"/>
            </a:avLst>
          </a:prstGeom>
          <a:solidFill>
            <a:srgbClr val="E7EFF8"/>
          </a:solidFill>
          <a:ln/>
        </p:spPr>
      </p:sp>
      <p:sp>
        <p:nvSpPr>
          <p:cNvPr id="9" name="Text 5"/>
          <p:cNvSpPr txBox="1"/>
          <p:nvPr/>
        </p:nvSpPr>
        <p:spPr>
          <a:xfrm>
            <a:off x="822960" y="1600200"/>
            <a:ext cx="5806440" cy="914400"/>
          </a:xfrm>
          <a:prstGeom prst="rect">
            <a:avLst/>
          </a:prstGeom>
          <a:noFill/>
          <a:ln/>
        </p:spPr>
        <p:txBody>
          <a:bodyPr wrap="square" lIns="0" tIns="0" rIns="0" bIns="0" rtlCol="0" anchor="ctr"/>
          <a:lstStyle/>
          <a:p>
            <a:pPr algn="l" indent="0" marL="0">
              <a:buNone/>
            </a:pPr>
            <a:r>
              <a:rPr lang="en-US" sz="1800" b="1" dirty="0">
                <a:solidFill>
                  <a:srgbClr val="2B5B84"/>
                </a:solidFill>
                <a:latin typeface="Segoe UI" pitchFamily="34" charset="0"/>
                <a:ea typeface="Segoe UI" pitchFamily="34" charset="-122"/>
                <a:cs typeface="Segoe UI" pitchFamily="34" charset="-120"/>
              </a:rPr>
              <a:t>El traceback es el informe que deja Python cuando el programa se cae: dice qué pasó, en qué línea y cómo se llegó ahí.</a:t>
            </a:r>
            <a:endParaRPr lang="en-US" sz="1800" dirty="0"/>
          </a:p>
        </p:txBody>
      </p:sp>
      <p:sp>
        <p:nvSpPr>
          <p:cNvPr id="10" name="Text 6"/>
          <p:cNvSpPr txBox="1"/>
          <p:nvPr/>
        </p:nvSpPr>
        <p:spPr>
          <a:xfrm>
            <a:off x="548640" y="2926080"/>
            <a:ext cx="6355080" cy="274320"/>
          </a:xfrm>
          <a:prstGeom prst="rect">
            <a:avLst/>
          </a:prstGeom>
          <a:noFill/>
          <a:ln/>
        </p:spPr>
        <p:txBody>
          <a:bodyPr wrap="square" lIns="0" tIns="0" rIns="0" bIns="0" rtlCol="0" anchor="t"/>
          <a:lstStyle/>
          <a:p>
            <a:pPr algn="l" indent="0" marL="0">
              <a:buNone/>
            </a:pPr>
            <a:r>
              <a:rPr lang="en-US" sz="1100" b="1" spc="150" kern="0" dirty="0">
                <a:solidFill>
                  <a:srgbClr val="4F5A6D"/>
                </a:solidFill>
                <a:latin typeface="Segoe UI" pitchFamily="34" charset="0"/>
                <a:ea typeface="Segoe UI" pitchFamily="34" charset="-122"/>
                <a:cs typeface="Segoe UI" pitchFamily="34" charset="-120"/>
              </a:rPr>
              <a:t>PASO A PASO</a:t>
            </a:r>
            <a:endParaRPr lang="en-US" sz="1100" dirty="0"/>
          </a:p>
        </p:txBody>
      </p:sp>
      <p:sp>
        <p:nvSpPr>
          <p:cNvPr id="11" name="Text 7"/>
          <p:cNvSpPr txBox="1"/>
          <p:nvPr/>
        </p:nvSpPr>
        <p:spPr>
          <a:xfrm>
            <a:off x="548640" y="3328416"/>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1</a:t>
            </a:r>
            <a:endParaRPr lang="en-US" sz="1150" dirty="0"/>
          </a:p>
        </p:txBody>
      </p:sp>
      <p:sp>
        <p:nvSpPr>
          <p:cNvPr id="12" name="Text 8"/>
          <p:cNvSpPr txBox="1"/>
          <p:nvPr/>
        </p:nvSpPr>
        <p:spPr>
          <a:xfrm>
            <a:off x="1005840" y="3310128"/>
            <a:ext cx="5879592" cy="563880"/>
          </a:xfrm>
          <a:prstGeom prst="rect">
            <a:avLst/>
          </a:prstGeom>
          <a:noFill/>
          <a:ln/>
        </p:spPr>
        <p:txBody>
          <a:bodyPr wrap="square" lIns="12700" tIns="12700" rIns="12700" bIns="12700" rtlCol="0" anchor="t"/>
          <a:lstStyle/>
          <a:p>
            <a:pPr algn="l" indent="0" marL="0">
              <a:buNone/>
            </a:pPr>
            <a:r>
              <a:rPr lang="en-US" sz="1550" dirty="0">
                <a:solidFill>
                  <a:srgbClr val="1B2333"/>
                </a:solidFill>
                <a:latin typeface="Segoe UI" pitchFamily="34" charset="0"/>
                <a:ea typeface="Segoe UI" pitchFamily="34" charset="-122"/>
                <a:cs typeface="Segoe UI" pitchFamily="34" charset="-120"/>
              </a:rPr>
              <a:t>Empezá por </a:t>
            </a:r>
            <a:pPr algn="l" indent="0" marL="0">
              <a:buNone/>
            </a:pPr>
            <a:r>
              <a:rPr lang="en-US" sz="1550" b="1" dirty="0">
                <a:solidFill>
                  <a:srgbClr val="1B2333"/>
                </a:solidFill>
                <a:latin typeface="Segoe UI" pitchFamily="34" charset="0"/>
                <a:ea typeface="Segoe UI" pitchFamily="34" charset="-122"/>
                <a:cs typeface="Segoe UI" pitchFamily="34" charset="-120"/>
              </a:rPr>
              <a:t>la última línea</a:t>
            </a:r>
            <a:pPr algn="l" indent="0" marL="0">
              <a:buNone/>
            </a:pPr>
            <a:r>
              <a:rPr lang="en-US" sz="1550" dirty="0">
                <a:solidFill>
                  <a:srgbClr val="1B2333"/>
                </a:solidFill>
                <a:latin typeface="Segoe UI" pitchFamily="34" charset="0"/>
                <a:ea typeface="Segoe UI" pitchFamily="34" charset="-122"/>
                <a:cs typeface="Segoe UI" pitchFamily="34" charset="-120"/>
              </a:rPr>
              <a:t>: el tipo de error y su mensaje. Acá: </a:t>
            </a:r>
            <a:pPr algn="l" indent="0" marL="0">
              <a:buNone/>
            </a:pPr>
            <a:r>
              <a:rPr lang="en-US" sz="1550" dirty="0">
                <a:solidFill>
                  <a:srgbClr val="0F4C81"/>
                </a:solidFill>
                <a:highlight>
                  <a:srgbClr val="E6EDF6"/>
                </a:highlight>
                <a:latin typeface="Consolas" pitchFamily="34" charset="0"/>
                <a:ea typeface="Consolas" pitchFamily="34" charset="-122"/>
                <a:cs typeface="Consolas" pitchFamily="34" charset="-120"/>
              </a:rPr>
              <a:t>ZeroDivisionError: division by zero</a:t>
            </a:r>
            <a:pPr algn="l" indent="0" marL="0">
              <a:buNone/>
            </a:pPr>
            <a:r>
              <a:rPr lang="en-US" sz="1550" dirty="0">
                <a:solidFill>
                  <a:srgbClr val="1B2333"/>
                </a:solidFill>
                <a:latin typeface="Segoe UI" pitchFamily="34" charset="0"/>
                <a:ea typeface="Segoe UI" pitchFamily="34" charset="-122"/>
                <a:cs typeface="Segoe UI" pitchFamily="34" charset="-120"/>
              </a:rPr>
              <a:t>.</a:t>
            </a:r>
            <a:endParaRPr lang="en-US" sz="1550" dirty="0"/>
          </a:p>
        </p:txBody>
      </p:sp>
      <p:sp>
        <p:nvSpPr>
          <p:cNvPr id="13" name="Text 9"/>
          <p:cNvSpPr txBox="1"/>
          <p:nvPr/>
        </p:nvSpPr>
        <p:spPr>
          <a:xfrm>
            <a:off x="548640" y="4020312"/>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2</a:t>
            </a:r>
            <a:endParaRPr lang="en-US" sz="1150" dirty="0"/>
          </a:p>
        </p:txBody>
      </p:sp>
      <p:sp>
        <p:nvSpPr>
          <p:cNvPr id="14" name="Text 10"/>
          <p:cNvSpPr txBox="1"/>
          <p:nvPr/>
        </p:nvSpPr>
        <p:spPr>
          <a:xfrm>
            <a:off x="1005840" y="4002024"/>
            <a:ext cx="5879592" cy="563880"/>
          </a:xfrm>
          <a:prstGeom prst="rect">
            <a:avLst/>
          </a:prstGeom>
          <a:noFill/>
          <a:ln/>
        </p:spPr>
        <p:txBody>
          <a:bodyPr wrap="square" lIns="12700" tIns="12700" rIns="12700" bIns="12700" rtlCol="0" anchor="t"/>
          <a:lstStyle/>
          <a:p>
            <a:pPr algn="l" indent="0" marL="0">
              <a:buNone/>
            </a:pPr>
            <a:r>
              <a:rPr lang="en-US" sz="1550" dirty="0">
                <a:solidFill>
                  <a:srgbClr val="1B2333"/>
                </a:solidFill>
                <a:latin typeface="Segoe UI" pitchFamily="34" charset="0"/>
                <a:ea typeface="Segoe UI" pitchFamily="34" charset="-122"/>
                <a:cs typeface="Segoe UI" pitchFamily="34" charset="-120"/>
              </a:rPr>
              <a:t>Subí una línea: el </a:t>
            </a:r>
            <a:pPr algn="l" indent="0" marL="0">
              <a:buNone/>
            </a:pPr>
            <a:r>
              <a:rPr lang="en-US" sz="1550" b="1" dirty="0">
                <a:solidFill>
                  <a:srgbClr val="1B2333"/>
                </a:solidFill>
                <a:latin typeface="Segoe UI" pitchFamily="34" charset="0"/>
                <a:ea typeface="Segoe UI" pitchFamily="34" charset="-122"/>
                <a:cs typeface="Segoe UI" pitchFamily="34" charset="-120"/>
              </a:rPr>
              <a:t>archivo y el número de línea</a:t>
            </a:r>
            <a:pPr algn="l" indent="0" marL="0">
              <a:buNone/>
            </a:pPr>
            <a:r>
              <a:rPr lang="en-US" sz="1550" dirty="0">
                <a:solidFill>
                  <a:srgbClr val="1B2333"/>
                </a:solidFill>
                <a:latin typeface="Segoe UI" pitchFamily="34" charset="0"/>
                <a:ea typeface="Segoe UI" pitchFamily="34" charset="-122"/>
                <a:cs typeface="Segoe UI" pitchFamily="34" charset="-120"/>
              </a:rPr>
              <a:t> donde explotó (</a:t>
            </a:r>
            <a:pPr algn="l" indent="0" marL="0">
              <a:buNone/>
            </a:pPr>
            <a:r>
              <a:rPr lang="en-US" sz="1550" dirty="0">
                <a:solidFill>
                  <a:srgbClr val="0F4C81"/>
                </a:solidFill>
                <a:highlight>
                  <a:srgbClr val="E6EDF6"/>
                </a:highlight>
                <a:latin typeface="Consolas" pitchFamily="34" charset="0"/>
                <a:ea typeface="Consolas" pitchFamily="34" charset="-122"/>
                <a:cs typeface="Consolas" pitchFamily="34" charset="-120"/>
              </a:rPr>
              <a:t>line 2, in promedio</a:t>
            </a:r>
            <a:pPr algn="l" indent="0" marL="0">
              <a:buNone/>
            </a:pPr>
            <a:r>
              <a:rPr lang="en-US" sz="1550" dirty="0">
                <a:solidFill>
                  <a:srgbClr val="1B2333"/>
                </a:solidFill>
                <a:latin typeface="Segoe UI" pitchFamily="34" charset="0"/>
                <a:ea typeface="Segoe UI" pitchFamily="34" charset="-122"/>
                <a:cs typeface="Segoe UI" pitchFamily="34" charset="-120"/>
              </a:rPr>
              <a:t>) y el código de esa línea.</a:t>
            </a:r>
            <a:endParaRPr lang="en-US" sz="1550" dirty="0"/>
          </a:p>
        </p:txBody>
      </p:sp>
      <p:sp>
        <p:nvSpPr>
          <p:cNvPr id="15" name="Text 11"/>
          <p:cNvSpPr txBox="1"/>
          <p:nvPr/>
        </p:nvSpPr>
        <p:spPr>
          <a:xfrm>
            <a:off x="548640" y="4712208"/>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3</a:t>
            </a:r>
            <a:endParaRPr lang="en-US" sz="1150" dirty="0"/>
          </a:p>
        </p:txBody>
      </p:sp>
      <p:sp>
        <p:nvSpPr>
          <p:cNvPr id="16" name="Text 12"/>
          <p:cNvSpPr txBox="1"/>
          <p:nvPr/>
        </p:nvSpPr>
        <p:spPr>
          <a:xfrm>
            <a:off x="1005840" y="4693920"/>
            <a:ext cx="5879592" cy="563880"/>
          </a:xfrm>
          <a:prstGeom prst="rect">
            <a:avLst/>
          </a:prstGeom>
          <a:noFill/>
          <a:ln/>
        </p:spPr>
        <p:txBody>
          <a:bodyPr wrap="square" lIns="12700" tIns="12700" rIns="12700" bIns="12700" rtlCol="0" anchor="t"/>
          <a:lstStyle/>
          <a:p>
            <a:pPr algn="l" indent="0" marL="0">
              <a:buNone/>
            </a:pPr>
            <a:r>
              <a:rPr lang="en-US" sz="1550" dirty="0">
                <a:solidFill>
                  <a:srgbClr val="1B2333"/>
                </a:solidFill>
                <a:latin typeface="Segoe UI" pitchFamily="34" charset="0"/>
                <a:ea typeface="Segoe UI" pitchFamily="34" charset="-122"/>
                <a:cs typeface="Segoe UI" pitchFamily="34" charset="-120"/>
              </a:rPr>
              <a:t>Más arriba está </a:t>
            </a:r>
            <a:pPr algn="l" indent="0" marL="0">
              <a:buNone/>
            </a:pPr>
            <a:r>
              <a:rPr lang="en-US" sz="1550" b="1" dirty="0">
                <a:solidFill>
                  <a:srgbClr val="1B2333"/>
                </a:solidFill>
                <a:latin typeface="Segoe UI" pitchFamily="34" charset="0"/>
                <a:ea typeface="Segoe UI" pitchFamily="34" charset="-122"/>
                <a:cs typeface="Segoe UI" pitchFamily="34" charset="-120"/>
              </a:rPr>
              <a:t>quién llamó</a:t>
            </a:r>
            <a:pPr algn="l" indent="0" marL="0">
              <a:buNone/>
            </a:pPr>
            <a:r>
              <a:rPr lang="en-US" sz="1550" dirty="0">
                <a:solidFill>
                  <a:srgbClr val="1B2333"/>
                </a:solidFill>
                <a:latin typeface="Segoe UI" pitchFamily="34" charset="0"/>
                <a:ea typeface="Segoe UI" pitchFamily="34" charset="-122"/>
                <a:cs typeface="Segoe UI" pitchFamily="34" charset="-120"/>
              </a:rPr>
              <a:t> a esa función (</a:t>
            </a:r>
            <a:pPr algn="l" indent="0" marL="0">
              <a:buNone/>
            </a:pPr>
            <a:r>
              <a:rPr lang="en-US" sz="1550" dirty="0">
                <a:solidFill>
                  <a:srgbClr val="0F4C81"/>
                </a:solidFill>
                <a:highlight>
                  <a:srgbClr val="E6EDF6"/>
                </a:highlight>
                <a:latin typeface="Consolas" pitchFamily="34" charset="0"/>
                <a:ea typeface="Consolas" pitchFamily="34" charset="-122"/>
                <a:cs typeface="Consolas" pitchFamily="34" charset="-120"/>
              </a:rPr>
              <a:t>line 5, in &lt;module&gt;</a:t>
            </a:r>
            <a:pPr algn="l" indent="0" marL="0">
              <a:buNone/>
            </a:pPr>
            <a:r>
              <a:rPr lang="en-US" sz="1550" dirty="0">
                <a:solidFill>
                  <a:srgbClr val="1B2333"/>
                </a:solidFill>
                <a:latin typeface="Segoe UI" pitchFamily="34" charset="0"/>
                <a:ea typeface="Segoe UI" pitchFamily="34" charset="-122"/>
                <a:cs typeface="Segoe UI" pitchFamily="34" charset="-120"/>
              </a:rPr>
              <a:t>). Sirve para ver de dónde vino el dato malo.</a:t>
            </a:r>
            <a:endParaRPr lang="en-US" sz="1550" dirty="0"/>
          </a:p>
        </p:txBody>
      </p:sp>
      <p:sp>
        <p:nvSpPr>
          <p:cNvPr id="17" name="Text 13"/>
          <p:cNvSpPr txBox="1"/>
          <p:nvPr/>
        </p:nvSpPr>
        <p:spPr>
          <a:xfrm>
            <a:off x="548640" y="5404104"/>
            <a:ext cx="310896" cy="310896"/>
          </a:xfrm>
          <a:prstGeom prst="ellipse">
            <a:avLst/>
          </a:prstGeom>
          <a:solidFill>
            <a:srgbClr val="2B5B84"/>
          </a:solidFill>
          <a:ln/>
        </p:spPr>
        <p:txBody>
          <a:bodyPr wrap="square" lIns="0" tIns="0" rIns="0" bIns="0"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4</a:t>
            </a:r>
            <a:endParaRPr lang="en-US" sz="1150" dirty="0"/>
          </a:p>
        </p:txBody>
      </p:sp>
      <p:sp>
        <p:nvSpPr>
          <p:cNvPr id="18" name="Text 14"/>
          <p:cNvSpPr txBox="1"/>
          <p:nvPr/>
        </p:nvSpPr>
        <p:spPr>
          <a:xfrm>
            <a:off x="1005840" y="5385816"/>
            <a:ext cx="5879592" cy="800100"/>
          </a:xfrm>
          <a:prstGeom prst="rect">
            <a:avLst/>
          </a:prstGeom>
          <a:noFill/>
          <a:ln/>
        </p:spPr>
        <p:txBody>
          <a:bodyPr wrap="square" lIns="12700" tIns="12700" rIns="12700" bIns="12700" rtlCol="0" anchor="t"/>
          <a:lstStyle/>
          <a:p>
            <a:pPr algn="l" indent="0" marL="0">
              <a:buNone/>
            </a:pPr>
            <a:r>
              <a:rPr lang="en-US" sz="1550" dirty="0">
                <a:solidFill>
                  <a:srgbClr val="1B2333"/>
                </a:solidFill>
                <a:latin typeface="Segoe UI" pitchFamily="34" charset="0"/>
                <a:ea typeface="Segoe UI" pitchFamily="34" charset="-122"/>
                <a:cs typeface="Segoe UI" pitchFamily="34" charset="-120"/>
              </a:rPr>
              <a:t>Pregunta clave: </a:t>
            </a:r>
            <a:pPr algn="l" indent="0" marL="0">
              <a:buNone/>
            </a:pPr>
            <a:r>
              <a:rPr lang="en-US" sz="1550" b="1" dirty="0">
                <a:solidFill>
                  <a:srgbClr val="1B2333"/>
                </a:solidFill>
                <a:latin typeface="Segoe UI" pitchFamily="34" charset="0"/>
                <a:ea typeface="Segoe UI" pitchFamily="34" charset="-122"/>
                <a:cs typeface="Segoe UI" pitchFamily="34" charset="-120"/>
              </a:rPr>
              <a:t>¿con qué valor falló?</a:t>
            </a:r>
            <a:pPr algn="l" indent="0" marL="0">
              <a:buNone/>
            </a:pPr>
            <a:r>
              <a:rPr lang="en-US" sz="1550" dirty="0">
                <a:solidFill>
                  <a:srgbClr val="1B2333"/>
                </a:solidFill>
                <a:latin typeface="Segoe UI" pitchFamily="34" charset="0"/>
                <a:ea typeface="Segoe UI" pitchFamily="34" charset="-122"/>
                <a:cs typeface="Segoe UI" pitchFamily="34" charset="-120"/>
              </a:rPr>
              <a:t> Acá la lista de notas estaba vacía. El arreglo va en la función: </a:t>
            </a:r>
            <a:pPr algn="l" indent="0" marL="0">
              <a:buNone/>
            </a:pPr>
            <a:r>
              <a:rPr lang="en-US" sz="1550" dirty="0">
                <a:solidFill>
                  <a:srgbClr val="0F4C81"/>
                </a:solidFill>
                <a:highlight>
                  <a:srgbClr val="E6EDF6"/>
                </a:highlight>
                <a:latin typeface="Consolas" pitchFamily="34" charset="0"/>
                <a:ea typeface="Consolas" pitchFamily="34" charset="-122"/>
                <a:cs typeface="Consolas" pitchFamily="34" charset="-120"/>
              </a:rPr>
              <a:t>if not notas: return 0</a:t>
            </a:r>
            <a:pPr algn="l" indent="0" marL="0">
              <a:buNone/>
            </a:pPr>
            <a:r>
              <a:rPr lang="en-US" sz="1550" dirty="0">
                <a:solidFill>
                  <a:srgbClr val="1B2333"/>
                </a:solidFill>
                <a:latin typeface="Segoe UI" pitchFamily="34" charset="0"/>
                <a:ea typeface="Segoe UI" pitchFamily="34" charset="-122"/>
                <a:cs typeface="Segoe UI" pitchFamily="34" charset="-120"/>
              </a:rPr>
              <a:t>.</a:t>
            </a:r>
            <a:endParaRPr lang="en-US" sz="1550" dirty="0"/>
          </a:p>
        </p:txBody>
      </p:sp>
      <p:sp>
        <p:nvSpPr>
          <p:cNvPr id="19" name="Shape 15"/>
          <p:cNvSpPr/>
          <p:nvPr/>
        </p:nvSpPr>
        <p:spPr>
          <a:xfrm>
            <a:off x="7315200" y="1463040"/>
            <a:ext cx="4327855" cy="1912620"/>
          </a:xfrm>
          <a:prstGeom prst="roundRect">
            <a:avLst>
              <a:gd name="adj" fmla="val 5737"/>
            </a:avLst>
          </a:prstGeom>
          <a:solidFill>
            <a:srgbClr val="FFF4C7"/>
          </a:solidFill>
          <a:ln/>
        </p:spPr>
      </p:sp>
      <p:sp>
        <p:nvSpPr>
          <p:cNvPr id="20" name="Text 16"/>
          <p:cNvSpPr txBox="1"/>
          <p:nvPr/>
        </p:nvSpPr>
        <p:spPr>
          <a:xfrm>
            <a:off x="7543800" y="1645920"/>
            <a:ext cx="457200" cy="457200"/>
          </a:xfrm>
          <a:prstGeom prst="rect">
            <a:avLst/>
          </a:prstGeom>
          <a:noFill/>
          <a:ln/>
        </p:spPr>
        <p:txBody>
          <a:bodyPr wrap="square" lIns="0" tIns="0" rIns="0" bIns="0" rtlCol="0" anchor="t"/>
          <a:lstStyle/>
          <a:p>
            <a:pPr algn="l" indent="0" marL="0">
              <a:buNone/>
            </a:pPr>
            <a:r>
              <a:rPr lang="en-US" sz="2000" dirty="0">
                <a:solidFill>
                  <a:srgbClr val="1B2333"/>
                </a:solidFill>
                <a:latin typeface="Segoe UI Emoji" pitchFamily="34" charset="0"/>
                <a:ea typeface="Segoe UI Emoji" pitchFamily="34" charset="-122"/>
                <a:cs typeface="Segoe UI Emoji" pitchFamily="34" charset="-120"/>
              </a:rPr>
              <a:t>🧾</a:t>
            </a:r>
            <a:endParaRPr lang="en-US" sz="2000" dirty="0"/>
          </a:p>
        </p:txBody>
      </p:sp>
      <p:sp>
        <p:nvSpPr>
          <p:cNvPr id="21" name="Text 17"/>
          <p:cNvSpPr txBox="1"/>
          <p:nvPr/>
        </p:nvSpPr>
        <p:spPr>
          <a:xfrm>
            <a:off x="8092440" y="1682496"/>
            <a:ext cx="3322015" cy="384048"/>
          </a:xfrm>
          <a:prstGeom prst="rect">
            <a:avLst/>
          </a:prstGeom>
          <a:noFill/>
          <a:ln/>
        </p:spPr>
        <p:txBody>
          <a:bodyPr wrap="square" lIns="0" tIns="0" rIns="0" bIns="0" rtlCol="0" anchor="ctr"/>
          <a:lstStyle/>
          <a:p>
            <a:pPr algn="l" indent="0" marL="0">
              <a:buNone/>
            </a:pPr>
            <a:r>
              <a:rPr lang="en-US" sz="1400" b="1" dirty="0">
                <a:solidFill>
                  <a:srgbClr val="7A5600"/>
                </a:solidFill>
                <a:latin typeface="Segoe UI" pitchFamily="34" charset="0"/>
                <a:ea typeface="Segoe UI" pitchFamily="34" charset="-122"/>
                <a:cs typeface="Segoe UI" pitchFamily="34" charset="-120"/>
              </a:rPr>
              <a:t>Como el resumen de la tarjeta</a:t>
            </a:r>
            <a:endParaRPr lang="en-US" sz="1400" dirty="0"/>
          </a:p>
        </p:txBody>
      </p:sp>
      <p:sp>
        <p:nvSpPr>
          <p:cNvPr id="22" name="Text 18"/>
          <p:cNvSpPr txBox="1"/>
          <p:nvPr/>
        </p:nvSpPr>
        <p:spPr>
          <a:xfrm>
            <a:off x="7571232" y="2194560"/>
            <a:ext cx="3824935" cy="1089660"/>
          </a:xfrm>
          <a:prstGeom prst="rect">
            <a:avLst/>
          </a:prstGeom>
          <a:noFill/>
          <a:ln/>
        </p:spPr>
        <p:txBody>
          <a:bodyPr wrap="square" lIns="0" tIns="0" rIns="0" bIns="0" rtlCol="0" anchor="t"/>
          <a:lstStyle/>
          <a:p>
            <a:pPr algn="l" indent="0" marL="0">
              <a:buNone/>
            </a:pPr>
            <a:r>
              <a:rPr lang="en-US" sz="1250" dirty="0">
                <a:solidFill>
                  <a:srgbClr val="1B2333"/>
                </a:solidFill>
                <a:latin typeface="Segoe UI" pitchFamily="34" charset="0"/>
                <a:ea typeface="Segoe UI" pitchFamily="34" charset="-122"/>
                <a:cs typeface="Segoe UI" pitchFamily="34" charset="-120"/>
              </a:rPr>
              <a:t>Si te cobraron de más, no leés el resumen desde el principio: vas al final, ves el cargo raro y después buscás en qué comercio y qué día fue. El traceback se lee igual: primero el error, después dónde y quién lo provocó.</a:t>
            </a:r>
            <a:endParaRPr lang="en-US" sz="1250" dirty="0"/>
          </a:p>
        </p:txBody>
      </p:sp>
      <p:sp>
        <p:nvSpPr>
          <p:cNvPr id="23" name="Shape 19"/>
          <p:cNvSpPr/>
          <p:nvPr/>
        </p:nvSpPr>
        <p:spPr>
          <a:xfrm>
            <a:off x="7315200" y="3604260"/>
            <a:ext cx="4327855" cy="1333043"/>
          </a:xfrm>
          <a:prstGeom prst="roundRect">
            <a:avLst>
              <a:gd name="adj" fmla="val 6859"/>
            </a:avLst>
          </a:prstGeom>
          <a:solidFill>
            <a:srgbClr val="0D1117"/>
          </a:solidFill>
          <a:ln/>
          <a:effectLst>
            <a:outerShdw sx="100000" sy="100000" kx="0" ky="0" algn="bl" rotWithShape="0" blurRad="88900" dist="19050" dir="5400000">
              <a:srgbClr val="1B2333">
                <a:alpha val="10000"/>
              </a:srgbClr>
            </a:outerShdw>
          </a:effectLst>
        </p:spPr>
      </p:sp>
      <p:sp>
        <p:nvSpPr>
          <p:cNvPr id="24" name="Shape 20"/>
          <p:cNvSpPr/>
          <p:nvPr/>
        </p:nvSpPr>
        <p:spPr>
          <a:xfrm>
            <a:off x="7498080" y="3750564"/>
            <a:ext cx="109728" cy="109728"/>
          </a:xfrm>
          <a:prstGeom prst="ellipse">
            <a:avLst/>
          </a:prstGeom>
          <a:solidFill>
            <a:srgbClr val="FF5F57"/>
          </a:solidFill>
          <a:ln/>
        </p:spPr>
      </p:sp>
      <p:sp>
        <p:nvSpPr>
          <p:cNvPr id="25" name="Shape 21"/>
          <p:cNvSpPr/>
          <p:nvPr/>
        </p:nvSpPr>
        <p:spPr>
          <a:xfrm>
            <a:off x="7680960" y="3750564"/>
            <a:ext cx="109728" cy="109728"/>
          </a:xfrm>
          <a:prstGeom prst="ellipse">
            <a:avLst/>
          </a:prstGeom>
          <a:solidFill>
            <a:srgbClr val="FEBC2E"/>
          </a:solidFill>
          <a:ln/>
        </p:spPr>
      </p:sp>
      <p:sp>
        <p:nvSpPr>
          <p:cNvPr id="26" name="Shape 22"/>
          <p:cNvSpPr/>
          <p:nvPr/>
        </p:nvSpPr>
        <p:spPr>
          <a:xfrm>
            <a:off x="7863840" y="3750564"/>
            <a:ext cx="109728" cy="109728"/>
          </a:xfrm>
          <a:prstGeom prst="ellipse">
            <a:avLst/>
          </a:prstGeom>
          <a:solidFill>
            <a:srgbClr val="28C840"/>
          </a:solidFill>
          <a:ln/>
        </p:spPr>
      </p:sp>
      <p:sp>
        <p:nvSpPr>
          <p:cNvPr id="27" name="Text 23"/>
          <p:cNvSpPr txBox="1"/>
          <p:nvPr/>
        </p:nvSpPr>
        <p:spPr>
          <a:xfrm>
            <a:off x="8092440" y="3659124"/>
            <a:ext cx="3413455"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tb.py</a:t>
            </a:r>
            <a:endParaRPr lang="en-US" sz="1050" dirty="0"/>
          </a:p>
        </p:txBody>
      </p:sp>
      <p:sp>
        <p:nvSpPr>
          <p:cNvPr id="28" name="Text 24"/>
          <p:cNvSpPr txBox="1"/>
          <p:nvPr/>
        </p:nvSpPr>
        <p:spPr>
          <a:xfrm>
            <a:off x="7424928" y="4061460"/>
            <a:ext cx="178308" cy="766115"/>
          </a:xfrm>
          <a:prstGeom prst="rect">
            <a:avLst/>
          </a:prstGeom>
          <a:noFill/>
          <a:ln/>
        </p:spPr>
        <p:txBody>
          <a:bodyPr wrap="square" lIns="0" tIns="0" rIns="0" bIns="0" rtlCol="0" anchor="t"/>
          <a:lstStyle/>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1</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2</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3</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4</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5</a:t>
            </a:r>
            <a:endParaRPr lang="en-US" sz="900" dirty="0"/>
          </a:p>
        </p:txBody>
      </p:sp>
      <p:sp>
        <p:nvSpPr>
          <p:cNvPr id="29" name="Text 25"/>
          <p:cNvSpPr txBox="1"/>
          <p:nvPr/>
        </p:nvSpPr>
        <p:spPr>
          <a:xfrm>
            <a:off x="7749540" y="4061460"/>
            <a:ext cx="3829507" cy="766115"/>
          </a:xfrm>
          <a:prstGeom prst="rect">
            <a:avLst/>
          </a:prstGeom>
          <a:noFill/>
          <a:ln/>
        </p:spPr>
        <p:txBody>
          <a:bodyPr wrap="none" lIns="0" tIns="0" rIns="0" bIns="0" rtlCol="0" anchor="t"/>
          <a:lstStyle/>
          <a:p>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def</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A657"/>
                </a:solidFill>
                <a:latin typeface="Consolas" pitchFamily="34" charset="0"/>
                <a:ea typeface="Consolas" pitchFamily="34" charset="-122"/>
                <a:cs typeface="Consolas" pitchFamily="34" charset="-120"/>
              </a:rPr>
              <a:t>promedio</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(notas):</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return</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sum</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(notas) /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len</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(notas)</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alumno = {</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"nombre"</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"Ana"</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"notas"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endParaRPr lang="en-US" sz="900" dirty="0"/>
          </a:p>
          <a:p>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print</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pPr algn="l" indent="0" marL="0">
              <a:lnSpc>
                <a:spcPts val="1125"/>
              </a:lnSpc>
              <a:buNone/>
            </a:pPr>
            <a:r>
              <a:rPr lang="en-US" sz="900" dirty="0">
                <a:solidFill>
                  <a:srgbClr val="FFA657"/>
                </a:solidFill>
                <a:latin typeface="Consolas" pitchFamily="34" charset="0"/>
                <a:ea typeface="Consolas" pitchFamily="34" charset="-122"/>
                <a:cs typeface="Consolas" pitchFamily="34" charset="-120"/>
              </a:rPr>
              <a:t>promedio</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(alumno[</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"notas"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endParaRPr lang="en-US" sz="900" dirty="0"/>
          </a:p>
        </p:txBody>
      </p:sp>
      <p:sp>
        <p:nvSpPr>
          <p:cNvPr id="30" name="Shape 26"/>
          <p:cNvSpPr/>
          <p:nvPr/>
        </p:nvSpPr>
        <p:spPr>
          <a:xfrm>
            <a:off x="7315200" y="5120183"/>
            <a:ext cx="4327855" cy="1097737"/>
          </a:xfrm>
          <a:prstGeom prst="roundRect">
            <a:avLst>
              <a:gd name="adj" fmla="val 8330"/>
            </a:avLst>
          </a:prstGeom>
          <a:solidFill>
            <a:srgbClr val="010409"/>
          </a:solidFill>
          <a:ln/>
        </p:spPr>
      </p:sp>
      <p:sp>
        <p:nvSpPr>
          <p:cNvPr id="31" name="Text 27"/>
          <p:cNvSpPr txBox="1"/>
          <p:nvPr/>
        </p:nvSpPr>
        <p:spPr>
          <a:xfrm>
            <a:off x="7498080" y="5211623"/>
            <a:ext cx="3962095" cy="256032"/>
          </a:xfrm>
          <a:prstGeom prst="rect">
            <a:avLst/>
          </a:prstGeom>
          <a:noFill/>
          <a:ln/>
        </p:spPr>
        <p:txBody>
          <a:bodyPr wrap="square" lIns="0" tIns="0" rIns="0" bIns="0" rtlCol="0" anchor="t"/>
          <a:lstStyle/>
          <a:p>
            <a:pPr algn="l" indent="0" marL="0">
              <a:buNone/>
            </a:pPr>
            <a:r>
              <a:rPr lang="en-US" sz="950" b="1" spc="150" kern="0" dirty="0">
                <a:solidFill>
                  <a:srgbClr val="6E7681"/>
                </a:solidFill>
                <a:latin typeface="Segoe UI" pitchFamily="34" charset="0"/>
                <a:ea typeface="Segoe UI" pitchFamily="34" charset="-122"/>
                <a:cs typeface="Segoe UI" pitchFamily="34" charset="-120"/>
              </a:rPr>
              <a:t>SALIDA EN CONSOLA</a:t>
            </a:r>
            <a:endParaRPr lang="en-US" sz="950" dirty="0"/>
          </a:p>
        </p:txBody>
      </p:sp>
      <p:sp>
        <p:nvSpPr>
          <p:cNvPr id="32" name="Text 28"/>
          <p:cNvSpPr txBox="1"/>
          <p:nvPr/>
        </p:nvSpPr>
        <p:spPr>
          <a:xfrm>
            <a:off x="7498080" y="5504231"/>
            <a:ext cx="4007815" cy="640537"/>
          </a:xfrm>
          <a:prstGeom prst="rect">
            <a:avLst/>
          </a:prstGeom>
          <a:noFill/>
          <a:ln/>
        </p:spPr>
        <p:txBody>
          <a:bodyPr wrap="none" lIns="0" tIns="0" rIns="0" bIns="0" rtlCol="0" anchor="t"/>
          <a:lstStyle/>
          <a:p>
            <a:pPr algn="l" indent="0" marL="0">
              <a:lnSpc>
                <a:spcPts val="1625"/>
              </a:lnSpc>
              <a:buNone/>
            </a:pPr>
            <a:r>
              <a:rPr lang="en-US" sz="1300" dirty="0">
                <a:solidFill>
                  <a:srgbClr val="7EE787"/>
                </a:solidFill>
                <a:latin typeface="Consolas" pitchFamily="34" charset="0"/>
                <a:ea typeface="Consolas" pitchFamily="34" charset="-122"/>
                <a:cs typeface="Consolas" pitchFamily="34" charset="-120"/>
              </a:rPr>
              <a:t>  File "...\tb.py", line 2, in promedio</a:t>
            </a:r>
            <a:endParaRPr lang="en-US" sz="1300" dirty="0"/>
          </a:p>
          <a:p>
            <a:pPr algn="l" indent="0" marL="0">
              <a:lnSpc>
                <a:spcPts val="1625"/>
              </a:lnSpc>
              <a:buNone/>
            </a:pPr>
            <a:r>
              <a:rPr lang="en-US" sz="1300" dirty="0">
                <a:solidFill>
                  <a:srgbClr val="7EE787"/>
                </a:solidFill>
                <a:latin typeface="Consolas" pitchFamily="34" charset="0"/>
                <a:ea typeface="Consolas" pitchFamily="34" charset="-122"/>
                <a:cs typeface="Consolas" pitchFamily="34" charset="-120"/>
              </a:rPr>
              <a:t>    return sum(notas) / len(notas)</a:t>
            </a:r>
            <a:endParaRPr lang="en-US" sz="1300" dirty="0"/>
          </a:p>
          <a:p>
            <a:pPr algn="l" indent="0" marL="0">
              <a:lnSpc>
                <a:spcPts val="1625"/>
              </a:lnSpc>
              <a:buNone/>
            </a:pPr>
            <a:r>
              <a:rPr lang="en-US" sz="1300" dirty="0">
                <a:solidFill>
                  <a:srgbClr val="7EE787"/>
                </a:solidFill>
                <a:latin typeface="Consolas" pitchFamily="34" charset="0"/>
                <a:ea typeface="Consolas" pitchFamily="34" charset="-122"/>
                <a:cs typeface="Consolas" pitchFamily="34" charset="-120"/>
              </a:rPr>
              <a:t>ZeroDivisionError: division by zero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CÓDIGO DEL PROYECTO</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400" b="1" dirty="0">
                <a:solidFill>
                  <a:srgbClr val="1B2333"/>
                </a:solidFill>
                <a:latin typeface="Segoe UI" pitchFamily="34" charset="0"/>
                <a:ea typeface="Segoe UI" pitchFamily="34" charset="-122"/>
                <a:cs typeface="Segoe UI" pitchFamily="34" charset="-120"/>
              </a:rPr>
              <a:t>clase27_plantilla_proyecto.py: dónde conviene refactorizar</a:t>
            </a:r>
            <a:endParaRPr lang="en-US" sz="24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16 / 23</a:t>
            </a:r>
            <a:endParaRPr lang="en-US" sz="900" dirty="0"/>
          </a:p>
        </p:txBody>
      </p:sp>
      <p:sp>
        <p:nvSpPr>
          <p:cNvPr id="8" name="Shape 4"/>
          <p:cNvSpPr/>
          <p:nvPr/>
        </p:nvSpPr>
        <p:spPr>
          <a:xfrm>
            <a:off x="548640" y="1463040"/>
            <a:ext cx="6720840" cy="4407408"/>
          </a:xfrm>
          <a:prstGeom prst="roundRect">
            <a:avLst>
              <a:gd name="adj" fmla="val 2075"/>
            </a:avLst>
          </a:prstGeom>
          <a:solidFill>
            <a:srgbClr val="0D1117"/>
          </a:solidFill>
          <a:ln/>
          <a:effectLst>
            <a:outerShdw sx="100000" sy="100000" kx="0" ky="0" algn="bl" rotWithShape="0" blurRad="88900" dist="19050" dir="5400000">
              <a:srgbClr val="1B2333">
                <a:alpha val="10000"/>
              </a:srgbClr>
            </a:outerShdw>
          </a:effectLst>
        </p:spPr>
      </p:sp>
      <p:sp>
        <p:nvSpPr>
          <p:cNvPr id="9" name="Shape 5"/>
          <p:cNvSpPr/>
          <p:nvPr/>
        </p:nvSpPr>
        <p:spPr>
          <a:xfrm>
            <a:off x="731520" y="1609344"/>
            <a:ext cx="109728" cy="109728"/>
          </a:xfrm>
          <a:prstGeom prst="ellipse">
            <a:avLst/>
          </a:prstGeom>
          <a:solidFill>
            <a:srgbClr val="FF5F57"/>
          </a:solidFill>
          <a:ln/>
        </p:spPr>
      </p:sp>
      <p:sp>
        <p:nvSpPr>
          <p:cNvPr id="10" name="Shape 6"/>
          <p:cNvSpPr/>
          <p:nvPr/>
        </p:nvSpPr>
        <p:spPr>
          <a:xfrm>
            <a:off x="914400" y="1609344"/>
            <a:ext cx="109728" cy="109728"/>
          </a:xfrm>
          <a:prstGeom prst="ellipse">
            <a:avLst/>
          </a:prstGeom>
          <a:solidFill>
            <a:srgbClr val="FEBC2E"/>
          </a:solidFill>
          <a:ln/>
        </p:spPr>
      </p:sp>
      <p:sp>
        <p:nvSpPr>
          <p:cNvPr id="11" name="Shape 7"/>
          <p:cNvSpPr/>
          <p:nvPr/>
        </p:nvSpPr>
        <p:spPr>
          <a:xfrm>
            <a:off x="1097280" y="1609344"/>
            <a:ext cx="109728" cy="109728"/>
          </a:xfrm>
          <a:prstGeom prst="ellipse">
            <a:avLst/>
          </a:prstGeom>
          <a:solidFill>
            <a:srgbClr val="28C840"/>
          </a:solidFill>
          <a:ln/>
        </p:spPr>
      </p:sp>
      <p:sp>
        <p:nvSpPr>
          <p:cNvPr id="12" name="Text 8"/>
          <p:cNvSpPr txBox="1"/>
          <p:nvPr/>
        </p:nvSpPr>
        <p:spPr>
          <a:xfrm>
            <a:off x="1325880" y="1517904"/>
            <a:ext cx="5806440"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clase27_plantilla_proyecto.py</a:t>
            </a:r>
            <a:endParaRPr lang="en-US" sz="1050" dirty="0"/>
          </a:p>
        </p:txBody>
      </p:sp>
      <p:sp>
        <p:nvSpPr>
          <p:cNvPr id="13" name="Text 9"/>
          <p:cNvSpPr txBox="1"/>
          <p:nvPr/>
        </p:nvSpPr>
        <p:spPr>
          <a:xfrm>
            <a:off x="658368" y="1920240"/>
            <a:ext cx="246888" cy="3840480"/>
          </a:xfrm>
          <a:prstGeom prst="rect">
            <a:avLst/>
          </a:prstGeom>
          <a:noFill/>
          <a:ln/>
        </p:spPr>
        <p:txBody>
          <a:bodyPr wrap="square" lIns="0" tIns="0" rIns="0" bIns="0" rtlCol="0" anchor="t"/>
          <a:lstStyle/>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74</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75</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76</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77</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78</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79</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80</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81</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82</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83</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84</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85</a:t>
            </a:r>
            <a:endParaRPr lang="en-US" sz="900" dirty="0"/>
          </a:p>
          <a:p>
            <a:pPr algn="r" indent="0" marL="0">
              <a:lnSpc>
                <a:spcPts val="1125"/>
              </a:lnSpc>
              <a:buNone/>
            </a:pPr>
            <a:r>
              <a:rPr lang="en-US" sz="900" dirty="0">
                <a:solidFill>
                  <a:srgbClr val="6E7681"/>
                </a:solidFill>
                <a:latin typeface="Consolas" pitchFamily="34" charset="0"/>
                <a:ea typeface="Consolas" pitchFamily="34" charset="-122"/>
                <a:cs typeface="Consolas" pitchFamily="34" charset="-120"/>
              </a:rPr>
              <a:t>86</a:t>
            </a:r>
            <a:endParaRPr lang="en-US" sz="900" dirty="0"/>
          </a:p>
        </p:txBody>
      </p:sp>
      <p:sp>
        <p:nvSpPr>
          <p:cNvPr id="14" name="Text 10"/>
          <p:cNvSpPr txBox="1"/>
          <p:nvPr/>
        </p:nvSpPr>
        <p:spPr>
          <a:xfrm>
            <a:off x="1051560" y="1920240"/>
            <a:ext cx="6153912" cy="3840480"/>
          </a:xfrm>
          <a:prstGeom prst="rect">
            <a:avLst/>
          </a:prstGeom>
          <a:noFill/>
          <a:ln/>
        </p:spPr>
        <p:txBody>
          <a:bodyPr wrap="none" lIns="0" tIns="0" rIns="0" bIns="0" rtlCol="0" anchor="t"/>
          <a:lstStyle/>
          <a:p>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def</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A657"/>
                </a:solidFill>
                <a:latin typeface="Consolas" pitchFamily="34" charset="0"/>
                <a:ea typeface="Consolas" pitchFamily="34" charset="-122"/>
                <a:cs typeface="Consolas" pitchFamily="34" charset="-120"/>
              </a:rPr>
              <a:t>listado</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(alumnos):</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"""Muestra el listado con promedios, ordenado por promedio descendente."""</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for</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in</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sorted</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(alumnos, key=</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lambda</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x: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sum</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(x[</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"notas"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len</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(x[</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"notas"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reverse=</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True</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prom =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sum</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"notas"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len</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"notas"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print</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f"{a['nombre']:&lt;20} {a['notas']} -&gt; {prom:.1f}"</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endParaRPr lang="en-US" sz="900" dirty="0"/>
          </a:p>
          <a:p>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def</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A657"/>
                </a:solidFill>
                <a:latin typeface="Consolas" pitchFamily="34" charset="0"/>
                <a:ea typeface="Consolas" pitchFamily="34" charset="-122"/>
                <a:cs typeface="Consolas" pitchFamily="34" charset="-120"/>
              </a:rPr>
              <a:t>promedio_general</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(alumnos):</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"""Promedio general del curso."""</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if</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not</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alumnos:                 </a:t>
            </a:r>
            <a:pPr algn="l" indent="0" marL="0">
              <a:lnSpc>
                <a:spcPts val="1125"/>
              </a:lnSpc>
              <a:buNone/>
            </a:pPr>
            <a:r>
              <a:rPr lang="en-US" sz="900" i="1" dirty="0">
                <a:solidFill>
                  <a:srgbClr val="8B949E"/>
                </a:solidFill>
                <a:latin typeface="Consolas" pitchFamily="34" charset="0"/>
                <a:ea typeface="Consolas" pitchFamily="34" charset="-122"/>
                <a:cs typeface="Consolas" pitchFamily="34" charset="-120"/>
              </a:rPr>
              <a:t># lista vacia -&gt; False: patron pythonico</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print</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 hay alumnos"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return</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todas = [n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for</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in</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alumnos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for</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n </a:t>
            </a:r>
            <a:pPr algn="l" indent="0" marL="0">
              <a:lnSpc>
                <a:spcPts val="1125"/>
              </a:lnSpc>
              <a:buNone/>
            </a:pPr>
            <a:r>
              <a:rPr lang="en-US" sz="900" dirty="0">
                <a:solidFill>
                  <a:srgbClr val="FF7B72"/>
                </a:solidFill>
                <a:latin typeface="Consolas" pitchFamily="34" charset="0"/>
                <a:ea typeface="Consolas" pitchFamily="34" charset="-122"/>
                <a:cs typeface="Consolas" pitchFamily="34" charset="-120"/>
              </a:rPr>
              <a:t>in</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"notas"</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endParaRPr lang="en-US" sz="900" dirty="0"/>
          </a:p>
          <a:p>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    </a:t>
            </a:r>
            <a:pPr algn="l" indent="0" marL="0">
              <a:lnSpc>
                <a:spcPts val="1125"/>
              </a:lnSpc>
              <a:buNone/>
            </a:pPr>
            <a:r>
              <a:rPr lang="en-US" sz="900" dirty="0">
                <a:solidFill>
                  <a:srgbClr val="D2A8FF"/>
                </a:solidFill>
                <a:latin typeface="Consolas" pitchFamily="34" charset="0"/>
                <a:ea typeface="Consolas" pitchFamily="34" charset="-122"/>
                <a:cs typeface="Consolas" pitchFamily="34" charset="-120"/>
              </a:rPr>
              <a:t>print</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pPr algn="l" indent="0" marL="0">
              <a:lnSpc>
                <a:spcPts val="1125"/>
              </a:lnSpc>
              <a:buNone/>
            </a:pPr>
            <a:r>
              <a:rPr lang="en-US" sz="900" dirty="0">
                <a:solidFill>
                  <a:srgbClr val="A5D6FF"/>
                </a:solidFill>
                <a:latin typeface="Consolas" pitchFamily="34" charset="0"/>
                <a:ea typeface="Consolas" pitchFamily="34" charset="-122"/>
                <a:cs typeface="Consolas" pitchFamily="34" charset="-120"/>
              </a:rPr>
              <a:t>f"Promedio general: {sum(todas) / len(todas):.2f}"</a:t>
            </a:r>
            <a:pPr algn="l" indent="0" marL="0">
              <a:lnSpc>
                <a:spcPts val="1125"/>
              </a:lnSpc>
              <a:buNone/>
            </a:pPr>
            <a:r>
              <a:rPr lang="en-US" sz="900" dirty="0">
                <a:solidFill>
                  <a:srgbClr val="E6EDF3"/>
                </a:solidFill>
                <a:latin typeface="Consolas" pitchFamily="34" charset="0"/>
                <a:ea typeface="Consolas" pitchFamily="34" charset="-122"/>
                <a:cs typeface="Consolas" pitchFamily="34" charset="-120"/>
              </a:rPr>
              <a:t>)</a:t>
            </a:r>
            <a:endParaRPr lang="en-US" sz="900" dirty="0"/>
          </a:p>
        </p:txBody>
      </p:sp>
      <p:sp>
        <p:nvSpPr>
          <p:cNvPr id="15" name="Text 11"/>
          <p:cNvSpPr txBox="1"/>
          <p:nvPr/>
        </p:nvSpPr>
        <p:spPr>
          <a:xfrm>
            <a:off x="7635240" y="1481328"/>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L76–77</a:t>
            </a:r>
            <a:endParaRPr lang="en-US" sz="950" dirty="0"/>
          </a:p>
        </p:txBody>
      </p:sp>
      <p:sp>
        <p:nvSpPr>
          <p:cNvPr id="16" name="Text 12"/>
          <p:cNvSpPr txBox="1"/>
          <p:nvPr/>
        </p:nvSpPr>
        <p:spPr>
          <a:xfrm>
            <a:off x="8503920" y="1463040"/>
            <a:ext cx="3139135" cy="75438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La cuenta del promedio está </a:t>
            </a:r>
            <a:pPr algn="l" indent="0" marL="0">
              <a:buNone/>
            </a:pPr>
            <a:r>
              <a:rPr lang="en-US" sz="1450" b="1" dirty="0">
                <a:solidFill>
                  <a:srgbClr val="1B2333"/>
                </a:solidFill>
                <a:latin typeface="Segoe UI" pitchFamily="34" charset="0"/>
                <a:ea typeface="Segoe UI" pitchFamily="34" charset="-122"/>
                <a:cs typeface="Segoe UI" pitchFamily="34" charset="-120"/>
              </a:rPr>
              <a:t>dos veces</a:t>
            </a:r>
            <a:pPr algn="l" indent="0" marL="0">
              <a:buNone/>
            </a:pPr>
            <a:r>
              <a:rPr lang="en-US" sz="1450" dirty="0">
                <a:solidFill>
                  <a:srgbClr val="1B2333"/>
                </a:solidFill>
                <a:latin typeface="Segoe UI" pitchFamily="34" charset="0"/>
                <a:ea typeface="Segoe UI" pitchFamily="34" charset="-122"/>
                <a:cs typeface="Segoe UI" pitchFamily="34" charset="-120"/>
              </a:rPr>
              <a:t>: si hay que cambiarla, hay que acordarse de ambas.</a:t>
            </a:r>
            <a:endParaRPr lang="en-US" sz="1450" dirty="0"/>
          </a:p>
        </p:txBody>
      </p:sp>
      <p:sp>
        <p:nvSpPr>
          <p:cNvPr id="17" name="Text 13"/>
          <p:cNvSpPr txBox="1"/>
          <p:nvPr/>
        </p:nvSpPr>
        <p:spPr>
          <a:xfrm>
            <a:off x="7635240" y="2363724"/>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L76</a:t>
            </a:r>
            <a:endParaRPr lang="en-US" sz="950" dirty="0"/>
          </a:p>
        </p:txBody>
      </p:sp>
      <p:sp>
        <p:nvSpPr>
          <p:cNvPr id="18" name="Text 14"/>
          <p:cNvSpPr txBox="1"/>
          <p:nvPr/>
        </p:nvSpPr>
        <p:spPr>
          <a:xfrm>
            <a:off x="8503920" y="2345436"/>
            <a:ext cx="3139135" cy="754380"/>
          </a:xfrm>
          <a:prstGeom prst="rect">
            <a:avLst/>
          </a:prstGeom>
          <a:noFill/>
          <a:ln/>
        </p:spPr>
        <p:txBody>
          <a:bodyPr wrap="square" lIns="12700" tIns="12700" rIns="12700" bIns="12700" rtlCol="0" anchor="t"/>
          <a:lstStyle/>
          <a:p>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key=lambda</a:t>
            </a:r>
            <a:pPr algn="l" indent="0" marL="0">
              <a:buNone/>
            </a:pPr>
            <a:r>
              <a:rPr lang="en-US" sz="1450" dirty="0">
                <a:solidFill>
                  <a:srgbClr val="1B2333"/>
                </a:solidFill>
                <a:latin typeface="Segoe UI" pitchFamily="34" charset="0"/>
                <a:ea typeface="Segoe UI" pitchFamily="34" charset="-122"/>
                <a:cs typeface="Segoe UI" pitchFamily="34" charset="-120"/>
              </a:rPr>
              <a:t>: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sorted</a:t>
            </a:r>
            <a:pPr algn="l" indent="0" marL="0">
              <a:buNone/>
            </a:pPr>
            <a:r>
              <a:rPr lang="en-US" sz="1450" dirty="0">
                <a:solidFill>
                  <a:srgbClr val="1B2333"/>
                </a:solidFill>
                <a:latin typeface="Segoe UI" pitchFamily="34" charset="0"/>
                <a:ea typeface="Segoe UI" pitchFamily="34" charset="-122"/>
                <a:cs typeface="Segoe UI" pitchFamily="34" charset="-120"/>
              </a:rPr>
              <a:t> ordena por el valor que devuelve la función para cada alumno.</a:t>
            </a:r>
            <a:endParaRPr lang="en-US" sz="1450" dirty="0"/>
          </a:p>
        </p:txBody>
      </p:sp>
      <p:sp>
        <p:nvSpPr>
          <p:cNvPr id="19" name="Text 15"/>
          <p:cNvSpPr txBox="1"/>
          <p:nvPr/>
        </p:nvSpPr>
        <p:spPr>
          <a:xfrm>
            <a:off x="7635240" y="3246120"/>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L82–84</a:t>
            </a:r>
            <a:endParaRPr lang="en-US" sz="950" dirty="0"/>
          </a:p>
        </p:txBody>
      </p:sp>
      <p:sp>
        <p:nvSpPr>
          <p:cNvPr id="20" name="Text 16"/>
          <p:cNvSpPr txBox="1"/>
          <p:nvPr/>
        </p:nvSpPr>
        <p:spPr>
          <a:xfrm>
            <a:off x="8503920" y="3227832"/>
            <a:ext cx="3139135" cy="754380"/>
          </a:xfrm>
          <a:prstGeom prst="rect">
            <a:avLst/>
          </a:prstGeom>
          <a:noFill/>
          <a:ln/>
        </p:spPr>
        <p:txBody>
          <a:bodyPr wrap="square" lIns="12700" tIns="12700" rIns="12700" bIns="12700" rtlCol="0" anchor="t"/>
          <a:lstStyle/>
          <a:p>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if not alumnos</a:t>
            </a:r>
            <a:pPr algn="l" indent="0" marL="0">
              <a:buNone/>
            </a:pPr>
            <a:r>
              <a:rPr lang="en-US" sz="1450" dirty="0">
                <a:solidFill>
                  <a:srgbClr val="1B2333"/>
                </a:solidFill>
                <a:latin typeface="Segoe UI" pitchFamily="34" charset="0"/>
                <a:ea typeface="Segoe UI" pitchFamily="34" charset="-122"/>
                <a:cs typeface="Segoe UI" pitchFamily="34" charset="-120"/>
              </a:rPr>
              <a:t>: lista vacía es falsa. Evita dividir por cero más abajo.</a:t>
            </a:r>
            <a:endParaRPr lang="en-US" sz="1450" dirty="0"/>
          </a:p>
        </p:txBody>
      </p:sp>
      <p:sp>
        <p:nvSpPr>
          <p:cNvPr id="21" name="Text 17"/>
          <p:cNvSpPr txBox="1"/>
          <p:nvPr/>
        </p:nvSpPr>
        <p:spPr>
          <a:xfrm>
            <a:off x="7635240" y="4128516"/>
            <a:ext cx="749808" cy="274320"/>
          </a:xfrm>
          <a:prstGeom prst="roundRect">
            <a:avLst>
              <a:gd name="adj" fmla="val 50000"/>
            </a:avLst>
          </a:prstGeom>
          <a:solidFill>
            <a:srgbClr val="E7EFF8"/>
          </a:solidFill>
          <a:ln/>
        </p:spPr>
        <p:txBody>
          <a:bodyPr wrap="square" lIns="0" tIns="0" rIns="0" bIns="0" rtlCol="0" anchor="ctr"/>
          <a:lstStyle/>
          <a:p>
            <a:pPr algn="ctr" indent="0" marL="0">
              <a:buNone/>
            </a:pPr>
            <a:r>
              <a:rPr lang="en-US" sz="950" b="1" spc="100" kern="0" dirty="0">
                <a:solidFill>
                  <a:srgbClr val="2B5B84"/>
                </a:solidFill>
                <a:latin typeface="Segoe UI" pitchFamily="34" charset="0"/>
                <a:ea typeface="Segoe UI" pitchFamily="34" charset="-122"/>
                <a:cs typeface="Segoe UI" pitchFamily="34" charset="-120"/>
              </a:rPr>
              <a:t>L85</a:t>
            </a:r>
            <a:endParaRPr lang="en-US" sz="950" dirty="0"/>
          </a:p>
        </p:txBody>
      </p:sp>
      <p:sp>
        <p:nvSpPr>
          <p:cNvPr id="22" name="Text 18"/>
          <p:cNvSpPr txBox="1"/>
          <p:nvPr/>
        </p:nvSpPr>
        <p:spPr>
          <a:xfrm>
            <a:off x="8503920" y="4110228"/>
            <a:ext cx="3139135" cy="754380"/>
          </a:xfrm>
          <a:prstGeom prst="rect">
            <a:avLst/>
          </a:prstGeom>
          <a:noFill/>
          <a:ln/>
        </p:spPr>
        <p:txBody>
          <a:bodyPr wrap="square" lIns="12700" tIns="12700" rIns="12700" bIns="12700" rtlCol="0" anchor="t"/>
          <a:lstStyle/>
          <a:p>
            <a:pPr algn="l" indent="0" marL="0">
              <a:buNone/>
            </a:pPr>
            <a:r>
              <a:rPr lang="en-US" sz="1450" dirty="0">
                <a:solidFill>
                  <a:srgbClr val="1B2333"/>
                </a:solidFill>
                <a:latin typeface="Segoe UI" pitchFamily="34" charset="0"/>
                <a:ea typeface="Segoe UI" pitchFamily="34" charset="-122"/>
                <a:cs typeface="Segoe UI" pitchFamily="34" charset="-120"/>
              </a:rPr>
              <a:t>Comprensión anidada: junta todas las notas de todos los alumnos en una lista.</a:t>
            </a:r>
            <a:endParaRPr lang="en-US" sz="1450" dirty="0"/>
          </a:p>
        </p:txBody>
      </p:sp>
      <p:sp>
        <p:nvSpPr>
          <p:cNvPr id="23" name="Shape 19"/>
          <p:cNvSpPr/>
          <p:nvPr/>
        </p:nvSpPr>
        <p:spPr>
          <a:xfrm>
            <a:off x="7635240" y="5102352"/>
            <a:ext cx="4007815" cy="1115568"/>
          </a:xfrm>
          <a:prstGeom prst="roundRect">
            <a:avLst>
              <a:gd name="adj" fmla="val 8197"/>
            </a:avLst>
          </a:prstGeom>
          <a:solidFill>
            <a:srgbClr val="010409"/>
          </a:solidFill>
          <a:ln/>
        </p:spPr>
      </p:sp>
      <p:sp>
        <p:nvSpPr>
          <p:cNvPr id="24" name="Text 20"/>
          <p:cNvSpPr txBox="1"/>
          <p:nvPr/>
        </p:nvSpPr>
        <p:spPr>
          <a:xfrm>
            <a:off x="7818120" y="5193792"/>
            <a:ext cx="3642055" cy="256032"/>
          </a:xfrm>
          <a:prstGeom prst="rect">
            <a:avLst/>
          </a:prstGeom>
          <a:noFill/>
          <a:ln/>
        </p:spPr>
        <p:txBody>
          <a:bodyPr wrap="square" lIns="0" tIns="0" rIns="0" bIns="0" rtlCol="0" anchor="t"/>
          <a:lstStyle/>
          <a:p>
            <a:pPr algn="l" indent="0" marL="0">
              <a:buNone/>
            </a:pPr>
            <a:r>
              <a:rPr lang="en-US" sz="950" b="1" spc="150" kern="0" dirty="0">
                <a:solidFill>
                  <a:srgbClr val="6E7681"/>
                </a:solidFill>
                <a:latin typeface="Segoe UI" pitchFamily="34" charset="0"/>
                <a:ea typeface="Segoe UI" pitchFamily="34" charset="-122"/>
                <a:cs typeface="Segoe UI" pitchFamily="34" charset="-120"/>
              </a:rPr>
              <a:t>SALIDA EN CONSOLA</a:t>
            </a:r>
            <a:endParaRPr lang="en-US" sz="950" dirty="0"/>
          </a:p>
        </p:txBody>
      </p:sp>
      <p:sp>
        <p:nvSpPr>
          <p:cNvPr id="25" name="Text 21"/>
          <p:cNvSpPr txBox="1"/>
          <p:nvPr/>
        </p:nvSpPr>
        <p:spPr>
          <a:xfrm>
            <a:off x="7818120" y="5486400"/>
            <a:ext cx="3687775" cy="658368"/>
          </a:xfrm>
          <a:prstGeom prst="rect">
            <a:avLst/>
          </a:prstGeom>
          <a:noFill/>
          <a:ln/>
        </p:spPr>
        <p:txBody>
          <a:bodyPr wrap="none" lIns="0" tIns="0" rIns="0" bIns="0" rtlCol="0" anchor="t"/>
          <a:lstStyle/>
          <a:p>
            <a:pPr algn="l" indent="0" marL="0">
              <a:lnSpc>
                <a:spcPts val="1438"/>
              </a:lnSpc>
              <a:buNone/>
            </a:pPr>
            <a:r>
              <a:rPr lang="en-US" sz="1150" dirty="0">
                <a:solidFill>
                  <a:srgbClr val="7EE787"/>
                </a:solidFill>
                <a:latin typeface="Consolas" pitchFamily="34" charset="0"/>
                <a:ea typeface="Consolas" pitchFamily="34" charset="-122"/>
                <a:cs typeface="Consolas" pitchFamily="34" charset="-120"/>
              </a:rPr>
              <a:t>Ana Perez            [8.0, 7.0, 9.0] -&gt; 8.0</a:t>
            </a:r>
            <a:endParaRPr lang="en-US" sz="1150" dirty="0"/>
          </a:p>
          <a:p>
            <a:pPr algn="l" indent="0" marL="0">
              <a:lnSpc>
                <a:spcPts val="1438"/>
              </a:lnSpc>
              <a:buNone/>
            </a:pPr>
            <a:r>
              <a:rPr lang="en-US" sz="1150" dirty="0">
                <a:solidFill>
                  <a:srgbClr val="7EE787"/>
                </a:solidFill>
                <a:latin typeface="Consolas" pitchFamily="34" charset="0"/>
                <a:ea typeface="Consolas" pitchFamily="34" charset="-122"/>
                <a:cs typeface="Consolas" pitchFamily="34" charset="-120"/>
              </a:rPr>
              <a:t>Luis Gomez           [6.0, 5.0, 4.0] -&gt; 5.0</a:t>
            </a:r>
            <a:endParaRPr lang="en-US" sz="1150" dirty="0"/>
          </a:p>
          <a:p>
            <a:pPr algn="l" indent="0" marL="0">
              <a:lnSpc>
                <a:spcPts val="1438"/>
              </a:lnSpc>
              <a:buNone/>
            </a:pPr>
            <a:r>
              <a:rPr lang="en-US" sz="1150" dirty="0">
                <a:solidFill>
                  <a:srgbClr val="7EE787"/>
                </a:solidFill>
                <a:latin typeface="Consolas" pitchFamily="34" charset="0"/>
                <a:ea typeface="Consolas" pitchFamily="34" charset="-122"/>
                <a:cs typeface="Consolas" pitchFamily="34" charset="-120"/>
              </a:rPr>
              <a:t>Promedio general: 6.50</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REFACTORIZAR</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Refactorizar: mismo resultado, código más claro</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17 / 23</a:t>
            </a:r>
            <a:endParaRPr lang="en-US" sz="900" dirty="0"/>
          </a:p>
        </p:txBody>
      </p:sp>
      <p:sp>
        <p:nvSpPr>
          <p:cNvPr id="8" name="Shape 4"/>
          <p:cNvSpPr/>
          <p:nvPr/>
        </p:nvSpPr>
        <p:spPr>
          <a:xfrm>
            <a:off x="548640" y="1463040"/>
            <a:ext cx="5364328" cy="3977640"/>
          </a:xfrm>
          <a:prstGeom prst="roundRect">
            <a:avLst>
              <a:gd name="adj" fmla="val 2299"/>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691640"/>
            <a:ext cx="4907128" cy="420624"/>
          </a:xfrm>
          <a:prstGeom prst="roundRect">
            <a:avLst>
              <a:gd name="adj" fmla="val 50000"/>
            </a:avLst>
          </a:prstGeom>
          <a:solidFill>
            <a:srgbClr val="C23B3B"/>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  Antes: la cuenta repetida</a:t>
            </a:r>
            <a:endParaRPr lang="en-US" sz="1250" dirty="0"/>
          </a:p>
        </p:txBody>
      </p:sp>
      <p:sp>
        <p:nvSpPr>
          <p:cNvPr id="10" name="Text 6"/>
          <p:cNvSpPr txBox="1"/>
          <p:nvPr/>
        </p:nvSpPr>
        <p:spPr>
          <a:xfrm>
            <a:off x="777240" y="2286000"/>
            <a:ext cx="4952848" cy="1764792"/>
          </a:xfrm>
          <a:prstGeom prst="rect">
            <a:avLst/>
          </a:prstGeom>
          <a:noFill/>
          <a:ln/>
        </p:spPr>
        <p:txBody>
          <a:bodyPr wrap="square" lIns="25400" tIns="25400" rIns="25400" bIns="25400" rtlCol="0" anchor="t"/>
          <a:lstStyle/>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La fórmula del promedio aparece dos veces en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listado()</a:t>
            </a:r>
            <a:pPr algn="l" indent="0" marL="0">
              <a:buNone/>
            </a:pPr>
            <a:r>
              <a:rPr lang="en-US" sz="1500" dirty="0">
                <a:solidFill>
                  <a:srgbClr val="1B2333"/>
                </a:solidFill>
                <a:latin typeface="Segoe UI" pitchFamily="34" charset="0"/>
                <a:ea typeface="Segoe UI" pitchFamily="34" charset="-122"/>
                <a:cs typeface="Segoe UI" pitchFamily="34" charset="-120"/>
              </a:rPr>
              <a:t>.</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La línea del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sorted</a:t>
            </a:r>
            <a:pPr algn="l" indent="0" marL="0">
              <a:buNone/>
            </a:pPr>
            <a:r>
              <a:rPr lang="en-US" sz="1500" dirty="0">
                <a:solidFill>
                  <a:srgbClr val="1B2333"/>
                </a:solidFill>
                <a:latin typeface="Segoe UI" pitchFamily="34" charset="0"/>
                <a:ea typeface="Segoe UI" pitchFamily="34" charset="-122"/>
                <a:cs typeface="Segoe UI" pitchFamily="34" charset="-120"/>
              </a:rPr>
              <a:t> es larga y cuesta leerla.</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Un cambio (por ejemplo, redondear) hay que hacerlo en dos lugares.</a:t>
            </a:r>
            <a:endParaRPr lang="en-US" sz="1500" dirty="0"/>
          </a:p>
        </p:txBody>
      </p:sp>
      <p:sp>
        <p:nvSpPr>
          <p:cNvPr id="11" name="Shape 7"/>
          <p:cNvSpPr/>
          <p:nvPr/>
        </p:nvSpPr>
        <p:spPr>
          <a:xfrm>
            <a:off x="777240" y="4142232"/>
            <a:ext cx="4907128" cy="1069848"/>
          </a:xfrm>
          <a:prstGeom prst="roundRect">
            <a:avLst>
              <a:gd name="adj" fmla="val 8547"/>
            </a:avLst>
          </a:prstGeom>
          <a:solidFill>
            <a:srgbClr val="0D1117"/>
          </a:solidFill>
          <a:ln/>
          <a:effectLst>
            <a:outerShdw sx="100000" sy="100000" kx="0" ky="0" algn="bl" rotWithShape="0" blurRad="88900" dist="19050" dir="5400000">
              <a:srgbClr val="1B2333">
                <a:alpha val="10000"/>
              </a:srgbClr>
            </a:outerShdw>
          </a:effectLst>
        </p:spPr>
      </p:sp>
      <p:sp>
        <p:nvSpPr>
          <p:cNvPr id="12" name="Shape 8"/>
          <p:cNvSpPr/>
          <p:nvPr/>
        </p:nvSpPr>
        <p:spPr>
          <a:xfrm>
            <a:off x="960120" y="4288536"/>
            <a:ext cx="109728" cy="109728"/>
          </a:xfrm>
          <a:prstGeom prst="ellipse">
            <a:avLst/>
          </a:prstGeom>
          <a:solidFill>
            <a:srgbClr val="FF5F57"/>
          </a:solidFill>
          <a:ln/>
        </p:spPr>
      </p:sp>
      <p:sp>
        <p:nvSpPr>
          <p:cNvPr id="13" name="Shape 9"/>
          <p:cNvSpPr/>
          <p:nvPr/>
        </p:nvSpPr>
        <p:spPr>
          <a:xfrm>
            <a:off x="1143000" y="4288536"/>
            <a:ext cx="109728" cy="109728"/>
          </a:xfrm>
          <a:prstGeom prst="ellipse">
            <a:avLst/>
          </a:prstGeom>
          <a:solidFill>
            <a:srgbClr val="FEBC2E"/>
          </a:solidFill>
          <a:ln/>
        </p:spPr>
      </p:sp>
      <p:sp>
        <p:nvSpPr>
          <p:cNvPr id="14" name="Shape 10"/>
          <p:cNvSpPr/>
          <p:nvPr/>
        </p:nvSpPr>
        <p:spPr>
          <a:xfrm>
            <a:off x="1325880" y="4288536"/>
            <a:ext cx="109728" cy="109728"/>
          </a:xfrm>
          <a:prstGeom prst="ellipse">
            <a:avLst/>
          </a:prstGeom>
          <a:solidFill>
            <a:srgbClr val="28C840"/>
          </a:solidFill>
          <a:ln/>
        </p:spPr>
      </p:sp>
      <p:sp>
        <p:nvSpPr>
          <p:cNvPr id="15" name="Text 11"/>
          <p:cNvSpPr txBox="1"/>
          <p:nvPr/>
        </p:nvSpPr>
        <p:spPr>
          <a:xfrm>
            <a:off x="1554480" y="4197096"/>
            <a:ext cx="3992728"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python</a:t>
            </a:r>
            <a:endParaRPr lang="en-US" sz="1050" dirty="0"/>
          </a:p>
        </p:txBody>
      </p:sp>
      <p:sp>
        <p:nvSpPr>
          <p:cNvPr id="16" name="Text 12"/>
          <p:cNvSpPr txBox="1"/>
          <p:nvPr/>
        </p:nvSpPr>
        <p:spPr>
          <a:xfrm>
            <a:off x="886968" y="4599432"/>
            <a:ext cx="204978" cy="502920"/>
          </a:xfrm>
          <a:prstGeom prst="rect">
            <a:avLst/>
          </a:prstGeom>
          <a:noFill/>
          <a:ln/>
        </p:spPr>
        <p:txBody>
          <a:bodyPr wrap="square" lIns="0" tIns="0" rIns="0" bIns="0" rtlCol="0" anchor="t"/>
          <a:lstStyle/>
          <a:p>
            <a:pPr algn="r" indent="0" marL="0">
              <a:lnSpc>
                <a:spcPts val="1563"/>
              </a:lnSpc>
              <a:buNone/>
            </a:pPr>
            <a:r>
              <a:rPr lang="en-US" sz="1250" dirty="0">
                <a:solidFill>
                  <a:srgbClr val="6E7681"/>
                </a:solidFill>
                <a:latin typeface="Consolas" pitchFamily="34" charset="0"/>
                <a:ea typeface="Consolas" pitchFamily="34" charset="-122"/>
                <a:cs typeface="Consolas" pitchFamily="34" charset="-120"/>
              </a:rPr>
              <a:t>1</a:t>
            </a:r>
            <a:endParaRPr lang="en-US" sz="1250" dirty="0"/>
          </a:p>
          <a:p>
            <a:pPr algn="r" indent="0" marL="0">
              <a:lnSpc>
                <a:spcPts val="1563"/>
              </a:lnSpc>
              <a:buNone/>
            </a:pPr>
            <a:r>
              <a:rPr lang="en-US" sz="1250" dirty="0">
                <a:solidFill>
                  <a:srgbClr val="6E7681"/>
                </a:solidFill>
                <a:latin typeface="Consolas" pitchFamily="34" charset="0"/>
                <a:ea typeface="Consolas" pitchFamily="34" charset="-122"/>
                <a:cs typeface="Consolas" pitchFamily="34" charset="-120"/>
              </a:rPr>
              <a:t>2</a:t>
            </a:r>
            <a:endParaRPr lang="en-US" sz="1250" dirty="0"/>
          </a:p>
        </p:txBody>
      </p:sp>
      <p:sp>
        <p:nvSpPr>
          <p:cNvPr id="17" name="Text 13"/>
          <p:cNvSpPr txBox="1"/>
          <p:nvPr/>
        </p:nvSpPr>
        <p:spPr>
          <a:xfrm>
            <a:off x="1238250" y="4599432"/>
            <a:ext cx="4382110" cy="502920"/>
          </a:xfrm>
          <a:prstGeom prst="rect">
            <a:avLst/>
          </a:prstGeom>
          <a:noFill/>
          <a:ln/>
        </p:spPr>
        <p:txBody>
          <a:bodyPr wrap="none" lIns="0" tIns="0" rIns="0" bIns="0" rtlCol="0" anchor="t"/>
          <a:lstStyle/>
          <a:p>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key=</a:t>
            </a:r>
            <a:pPr algn="l" indent="0" marL="0">
              <a:lnSpc>
                <a:spcPts val="1563"/>
              </a:lnSpc>
              <a:buNone/>
            </a:pPr>
            <a:r>
              <a:rPr lang="en-US" sz="1250" dirty="0">
                <a:solidFill>
                  <a:srgbClr val="FF7B72"/>
                </a:solidFill>
                <a:latin typeface="Consolas" pitchFamily="34" charset="0"/>
                <a:ea typeface="Consolas" pitchFamily="34" charset="-122"/>
                <a:cs typeface="Consolas" pitchFamily="34" charset="-120"/>
              </a:rPr>
              <a:t>lambda</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 x: </a:t>
            </a:r>
            <a:pPr algn="l" indent="0" marL="0">
              <a:lnSpc>
                <a:spcPts val="1563"/>
              </a:lnSpc>
              <a:buNone/>
            </a:pPr>
            <a:r>
              <a:rPr lang="en-US" sz="1250" dirty="0">
                <a:solidFill>
                  <a:srgbClr val="D2A8FF"/>
                </a:solidFill>
                <a:latin typeface="Consolas" pitchFamily="34" charset="0"/>
                <a:ea typeface="Consolas" pitchFamily="34" charset="-122"/>
                <a:cs typeface="Consolas" pitchFamily="34" charset="-120"/>
              </a:rPr>
              <a:t>sum</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(x[</a:t>
            </a:r>
            <a:pPr algn="l" indent="0" marL="0">
              <a:lnSpc>
                <a:spcPts val="1563"/>
              </a:lnSpc>
              <a:buNone/>
            </a:pPr>
            <a:r>
              <a:rPr lang="en-US" sz="1250" dirty="0">
                <a:solidFill>
                  <a:srgbClr val="A5D6FF"/>
                </a:solidFill>
                <a:latin typeface="Consolas" pitchFamily="34" charset="0"/>
                <a:ea typeface="Consolas" pitchFamily="34" charset="-122"/>
                <a:cs typeface="Consolas" pitchFamily="34" charset="-120"/>
              </a:rPr>
              <a:t>"notas"</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 / </a:t>
            </a:r>
            <a:pPr algn="l" indent="0" marL="0">
              <a:lnSpc>
                <a:spcPts val="1563"/>
              </a:lnSpc>
              <a:buNone/>
            </a:pPr>
            <a:r>
              <a:rPr lang="en-US" sz="1250" dirty="0">
                <a:solidFill>
                  <a:srgbClr val="D2A8FF"/>
                </a:solidFill>
                <a:latin typeface="Consolas" pitchFamily="34" charset="0"/>
                <a:ea typeface="Consolas" pitchFamily="34" charset="-122"/>
                <a:cs typeface="Consolas" pitchFamily="34" charset="-120"/>
              </a:rPr>
              <a:t>len</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(x[</a:t>
            </a:r>
            <a:pPr algn="l" indent="0" marL="0">
              <a:lnSpc>
                <a:spcPts val="1563"/>
              </a:lnSpc>
              <a:buNone/>
            </a:pPr>
            <a:r>
              <a:rPr lang="en-US" sz="1250" dirty="0">
                <a:solidFill>
                  <a:srgbClr val="A5D6FF"/>
                </a:solidFill>
                <a:latin typeface="Consolas" pitchFamily="34" charset="0"/>
                <a:ea typeface="Consolas" pitchFamily="34" charset="-122"/>
                <a:cs typeface="Consolas" pitchFamily="34" charset="-120"/>
              </a:rPr>
              <a:t>"notas"</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prom = </a:t>
            </a:r>
            <a:pPr algn="l" indent="0" marL="0">
              <a:lnSpc>
                <a:spcPts val="1563"/>
              </a:lnSpc>
              <a:buNone/>
            </a:pPr>
            <a:r>
              <a:rPr lang="en-US" sz="1250" dirty="0">
                <a:solidFill>
                  <a:srgbClr val="D2A8FF"/>
                </a:solidFill>
                <a:latin typeface="Consolas" pitchFamily="34" charset="0"/>
                <a:ea typeface="Consolas" pitchFamily="34" charset="-122"/>
                <a:cs typeface="Consolas" pitchFamily="34" charset="-120"/>
              </a:rPr>
              <a:t>sum</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(a[</a:t>
            </a:r>
            <a:pPr algn="l" indent="0" marL="0">
              <a:lnSpc>
                <a:spcPts val="1563"/>
              </a:lnSpc>
              <a:buNone/>
            </a:pPr>
            <a:r>
              <a:rPr lang="en-US" sz="1250" dirty="0">
                <a:solidFill>
                  <a:srgbClr val="A5D6FF"/>
                </a:solidFill>
                <a:latin typeface="Consolas" pitchFamily="34" charset="0"/>
                <a:ea typeface="Consolas" pitchFamily="34" charset="-122"/>
                <a:cs typeface="Consolas" pitchFamily="34" charset="-120"/>
              </a:rPr>
              <a:t>"notas"</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 / </a:t>
            </a:r>
            <a:pPr algn="l" indent="0" marL="0">
              <a:lnSpc>
                <a:spcPts val="1563"/>
              </a:lnSpc>
              <a:buNone/>
            </a:pPr>
            <a:r>
              <a:rPr lang="en-US" sz="1250" dirty="0">
                <a:solidFill>
                  <a:srgbClr val="D2A8FF"/>
                </a:solidFill>
                <a:latin typeface="Consolas" pitchFamily="34" charset="0"/>
                <a:ea typeface="Consolas" pitchFamily="34" charset="-122"/>
                <a:cs typeface="Consolas" pitchFamily="34" charset="-120"/>
              </a:rPr>
              <a:t>len</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(a[</a:t>
            </a:r>
            <a:pPr algn="l" indent="0" marL="0">
              <a:lnSpc>
                <a:spcPts val="1563"/>
              </a:lnSpc>
              <a:buNone/>
            </a:pPr>
            <a:r>
              <a:rPr lang="en-US" sz="1250" dirty="0">
                <a:solidFill>
                  <a:srgbClr val="A5D6FF"/>
                </a:solidFill>
                <a:latin typeface="Consolas" pitchFamily="34" charset="0"/>
                <a:ea typeface="Consolas" pitchFamily="34" charset="-122"/>
                <a:cs typeface="Consolas" pitchFamily="34" charset="-120"/>
              </a:rPr>
              <a:t>"notas"</a:t>
            </a:r>
            <a:pPr algn="l" indent="0" marL="0">
              <a:lnSpc>
                <a:spcPts val="1563"/>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18" name="Shape 14"/>
          <p:cNvSpPr/>
          <p:nvPr/>
        </p:nvSpPr>
        <p:spPr>
          <a:xfrm>
            <a:off x="6278728" y="1463040"/>
            <a:ext cx="5364328" cy="3977640"/>
          </a:xfrm>
          <a:prstGeom prst="roundRect">
            <a:avLst>
              <a:gd name="adj" fmla="val 2299"/>
            </a:avLst>
          </a:prstGeom>
          <a:solidFill>
            <a:srgbClr val="FFFFFF"/>
          </a:solidFill>
          <a:ln/>
          <a:effectLst>
            <a:outerShdw sx="100000" sy="100000" kx="0" ky="0" algn="bl" rotWithShape="0" blurRad="88900" dist="19050" dir="5400000">
              <a:srgbClr val="1B2333">
                <a:alpha val="10000"/>
              </a:srgbClr>
            </a:outerShdw>
          </a:effectLst>
        </p:spPr>
      </p:sp>
      <p:sp>
        <p:nvSpPr>
          <p:cNvPr id="19" name="Text 15"/>
          <p:cNvSpPr txBox="1"/>
          <p:nvPr/>
        </p:nvSpPr>
        <p:spPr>
          <a:xfrm>
            <a:off x="6507328" y="1691640"/>
            <a:ext cx="4907128" cy="420624"/>
          </a:xfrm>
          <a:prstGeom prst="roundRect">
            <a:avLst>
              <a:gd name="adj" fmla="val 50000"/>
            </a:avLst>
          </a:prstGeom>
          <a:solidFill>
            <a:srgbClr val="1E8A5F"/>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  Después: una función con nombre</a:t>
            </a:r>
            <a:endParaRPr lang="en-US" sz="1250" dirty="0"/>
          </a:p>
        </p:txBody>
      </p:sp>
      <p:sp>
        <p:nvSpPr>
          <p:cNvPr id="20" name="Text 16"/>
          <p:cNvSpPr txBox="1"/>
          <p:nvPr/>
        </p:nvSpPr>
        <p:spPr>
          <a:xfrm>
            <a:off x="6507328" y="2286000"/>
            <a:ext cx="4952848" cy="1216152"/>
          </a:xfrm>
          <a:prstGeom prst="rect">
            <a:avLst/>
          </a:prstGeom>
          <a:noFill/>
          <a:ln/>
        </p:spPr>
        <p:txBody>
          <a:bodyPr wrap="square" lIns="25400" tIns="25400" rIns="25400" bIns="25400" rtlCol="0" anchor="t"/>
          <a:lstStyle/>
          <a:p>
            <a:pPr algn="l" marL="203200" indent="-203200">
              <a:spcAft>
                <a:spcPts val="563"/>
              </a:spcAft>
              <a:buSzPct val="100000"/>
              <a:buChar char="•"/>
            </a:pPr>
            <a:r>
              <a:rPr lang="en-US" sz="1250" dirty="0">
                <a:solidFill>
                  <a:srgbClr val="0F4C81"/>
                </a:solidFill>
                <a:highlight>
                  <a:srgbClr val="E6EDF6"/>
                </a:highlight>
                <a:latin typeface="Consolas" pitchFamily="34" charset="0"/>
                <a:ea typeface="Consolas" pitchFamily="34" charset="-122"/>
                <a:cs typeface="Consolas" pitchFamily="34" charset="-120"/>
              </a:rPr>
              <a:t>promedio()</a:t>
            </a:r>
            <a:pPr algn="l" indent="0" marL="0">
              <a:buNone/>
            </a:pPr>
            <a:r>
              <a:rPr lang="en-US" sz="1250" dirty="0">
                <a:solidFill>
                  <a:srgbClr val="1B2333"/>
                </a:solidFill>
                <a:latin typeface="Segoe UI" pitchFamily="34" charset="0"/>
                <a:ea typeface="Segoe UI" pitchFamily="34" charset="-122"/>
                <a:cs typeface="Segoe UI" pitchFamily="34" charset="-120"/>
              </a:rPr>
              <a:t> hace una sola cosa y se puede probar sola.</a:t>
            </a:r>
            <a:endParaRPr lang="en-US" sz="1250" dirty="0"/>
          </a:p>
          <a:p>
            <a:pPr algn="l" marL="203200" indent="-203200">
              <a:spcAft>
                <a:spcPts val="563"/>
              </a:spcAft>
              <a:buSzPct val="100000"/>
              <a:buChar char="•"/>
            </a:pPr>
            <a:r>
              <a:rPr lang="en-US" sz="1250" dirty="0">
                <a:solidFill>
                  <a:srgbClr val="0F4C81"/>
                </a:solidFill>
                <a:highlight>
                  <a:srgbClr val="E6EDF6"/>
                </a:highlight>
                <a:latin typeface="Consolas" pitchFamily="34" charset="0"/>
                <a:ea typeface="Consolas" pitchFamily="34" charset="-122"/>
                <a:cs typeface="Consolas" pitchFamily="34" charset="-120"/>
              </a:rPr>
              <a:t>key=promedio</a:t>
            </a:r>
            <a:pPr algn="l" indent="0" marL="0">
              <a:buNone/>
            </a:pPr>
            <a:r>
              <a:rPr lang="en-US" sz="1250" dirty="0">
                <a:solidFill>
                  <a:srgbClr val="1B2333"/>
                </a:solidFill>
                <a:latin typeface="Segoe UI" pitchFamily="34" charset="0"/>
                <a:ea typeface="Segoe UI" pitchFamily="34" charset="-122"/>
                <a:cs typeface="Segoe UI" pitchFamily="34" charset="-120"/>
              </a:rPr>
              <a:t> se lee como castellano: "ordená por promedio".</a:t>
            </a:r>
            <a:endParaRPr lang="en-US" sz="1250" dirty="0"/>
          </a:p>
          <a:p>
            <a:pPr algn="l" marL="203200" indent="-203200">
              <a:spcAft>
                <a:spcPts val="563"/>
              </a:spcAft>
              <a:buSzPct val="100000"/>
              <a:buChar char="•"/>
            </a:pPr>
            <a:r>
              <a:rPr lang="en-US" sz="1250" dirty="0">
                <a:solidFill>
                  <a:srgbClr val="1B2333"/>
                </a:solidFill>
                <a:latin typeface="Segoe UI" pitchFamily="34" charset="0"/>
                <a:ea typeface="Segoe UI" pitchFamily="34" charset="-122"/>
                <a:cs typeface="Segoe UI" pitchFamily="34" charset="-120"/>
              </a:rPr>
              <a:t>Verificado: la salida del listado es idéntica a la de antes.</a:t>
            </a:r>
            <a:endParaRPr lang="en-US" sz="1250" dirty="0"/>
          </a:p>
        </p:txBody>
      </p:sp>
      <p:sp>
        <p:nvSpPr>
          <p:cNvPr id="21" name="Shape 17"/>
          <p:cNvSpPr/>
          <p:nvPr/>
        </p:nvSpPr>
        <p:spPr>
          <a:xfrm>
            <a:off x="6507328" y="3593592"/>
            <a:ext cx="4907128" cy="1618488"/>
          </a:xfrm>
          <a:prstGeom prst="roundRect">
            <a:avLst>
              <a:gd name="adj" fmla="val 5650"/>
            </a:avLst>
          </a:prstGeom>
          <a:solidFill>
            <a:srgbClr val="0D1117"/>
          </a:solidFill>
          <a:ln/>
          <a:effectLst>
            <a:outerShdw sx="100000" sy="100000" kx="0" ky="0" algn="bl" rotWithShape="0" blurRad="88900" dist="19050" dir="5400000">
              <a:srgbClr val="1B2333">
                <a:alpha val="10000"/>
              </a:srgbClr>
            </a:outerShdw>
          </a:effectLst>
        </p:spPr>
      </p:sp>
      <p:sp>
        <p:nvSpPr>
          <p:cNvPr id="22" name="Shape 18"/>
          <p:cNvSpPr/>
          <p:nvPr/>
        </p:nvSpPr>
        <p:spPr>
          <a:xfrm>
            <a:off x="6690208" y="3739896"/>
            <a:ext cx="109728" cy="109728"/>
          </a:xfrm>
          <a:prstGeom prst="ellipse">
            <a:avLst/>
          </a:prstGeom>
          <a:solidFill>
            <a:srgbClr val="FF5F57"/>
          </a:solidFill>
          <a:ln/>
        </p:spPr>
      </p:sp>
      <p:sp>
        <p:nvSpPr>
          <p:cNvPr id="23" name="Shape 19"/>
          <p:cNvSpPr/>
          <p:nvPr/>
        </p:nvSpPr>
        <p:spPr>
          <a:xfrm>
            <a:off x="6873088" y="3739896"/>
            <a:ext cx="109728" cy="109728"/>
          </a:xfrm>
          <a:prstGeom prst="ellipse">
            <a:avLst/>
          </a:prstGeom>
          <a:solidFill>
            <a:srgbClr val="FEBC2E"/>
          </a:solidFill>
          <a:ln/>
        </p:spPr>
      </p:sp>
      <p:sp>
        <p:nvSpPr>
          <p:cNvPr id="24" name="Shape 20"/>
          <p:cNvSpPr/>
          <p:nvPr/>
        </p:nvSpPr>
        <p:spPr>
          <a:xfrm>
            <a:off x="7055968" y="3739896"/>
            <a:ext cx="109728" cy="109728"/>
          </a:xfrm>
          <a:prstGeom prst="ellipse">
            <a:avLst/>
          </a:prstGeom>
          <a:solidFill>
            <a:srgbClr val="28C840"/>
          </a:solidFill>
          <a:ln/>
        </p:spPr>
      </p:sp>
      <p:sp>
        <p:nvSpPr>
          <p:cNvPr id="25" name="Text 21"/>
          <p:cNvSpPr txBox="1"/>
          <p:nvPr/>
        </p:nvSpPr>
        <p:spPr>
          <a:xfrm>
            <a:off x="7284568" y="3648456"/>
            <a:ext cx="3992728" cy="292608"/>
          </a:xfrm>
          <a:prstGeom prst="rect">
            <a:avLst/>
          </a:prstGeom>
          <a:noFill/>
          <a:ln/>
        </p:spPr>
        <p:txBody>
          <a:bodyPr wrap="square" lIns="0" tIns="0" rIns="0" bIns="0" rtlCol="0" anchor="ctr"/>
          <a:lstStyle/>
          <a:p>
            <a:pPr algn="l" indent="0" marL="0">
              <a:buNone/>
            </a:pPr>
            <a:r>
              <a:rPr lang="en-US" sz="1050" dirty="0">
                <a:solidFill>
                  <a:srgbClr val="6E7681"/>
                </a:solidFill>
                <a:latin typeface="Consolas" pitchFamily="34" charset="0"/>
                <a:ea typeface="Consolas" pitchFamily="34" charset="-122"/>
                <a:cs typeface="Consolas" pitchFamily="34" charset="-120"/>
              </a:rPr>
              <a:t>python</a:t>
            </a:r>
            <a:endParaRPr lang="en-US" sz="1050" dirty="0"/>
          </a:p>
        </p:txBody>
      </p:sp>
      <p:sp>
        <p:nvSpPr>
          <p:cNvPr id="26" name="Text 22"/>
          <p:cNvSpPr txBox="1"/>
          <p:nvPr/>
        </p:nvSpPr>
        <p:spPr>
          <a:xfrm>
            <a:off x="6617056" y="4050792"/>
            <a:ext cx="212598" cy="1051560"/>
          </a:xfrm>
          <a:prstGeom prst="rect">
            <a:avLst/>
          </a:prstGeom>
          <a:noFill/>
          <a:ln/>
        </p:spPr>
        <p:txBody>
          <a:bodyPr wrap="square" lIns="0" tIns="0" rIns="0" bIns="0" rtlCol="0" anchor="t"/>
          <a:lstStyle/>
          <a:p>
            <a:pPr algn="r" indent="0" marL="0">
              <a:lnSpc>
                <a:spcPts val="1688"/>
              </a:lnSpc>
              <a:buNone/>
            </a:pPr>
            <a:r>
              <a:rPr lang="en-US" sz="1350" dirty="0">
                <a:solidFill>
                  <a:srgbClr val="6E7681"/>
                </a:solidFill>
                <a:latin typeface="Consolas" pitchFamily="34" charset="0"/>
                <a:ea typeface="Consolas" pitchFamily="34" charset="-122"/>
                <a:cs typeface="Consolas" pitchFamily="34" charset="-120"/>
              </a:rPr>
              <a:t>1</a:t>
            </a:r>
            <a:endParaRPr lang="en-US" sz="1350" dirty="0"/>
          </a:p>
          <a:p>
            <a:pPr algn="r" indent="0" marL="0">
              <a:lnSpc>
                <a:spcPts val="1688"/>
              </a:lnSpc>
              <a:buNone/>
            </a:pPr>
            <a:r>
              <a:rPr lang="en-US" sz="1350" dirty="0">
                <a:solidFill>
                  <a:srgbClr val="6E7681"/>
                </a:solidFill>
                <a:latin typeface="Consolas" pitchFamily="34" charset="0"/>
                <a:ea typeface="Consolas" pitchFamily="34" charset="-122"/>
                <a:cs typeface="Consolas" pitchFamily="34" charset="-120"/>
              </a:rPr>
              <a:t>2</a:t>
            </a:r>
            <a:endParaRPr lang="en-US" sz="1350" dirty="0"/>
          </a:p>
          <a:p>
            <a:pPr algn="r" indent="0" marL="0">
              <a:lnSpc>
                <a:spcPts val="1688"/>
              </a:lnSpc>
              <a:buNone/>
            </a:pPr>
            <a:r>
              <a:rPr lang="en-US" sz="1350" dirty="0">
                <a:solidFill>
                  <a:srgbClr val="6E7681"/>
                </a:solidFill>
                <a:latin typeface="Consolas" pitchFamily="34" charset="0"/>
                <a:ea typeface="Consolas" pitchFamily="34" charset="-122"/>
                <a:cs typeface="Consolas" pitchFamily="34" charset="-120"/>
              </a:rPr>
              <a:t>3</a:t>
            </a:r>
            <a:endParaRPr lang="en-US" sz="1350" dirty="0"/>
          </a:p>
          <a:p>
            <a:pPr algn="r" indent="0" marL="0">
              <a:lnSpc>
                <a:spcPts val="1688"/>
              </a:lnSpc>
              <a:buNone/>
            </a:pPr>
            <a:r>
              <a:rPr lang="en-US" sz="1350" dirty="0">
                <a:solidFill>
                  <a:srgbClr val="6E7681"/>
                </a:solidFill>
                <a:latin typeface="Consolas" pitchFamily="34" charset="0"/>
                <a:ea typeface="Consolas" pitchFamily="34" charset="-122"/>
                <a:cs typeface="Consolas" pitchFamily="34" charset="-120"/>
              </a:rPr>
              <a:t>4</a:t>
            </a:r>
            <a:endParaRPr lang="en-US" sz="1350" dirty="0"/>
          </a:p>
        </p:txBody>
      </p:sp>
      <p:sp>
        <p:nvSpPr>
          <p:cNvPr id="27" name="Text 23"/>
          <p:cNvSpPr txBox="1"/>
          <p:nvPr/>
        </p:nvSpPr>
        <p:spPr>
          <a:xfrm>
            <a:off x="6975958" y="4050792"/>
            <a:ext cx="4374490" cy="1051560"/>
          </a:xfrm>
          <a:prstGeom prst="rect">
            <a:avLst/>
          </a:prstGeom>
          <a:noFill/>
          <a:ln/>
        </p:spPr>
        <p:txBody>
          <a:bodyPr wrap="none" lIns="0" tIns="0" rIns="0" bIns="0" rtlCol="0" anchor="t"/>
          <a:lstStyle/>
          <a:p>
            <a:pPr algn="l" indent="0" marL="0">
              <a:lnSpc>
                <a:spcPts val="1688"/>
              </a:lnSpc>
              <a:buNone/>
            </a:pPr>
            <a:r>
              <a:rPr lang="en-US" sz="1350" dirty="0">
                <a:solidFill>
                  <a:srgbClr val="FF7B72"/>
                </a:solidFill>
                <a:latin typeface="Consolas" pitchFamily="34" charset="0"/>
                <a:ea typeface="Consolas" pitchFamily="34" charset="-122"/>
                <a:cs typeface="Consolas" pitchFamily="34" charset="-120"/>
              </a:rPr>
              <a:t>def</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 </a:t>
            </a:r>
            <a:pPr algn="l" indent="0" marL="0">
              <a:lnSpc>
                <a:spcPts val="1688"/>
              </a:lnSpc>
              <a:buNone/>
            </a:pPr>
            <a:r>
              <a:rPr lang="en-US" sz="1350" dirty="0">
                <a:solidFill>
                  <a:srgbClr val="FFA657"/>
                </a:solidFill>
                <a:latin typeface="Consolas" pitchFamily="34" charset="0"/>
                <a:ea typeface="Consolas" pitchFamily="34" charset="-122"/>
                <a:cs typeface="Consolas" pitchFamily="34" charset="-120"/>
              </a:rPr>
              <a:t>promedio</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(a):</a:t>
            </a:r>
            <a:endParaRPr lang="en-US" sz="1350" dirty="0"/>
          </a:p>
          <a:p>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    </a:t>
            </a:r>
            <a:pPr algn="l" indent="0" marL="0">
              <a:lnSpc>
                <a:spcPts val="1688"/>
              </a:lnSpc>
              <a:buNone/>
            </a:pPr>
            <a:r>
              <a:rPr lang="en-US" sz="1350" dirty="0">
                <a:solidFill>
                  <a:srgbClr val="FF7B72"/>
                </a:solidFill>
                <a:latin typeface="Consolas" pitchFamily="34" charset="0"/>
                <a:ea typeface="Consolas" pitchFamily="34" charset="-122"/>
                <a:cs typeface="Consolas" pitchFamily="34" charset="-120"/>
              </a:rPr>
              <a:t>return</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 </a:t>
            </a:r>
            <a:pPr algn="l" indent="0" marL="0">
              <a:lnSpc>
                <a:spcPts val="1688"/>
              </a:lnSpc>
              <a:buNone/>
            </a:pPr>
            <a:r>
              <a:rPr lang="en-US" sz="1350" dirty="0">
                <a:solidFill>
                  <a:srgbClr val="D2A8FF"/>
                </a:solidFill>
                <a:latin typeface="Consolas" pitchFamily="34" charset="0"/>
                <a:ea typeface="Consolas" pitchFamily="34" charset="-122"/>
                <a:cs typeface="Consolas" pitchFamily="34" charset="-120"/>
              </a:rPr>
              <a:t>sum</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(a[</a:t>
            </a:r>
            <a:pPr algn="l" indent="0" marL="0">
              <a:lnSpc>
                <a:spcPts val="1688"/>
              </a:lnSpc>
              <a:buNone/>
            </a:pPr>
            <a:r>
              <a:rPr lang="en-US" sz="1350" dirty="0">
                <a:solidFill>
                  <a:srgbClr val="A5D6FF"/>
                </a:solidFill>
                <a:latin typeface="Consolas" pitchFamily="34" charset="0"/>
                <a:ea typeface="Consolas" pitchFamily="34" charset="-122"/>
                <a:cs typeface="Consolas" pitchFamily="34" charset="-120"/>
              </a:rPr>
              <a:t>"notas"</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 / </a:t>
            </a:r>
            <a:pPr algn="l" indent="0" marL="0">
              <a:lnSpc>
                <a:spcPts val="1688"/>
              </a:lnSpc>
              <a:buNone/>
            </a:pPr>
            <a:r>
              <a:rPr lang="en-US" sz="1350" dirty="0">
                <a:solidFill>
                  <a:srgbClr val="D2A8FF"/>
                </a:solidFill>
                <a:latin typeface="Consolas" pitchFamily="34" charset="0"/>
                <a:ea typeface="Consolas" pitchFamily="34" charset="-122"/>
                <a:cs typeface="Consolas" pitchFamily="34" charset="-120"/>
              </a:rPr>
              <a:t>len</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(a[</a:t>
            </a:r>
            <a:pPr algn="l" indent="0" marL="0">
              <a:lnSpc>
                <a:spcPts val="1688"/>
              </a:lnSpc>
              <a:buNone/>
            </a:pPr>
            <a:r>
              <a:rPr lang="en-US" sz="1350" dirty="0">
                <a:solidFill>
                  <a:srgbClr val="A5D6FF"/>
                </a:solidFill>
                <a:latin typeface="Consolas" pitchFamily="34" charset="0"/>
                <a:ea typeface="Consolas" pitchFamily="34" charset="-122"/>
                <a:cs typeface="Consolas" pitchFamily="34" charset="-120"/>
              </a:rPr>
              <a:t>"notas"</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a:t>
            </a:r>
            <a:endParaRPr lang="en-US" sz="1350" dirty="0"/>
          </a:p>
          <a:p>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 </a:t>
            </a:r>
            <a:endParaRPr lang="en-US" sz="1350" dirty="0"/>
          </a:p>
          <a:p>
            <a:pPr algn="l" indent="0" marL="0">
              <a:lnSpc>
                <a:spcPts val="1688"/>
              </a:lnSpc>
              <a:buNone/>
            </a:pPr>
            <a:r>
              <a:rPr lang="en-US" sz="1350" dirty="0">
                <a:solidFill>
                  <a:srgbClr val="D2A8FF"/>
                </a:solidFill>
                <a:latin typeface="Consolas" pitchFamily="34" charset="0"/>
                <a:ea typeface="Consolas" pitchFamily="34" charset="-122"/>
                <a:cs typeface="Consolas" pitchFamily="34" charset="-120"/>
              </a:rPr>
              <a:t>sorted</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(alumnos, key=promedio, reverse=</a:t>
            </a:r>
            <a:pPr algn="l" indent="0" marL="0">
              <a:lnSpc>
                <a:spcPts val="1688"/>
              </a:lnSpc>
              <a:buNone/>
            </a:pPr>
            <a:r>
              <a:rPr lang="en-US" sz="1350" dirty="0">
                <a:solidFill>
                  <a:srgbClr val="FF7B72"/>
                </a:solidFill>
                <a:latin typeface="Consolas" pitchFamily="34" charset="0"/>
                <a:ea typeface="Consolas" pitchFamily="34" charset="-122"/>
                <a:cs typeface="Consolas" pitchFamily="34" charset="-120"/>
              </a:rPr>
              <a:t>True</a:t>
            </a:r>
            <a:pPr algn="l" indent="0" marL="0">
              <a:lnSpc>
                <a:spcPts val="1688"/>
              </a:lnSpc>
              <a:buNone/>
            </a:pPr>
            <a:r>
              <a:rPr lang="en-US" sz="1350" dirty="0">
                <a:solidFill>
                  <a:srgbClr val="E6EDF3"/>
                </a:solidFill>
                <a:latin typeface="Consolas" pitchFamily="34" charset="0"/>
                <a:ea typeface="Consolas" pitchFamily="34" charset="-122"/>
                <a:cs typeface="Consolas" pitchFamily="34" charset="-120"/>
              </a:rPr>
              <a:t>)</a:t>
            </a:r>
            <a:endParaRPr lang="en-US" sz="1350" dirty="0"/>
          </a:p>
        </p:txBody>
      </p:sp>
      <p:sp>
        <p:nvSpPr>
          <p:cNvPr id="28" name="Shape 24"/>
          <p:cNvSpPr/>
          <p:nvPr/>
        </p:nvSpPr>
        <p:spPr>
          <a:xfrm>
            <a:off x="548640" y="5650992"/>
            <a:ext cx="11094415" cy="566928"/>
          </a:xfrm>
          <a:prstGeom prst="roundRect">
            <a:avLst>
              <a:gd name="adj" fmla="val 12903"/>
            </a:avLst>
          </a:prstGeom>
          <a:solidFill>
            <a:srgbClr val="FFF4C7"/>
          </a:solidFill>
          <a:ln/>
        </p:spPr>
      </p:sp>
      <p:sp>
        <p:nvSpPr>
          <p:cNvPr id="29" name="Text 25"/>
          <p:cNvSpPr txBox="1"/>
          <p:nvPr/>
        </p:nvSpPr>
        <p:spPr>
          <a:xfrm>
            <a:off x="694944" y="5724144"/>
            <a:ext cx="420624" cy="420624"/>
          </a:xfrm>
          <a:prstGeom prst="rect">
            <a:avLst/>
          </a:prstGeom>
          <a:noFill/>
          <a:ln/>
        </p:spPr>
        <p:txBody>
          <a:bodyPr wrap="square" lIns="0" tIns="0" rIns="0" bIns="0" rtlCol="0" anchor="ctr"/>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30" name="Text 26"/>
          <p:cNvSpPr txBox="1"/>
          <p:nvPr/>
        </p:nvSpPr>
        <p:spPr>
          <a:xfrm>
            <a:off x="1170432" y="5678424"/>
            <a:ext cx="10317175" cy="512064"/>
          </a:xfrm>
          <a:prstGeom prst="rect">
            <a:avLst/>
          </a:prstGeom>
          <a:noFill/>
          <a:ln/>
        </p:spPr>
        <p:txBody>
          <a:bodyPr wrap="square" lIns="0" tIns="0" rIns="0" bIns="0" rtlCol="0" anchor="ctr"/>
          <a:lstStyle/>
          <a:p>
            <a:pPr algn="l" indent="0" marL="0">
              <a:buNone/>
            </a:pPr>
            <a:r>
              <a:rPr lang="en-US" sz="1350" b="1" dirty="0">
                <a:solidFill>
                  <a:srgbClr val="1B2333"/>
                </a:solidFill>
                <a:latin typeface="Segoe UI" pitchFamily="34" charset="0"/>
                <a:ea typeface="Segoe UI" pitchFamily="34" charset="-122"/>
                <a:cs typeface="Segoe UI" pitchFamily="34" charset="-120"/>
              </a:rPr>
              <a:t>Refactorizar</a:t>
            </a:r>
            <a:pPr algn="l" indent="0" marL="0">
              <a:buNone/>
            </a:pPr>
            <a:r>
              <a:rPr lang="en-US" sz="1350" dirty="0">
                <a:solidFill>
                  <a:srgbClr val="1B2333"/>
                </a:solidFill>
                <a:latin typeface="Segoe UI" pitchFamily="34" charset="0"/>
                <a:ea typeface="Segoe UI" pitchFamily="34" charset="-122"/>
                <a:cs typeface="Segoe UI" pitchFamily="34" charset="-120"/>
              </a:rPr>
              <a:t> es mejorar cómo está escrito el código </a:t>
            </a:r>
            <a:pPr algn="l" indent="0" marL="0">
              <a:buNone/>
            </a:pPr>
            <a:r>
              <a:rPr lang="en-US" sz="1350" b="1" dirty="0">
                <a:solidFill>
                  <a:srgbClr val="1B2333"/>
                </a:solidFill>
                <a:latin typeface="Segoe UI" pitchFamily="34" charset="0"/>
                <a:ea typeface="Segoe UI" pitchFamily="34" charset="-122"/>
                <a:cs typeface="Segoe UI" pitchFamily="34" charset="-120"/>
              </a:rPr>
              <a:t>sin cambiar lo que hace</a:t>
            </a:r>
            <a:pPr algn="l" indent="0" marL="0">
              <a:buNone/>
            </a:pPr>
            <a:r>
              <a:rPr lang="en-US" sz="1350" dirty="0">
                <a:solidFill>
                  <a:srgbClr val="1B2333"/>
                </a:solidFill>
                <a:latin typeface="Segoe UI" pitchFamily="34" charset="0"/>
                <a:ea typeface="Segoe UI" pitchFamily="34" charset="-122"/>
                <a:cs typeface="Segoe UI" pitchFamily="34" charset="-120"/>
              </a:rPr>
              <a:t>. Por eso: probar antes, cambiar, probar después y recién ahí </a:t>
            </a:r>
            <a:pPr algn="l" indent="0" marL="0">
              <a:buNone/>
            </a:pPr>
            <a:r>
              <a:rPr lang="en-US" sz="1350" dirty="0">
                <a:solidFill>
                  <a:srgbClr val="0F4C81"/>
                </a:solidFill>
                <a:highlight>
                  <a:srgbClr val="E6EDF6"/>
                </a:highlight>
                <a:latin typeface="Consolas" pitchFamily="34" charset="0"/>
                <a:ea typeface="Consolas" pitchFamily="34" charset="-122"/>
                <a:cs typeface="Consolas" pitchFamily="34" charset="-120"/>
              </a:rPr>
              <a:t>git commit -m "refactor: ..."</a:t>
            </a:r>
            <a:pPr algn="l" indent="0" marL="0">
              <a:buNone/>
            </a:pPr>
            <a:r>
              <a:rPr lang="en-US" sz="1350" dirty="0">
                <a:solidFill>
                  <a:srgbClr val="1B2333"/>
                </a:solidFill>
                <a:latin typeface="Segoe UI" pitchFamily="34" charset="0"/>
                <a:ea typeface="Segoe UI" pitchFamily="34" charset="-122"/>
                <a:cs typeface="Segoe UI" pitchFamily="34" charset="-120"/>
              </a:rPr>
              <a: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CHECKLIST</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Checklist de avance del proyecto</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18 / 23</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300818"/>
                <a:gridCol w="6693325"/>
                <a:gridCol w="1100273"/>
              </a:tblGrid>
              <a:tr h="403860">
                <a:tc>
                  <a:txBody>
                    <a:bodyPr/>
                    <a:lstStyle/>
                    <a:p>
                      <a:pPr indent="0" marL="0">
                        <a:buNone/>
                      </a:pPr>
                      <a:r>
                        <a:rPr lang="en-US" sz="1450" b="1" dirty="0">
                          <a:solidFill>
                            <a:srgbClr val="FFFFFF"/>
                          </a:solidFill>
                          <a:latin typeface="Segoe UI" pitchFamily="34" charset="0"/>
                          <a:ea typeface="Segoe UI" pitchFamily="34" charset="-122"/>
                          <a:cs typeface="Segoe UI" pitchFamily="34" charset="-120"/>
                        </a:rPr>
                        <a:t>Hito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2B5B84"/>
                    </a:solidFill>
                  </a:tcPr>
                </a:tc>
                <a:tc>
                  <a:txBody>
                    <a:bodyPr/>
                    <a:lstStyle/>
                    <a:p>
                      <a:pPr indent="0" marL="0">
                        <a:buNone/>
                      </a:pPr>
                      <a:r>
                        <a:rPr lang="en-US" sz="1450" b="1" dirty="0">
                          <a:solidFill>
                            <a:srgbClr val="FFFFFF"/>
                          </a:solidFill>
                          <a:latin typeface="Segoe UI" pitchFamily="34" charset="0"/>
                          <a:ea typeface="Segoe UI" pitchFamily="34" charset="-122"/>
                          <a:cs typeface="Segoe UI" pitchFamily="34" charset="-120"/>
                        </a:rPr>
                        <a:t>Cómo lo verificás</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2B5B84"/>
                    </a:solidFill>
                  </a:tcPr>
                </a:tc>
                <a:tc>
                  <a:txBody>
                    <a:bodyPr/>
                    <a:lstStyle/>
                    <a:p>
                      <a:pPr indent="0" marL="0">
                        <a:buNone/>
                      </a:pPr>
                      <a:r>
                        <a:rPr lang="en-US" sz="1450" b="1" dirty="0">
                          <a:solidFill>
                            <a:srgbClr val="FFFFFF"/>
                          </a:solidFill>
                          <a:latin typeface="Segoe UI" pitchFamily="34" charset="0"/>
                          <a:ea typeface="Segoe UI" pitchFamily="34" charset="-122"/>
                          <a:cs typeface="Segoe UI" pitchFamily="34" charset="-120"/>
                        </a:rPr>
                        <a:t>Estado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2B5B84"/>
                    </a:solidFill>
                  </a:tcPr>
                </a:tc>
              </a:tr>
              <a:tr h="624840">
                <a:tc>
                  <a:txBody>
                    <a:bodyPr/>
                    <a:lstStyle/>
                    <a:p>
                      <a:pPr indent="0" marL="0">
                        <a:buNone/>
                      </a:pPr>
                      <a:r>
                        <a:rPr lang="en-US" sz="1450" b="1" dirty="0">
                          <a:solidFill>
                            <a:srgbClr val="1B2333"/>
                          </a:solidFill>
                          <a:latin typeface="Segoe UI" pitchFamily="34" charset="0"/>
                          <a:ea typeface="Segoe UI" pitchFamily="34" charset="-122"/>
                          <a:cs typeface="Segoe UI" pitchFamily="34" charset="-120"/>
                        </a:rPr>
                        <a:t>Repositorio con todos los integrantes</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Cada uno tiene al menos 2 commits propios en la pestaña Commits.</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403860">
                <a:tc>
                  <a:txBody>
                    <a:bodyPr/>
                    <a:lstStyle/>
                    <a:p>
                      <a:pPr indent="0" marL="0">
                        <a:buNone/>
                      </a:pPr>
                      <a:r>
                        <a:rPr lang="en-US" sz="1450" b="1" dirty="0">
                          <a:solidFill>
                            <a:srgbClr val="1B2333"/>
                          </a:solidFill>
                          <a:latin typeface="Segoe UI" pitchFamily="34" charset="0"/>
                          <a:ea typeface="Segoe UI" pitchFamily="34" charset="-122"/>
                          <a:cs typeface="Segoe UI" pitchFamily="34" charset="-120"/>
                        </a:rPr>
                        <a:t>Persistencia funcionando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Alta → salir → volver a entrar: el alumno sigue estando.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r h="624840">
                <a:tc>
                  <a:txBody>
                    <a:bodyPr/>
                    <a:lstStyle/>
                    <a:p>
                      <a:pPr indent="0" marL="0">
                        <a:buNone/>
                      </a:pPr>
                      <a:r>
                        <a:rPr lang="en-US" sz="1450" b="1" dirty="0">
                          <a:solidFill>
                            <a:srgbClr val="1B2333"/>
                          </a:solidFill>
                          <a:latin typeface="Segoe UI" pitchFamily="34" charset="0"/>
                          <a:ea typeface="Segoe UI" pitchFamily="34" charset="-122"/>
                          <a:cs typeface="Segoe UI" pitchFamily="34" charset="-120"/>
                        </a:rPr>
                        <a:t>Arranque sin archivo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Borrar el </a:t>
                      </a:r>
                      <a:pPr indent="0" marL="0">
                        <a:buNone/>
                      </a:pPr>
                      <a:r>
                        <a:rPr lang="en-US" sz="1450" dirty="0">
                          <a:solidFill>
                            <a:srgbClr val="0F4C81"/>
                          </a:solidFill>
                          <a:latin typeface="Consolas" pitchFamily="34" charset="0"/>
                          <a:ea typeface="Consolas" pitchFamily="34" charset="-122"/>
                          <a:cs typeface="Consolas" pitchFamily="34" charset="-120"/>
                        </a:rPr>
                        <a:t>.json</a:t>
                      </a:r>
                      <a:pPr indent="0" marL="0">
                        <a:buNone/>
                      </a:pPr>
                      <a:r>
                        <a:rPr lang="en-US" sz="1450" dirty="0">
                          <a:solidFill>
                            <a:srgbClr val="1B2333"/>
                          </a:solidFill>
                          <a:latin typeface="Segoe UI" pitchFamily="34" charset="0"/>
                          <a:ea typeface="Segoe UI" pitchFamily="34" charset="-122"/>
                          <a:cs typeface="Segoe UI" pitchFamily="34" charset="-120"/>
                        </a:rPr>
                        <a:t> y ejecutar: arranca con lista vacía, sin traceback.</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624840">
                <a:tc>
                  <a:txBody>
                    <a:bodyPr/>
                    <a:lstStyle/>
                    <a:p>
                      <a:pPr indent="0" marL="0">
                        <a:buNone/>
                      </a:pPr>
                      <a:r>
                        <a:rPr lang="en-US" sz="1450" b="1" dirty="0">
                          <a:solidFill>
                            <a:srgbClr val="1B2333"/>
                          </a:solidFill>
                          <a:latin typeface="Segoe UI" pitchFamily="34" charset="0"/>
                          <a:ea typeface="Segoe UI" pitchFamily="34" charset="-122"/>
                          <a:cs typeface="Segoe UI" pitchFamily="34" charset="-120"/>
                        </a:rPr>
                        <a:t>Validación de entradas</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Tipear "hola", "-3" y "11" como nota: muestra "Dato inválido" y vuelve a pedir.</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r h="624840">
                <a:tc>
                  <a:txBody>
                    <a:bodyPr/>
                    <a:lstStyle/>
                    <a:p>
                      <a:pPr indent="0" marL="0">
                        <a:buNone/>
                      </a:pPr>
                      <a:r>
                        <a:rPr lang="en-US" sz="1450" b="1" dirty="0">
                          <a:solidFill>
                            <a:srgbClr val="1B2333"/>
                          </a:solidFill>
                          <a:latin typeface="Segoe UI" pitchFamily="34" charset="0"/>
                          <a:ea typeface="Segoe UI" pitchFamily="34" charset="-122"/>
                          <a:cs typeface="Segoe UI" pitchFamily="34" charset="-120"/>
                        </a:rPr>
                        <a:t>Menú completo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Todas las opciones hacen lo que dicen; una opción inexistente no rompe nada.</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624840">
                <a:tc>
                  <a:txBody>
                    <a:bodyPr/>
                    <a:lstStyle/>
                    <a:p>
                      <a:pPr indent="0" marL="0">
                        <a:buNone/>
                      </a:pPr>
                      <a:r>
                        <a:rPr lang="en-US" sz="1450" b="1" dirty="0">
                          <a:solidFill>
                            <a:srgbClr val="1B2333"/>
                          </a:solidFill>
                          <a:latin typeface="Segoe UI" pitchFamily="34" charset="0"/>
                          <a:ea typeface="Segoe UI" pitchFamily="34" charset="-122"/>
                          <a:cs typeface="Segoe UI" pitchFamily="34" charset="-120"/>
                        </a:rPr>
                        <a:t>Código limpio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Funciones con docstring, sin prints de depuración ni código repetido.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r h="403860">
                <a:tc>
                  <a:txBody>
                    <a:bodyPr/>
                    <a:lstStyle/>
                    <a:p>
                      <a:pPr indent="0" marL="0">
                        <a:buNone/>
                      </a:pPr>
                      <a:r>
                        <a:rPr lang="en-US" sz="1450" b="1" dirty="0">
                          <a:solidFill>
                            <a:srgbClr val="0F4C81"/>
                          </a:solidFill>
                          <a:latin typeface="Consolas" pitchFamily="34" charset="0"/>
                          <a:ea typeface="Consolas" pitchFamily="34" charset="-122"/>
                          <a:cs typeface="Consolas" pitchFamily="34" charset="-120"/>
                        </a:rPr>
                        <a:t>main</a:t>
                      </a:r>
                      <a:pPr indent="0" marL="0">
                        <a:buNone/>
                      </a:pPr>
                      <a:r>
                        <a:rPr lang="en-US" sz="1450" b="1" dirty="0">
                          <a:solidFill>
                            <a:srgbClr val="1B2333"/>
                          </a:solidFill>
                          <a:latin typeface="Segoe UI" pitchFamily="34" charset="0"/>
                          <a:ea typeface="Segoe UI" pitchFamily="34" charset="-122"/>
                          <a:cs typeface="Segoe UI" pitchFamily="34" charset="-120"/>
                        </a:rPr>
                        <a:t> estable</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Todo lo integrado por Pull Request; </a:t>
                      </a:r>
                      <a:pPr indent="0" marL="0">
                        <a:buNone/>
                      </a:pPr>
                      <a:r>
                        <a:rPr lang="en-US" sz="1450" dirty="0">
                          <a:solidFill>
                            <a:srgbClr val="0F4C81"/>
                          </a:solidFill>
                          <a:latin typeface="Consolas" pitchFamily="34" charset="0"/>
                          <a:ea typeface="Consolas" pitchFamily="34" charset="-122"/>
                          <a:cs typeface="Consolas" pitchFamily="34" charset="-120"/>
                        </a:rPr>
                        <a:t>main</a:t>
                      </a:r>
                      <a:pPr indent="0" marL="0">
                        <a:buNone/>
                      </a:pPr>
                      <a:r>
                        <a:rPr lang="en-US" sz="1450" dirty="0">
                          <a:solidFill>
                            <a:srgbClr val="1B2333"/>
                          </a:solidFill>
                          <a:latin typeface="Segoe UI" pitchFamily="34" charset="0"/>
                          <a:ea typeface="Segoe UI" pitchFamily="34" charset="-122"/>
                          <a:cs typeface="Segoe UI" pitchFamily="34" charset="-120"/>
                        </a:rPr>
                        <a:t> siempre ejecuta.</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FFFFF"/>
                    </a:solidFill>
                  </a:tcPr>
                </a:tc>
              </a:tr>
              <a:tr h="403860">
                <a:tc>
                  <a:txBody>
                    <a:bodyPr/>
                    <a:lstStyle/>
                    <a:p>
                      <a:pPr indent="0" marL="0">
                        <a:buNone/>
                      </a:pPr>
                      <a:r>
                        <a:rPr lang="en-US" sz="1450" b="1" dirty="0">
                          <a:solidFill>
                            <a:srgbClr val="1B2333"/>
                          </a:solidFill>
                          <a:latin typeface="Segoe UI" pitchFamily="34" charset="0"/>
                          <a:ea typeface="Segoe UI" pitchFamily="34" charset="-122"/>
                          <a:cs typeface="Segoe UI" pitchFamily="34" charset="-120"/>
                        </a:rPr>
                        <a:t>Issues al día</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Cada tarea pendiente tiene issue y responsable asignado.</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c>
                  <a:txBody>
                    <a:bodyPr/>
                    <a:lstStyle/>
                    <a:p>
                      <a:pPr indent="0" marL="0">
                        <a:buNone/>
                      </a:pPr>
                      <a:r>
                        <a:rPr lang="en-US" sz="1450" dirty="0">
                          <a:solidFill>
                            <a:srgbClr val="1B2333"/>
                          </a:solidFill>
                          <a:latin typeface="Segoe UI" pitchFamily="34" charset="0"/>
                          <a:ea typeface="Segoe UI" pitchFamily="34" charset="-122"/>
                          <a:cs typeface="Segoe UI" pitchFamily="34" charset="-120"/>
                        </a:rPr>
                        <a:t>☐</a:t>
                      </a:r>
                      <a:endParaRPr lang="en-US" sz="1450" dirty="0">
                        <a:latin typeface="Segoe UI" charset="0"/>
                        <a:ea typeface="Segoe UI" charset="0"/>
                        <a:cs typeface="Segoe UI" charset="0"/>
                      </a:endParaRPr>
                    </a:p>
                  </a:txBody>
                  <a:tcPr marL="91440" marR="91440" marT="45720" marB="45720" anchor="ctr">
                    <a:lnL w="9525" cap="flat" cmpd="sng" algn="ctr">
                      <a:solidFill>
                        <a:srgbClr val="DFE5EE"/>
                      </a:solidFill>
                      <a:prstDash val="solid"/>
                      <a:round/>
                      <a:headEnd type="none" w="med" len="med"/>
                      <a:tailEnd type="none" w="med" len="med"/>
                    </a:lnL>
                    <a:lnR w="9525" cap="flat" cmpd="sng" algn="ctr">
                      <a:solidFill>
                        <a:srgbClr val="DFE5EE"/>
                      </a:solidFill>
                      <a:prstDash val="solid"/>
                      <a:round/>
                      <a:headEnd type="none" w="med" len="med"/>
                      <a:tailEnd type="none" w="med" len="med"/>
                    </a:lnR>
                    <a:lnT w="9525" cap="flat" cmpd="sng" algn="ctr">
                      <a:solidFill>
                        <a:srgbClr val="DFE5EE"/>
                      </a:solidFill>
                      <a:prstDash val="solid"/>
                      <a:round/>
                      <a:headEnd type="none" w="med" len="med"/>
                      <a:tailEnd type="none" w="med" len="med"/>
                    </a:lnT>
                    <a:lnB w="9525" cap="flat" cmpd="sng" algn="ctr">
                      <a:solidFill>
                        <a:srgbClr val="DFE5EE"/>
                      </a:solidFill>
                      <a:prstDash val="solid"/>
                      <a:round/>
                      <a:headEnd type="none" w="med" len="med"/>
                      <a:tailEnd type="none" w="med" len="med"/>
                    </a:lnB>
                    <a:solidFill>
                      <a:srgbClr val="F1F4F9"/>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OJO AQUÍ</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Errores frecuentes y cómo corregirlos</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19 / 23</a:t>
            </a:r>
            <a:endParaRPr lang="en-US" sz="900" dirty="0"/>
          </a:p>
        </p:txBody>
      </p:sp>
      <p:sp>
        <p:nvSpPr>
          <p:cNvPr id="8" name="Shape 4"/>
          <p:cNvSpPr/>
          <p:nvPr/>
        </p:nvSpPr>
        <p:spPr>
          <a:xfrm>
            <a:off x="548640" y="1463040"/>
            <a:ext cx="11094415" cy="1051560"/>
          </a:xfrm>
          <a:prstGeom prst="roundRect">
            <a:avLst>
              <a:gd name="adj" fmla="val 8696"/>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572768"/>
            <a:ext cx="3611880" cy="36576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Marcadores olvidados</a:t>
            </a:r>
            <a:endParaRPr lang="en-US" sz="1450" dirty="0"/>
          </a:p>
        </p:txBody>
      </p:sp>
      <p:sp>
        <p:nvSpPr>
          <p:cNvPr id="10" name="Text 6"/>
          <p:cNvSpPr txBox="1"/>
          <p:nvPr/>
        </p:nvSpPr>
        <p:spPr>
          <a:xfrm>
            <a:off x="777240" y="1938528"/>
            <a:ext cx="3611880" cy="502920"/>
          </a:xfrm>
          <a:prstGeom prst="rect">
            <a:avLst/>
          </a:prstGeom>
          <a:noFill/>
          <a:ln/>
        </p:spPr>
        <p:txBody>
          <a:bodyPr wrap="square" lIns="0" tIns="0" rIns="0" bIns="0" rtlCol="0" anchor="t"/>
          <a:lstStyle/>
          <a:p>
            <a:pPr algn="l" indent="0" marL="0">
              <a:buNone/>
            </a:pPr>
            <a:r>
              <a:rPr lang="en-US" sz="1300" dirty="0">
                <a:solidFill>
                  <a:srgbClr val="4F5A6D"/>
                </a:solidFill>
                <a:latin typeface="Segoe UI" pitchFamily="34" charset="0"/>
                <a:ea typeface="Segoe UI" pitchFamily="34" charset="-122"/>
                <a:cs typeface="Segoe UI" pitchFamily="34" charset="-120"/>
              </a:rPr>
              <a:t>Se resolvió "a medias" y Python da </a:t>
            </a:r>
            <a:pPr algn="l" indent="0" marL="0">
              <a:buNone/>
            </a:pPr>
            <a:r>
              <a:rPr lang="en-US" sz="1300" dirty="0">
                <a:solidFill>
                  <a:srgbClr val="0F4C81"/>
                </a:solidFill>
                <a:highlight>
                  <a:srgbClr val="E6EDF6"/>
                </a:highlight>
                <a:latin typeface="Consolas" pitchFamily="34" charset="0"/>
                <a:ea typeface="Consolas" pitchFamily="34" charset="-122"/>
                <a:cs typeface="Consolas" pitchFamily="34" charset="-120"/>
              </a:rPr>
              <a:t>SyntaxError</a:t>
            </a:r>
            <a:pPr algn="l" indent="0" marL="0">
              <a:buNone/>
            </a:pPr>
            <a:r>
              <a:rPr lang="en-US" sz="1300" dirty="0">
                <a:solidFill>
                  <a:srgbClr val="4F5A6D"/>
                </a:solidFill>
                <a:latin typeface="Segoe UI" pitchFamily="34" charset="0"/>
                <a:ea typeface="Segoe UI" pitchFamily="34" charset="-122"/>
                <a:cs typeface="Segoe UI" pitchFamily="34" charset="-120"/>
              </a:rPr>
              <a:t>.</a:t>
            </a:r>
            <a:endParaRPr lang="en-US" sz="1300" dirty="0"/>
          </a:p>
        </p:txBody>
      </p:sp>
      <p:sp>
        <p:nvSpPr>
          <p:cNvPr id="11" name="Shape 7"/>
          <p:cNvSpPr/>
          <p:nvPr/>
        </p:nvSpPr>
        <p:spPr>
          <a:xfrm>
            <a:off x="4526280" y="1572768"/>
            <a:ext cx="3238348" cy="832104"/>
          </a:xfrm>
          <a:prstGeom prst="roundRect">
            <a:avLst>
              <a:gd name="adj" fmla="val 8791"/>
            </a:avLst>
          </a:prstGeom>
          <a:solidFill>
            <a:srgbClr val="FBE9E9"/>
          </a:solidFill>
          <a:ln/>
        </p:spPr>
      </p:sp>
      <p:sp>
        <p:nvSpPr>
          <p:cNvPr id="12" name="Text 8"/>
          <p:cNvSpPr txBox="1"/>
          <p:nvPr/>
        </p:nvSpPr>
        <p:spPr>
          <a:xfrm>
            <a:off x="4690872" y="1627632"/>
            <a:ext cx="2964028" cy="237744"/>
          </a:xfrm>
          <a:prstGeom prst="rect">
            <a:avLst/>
          </a:prstGeom>
          <a:noFill/>
          <a:ln/>
        </p:spPr>
        <p:txBody>
          <a:bodyPr wrap="square" lIns="0" tIns="0" rIns="0" bIns="0" rtlCol="0" anchor="t"/>
          <a:lstStyle/>
          <a:p>
            <a:pPr algn="l" indent="0" marL="0">
              <a:buNone/>
            </a:pPr>
            <a:r>
              <a:rPr lang="en-US" sz="1000" b="1" dirty="0">
                <a:solidFill>
                  <a:srgbClr val="C23B3B"/>
                </a:solidFill>
                <a:latin typeface="Segoe UI" pitchFamily="34" charset="0"/>
                <a:ea typeface="Segoe UI" pitchFamily="34" charset="-122"/>
                <a:cs typeface="Segoe UI" pitchFamily="34" charset="-120"/>
              </a:rPr>
              <a:t>✗ Así no</a:t>
            </a:r>
            <a:endParaRPr lang="en-US" sz="1000" dirty="0"/>
          </a:p>
        </p:txBody>
      </p:sp>
      <p:sp>
        <p:nvSpPr>
          <p:cNvPr id="13" name="Text 9"/>
          <p:cNvSpPr txBox="1"/>
          <p:nvPr/>
        </p:nvSpPr>
        <p:spPr>
          <a:xfrm>
            <a:off x="4690872" y="1883664"/>
            <a:ext cx="2964028" cy="466344"/>
          </a:xfrm>
          <a:prstGeom prst="rect">
            <a:avLst/>
          </a:prstGeom>
          <a:noFill/>
          <a:ln/>
        </p:spPr>
        <p:txBody>
          <a:bodyPr wrap="none" lIns="0" tIns="0" rIns="0" bIns="0" rtlCol="0" anchor="ctr"/>
          <a:lstStyle/>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&lt;&lt;&lt;&lt;&lt;&lt;&lt; HEAD</a:t>
            </a:r>
            <a:endParaRPr lang="en-US" sz="1100" dirty="0"/>
          </a:p>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ARCHIVO = "alumnos.json"</a:t>
            </a:r>
            <a:endParaRPr lang="en-US" sz="1100" dirty="0"/>
          </a:p>
        </p:txBody>
      </p:sp>
      <p:sp>
        <p:nvSpPr>
          <p:cNvPr id="14" name="Shape 10"/>
          <p:cNvSpPr/>
          <p:nvPr/>
        </p:nvSpPr>
        <p:spPr>
          <a:xfrm>
            <a:off x="7947508" y="1572768"/>
            <a:ext cx="3238348" cy="832104"/>
          </a:xfrm>
          <a:prstGeom prst="roundRect">
            <a:avLst>
              <a:gd name="adj" fmla="val 8791"/>
            </a:avLst>
          </a:prstGeom>
          <a:solidFill>
            <a:srgbClr val="E5F4ED"/>
          </a:solidFill>
          <a:ln/>
        </p:spPr>
      </p:sp>
      <p:sp>
        <p:nvSpPr>
          <p:cNvPr id="15" name="Text 11"/>
          <p:cNvSpPr txBox="1"/>
          <p:nvPr/>
        </p:nvSpPr>
        <p:spPr>
          <a:xfrm>
            <a:off x="8112100" y="1627632"/>
            <a:ext cx="2964028" cy="237744"/>
          </a:xfrm>
          <a:prstGeom prst="rect">
            <a:avLst/>
          </a:prstGeom>
          <a:noFill/>
          <a:ln/>
        </p:spPr>
        <p:txBody>
          <a:bodyPr wrap="square" lIns="0" tIns="0" rIns="0" bIns="0" rtlCol="0" anchor="t"/>
          <a:lstStyle/>
          <a:p>
            <a:pPr algn="l" indent="0" marL="0">
              <a:buNone/>
            </a:pPr>
            <a:r>
              <a:rPr lang="en-US" sz="1000" b="1" dirty="0">
                <a:solidFill>
                  <a:srgbClr val="1E8A5F"/>
                </a:solidFill>
                <a:latin typeface="Segoe UI" pitchFamily="34" charset="0"/>
                <a:ea typeface="Segoe UI" pitchFamily="34" charset="-122"/>
                <a:cs typeface="Segoe UI" pitchFamily="34" charset="-120"/>
              </a:rPr>
              <a:t>✓ Así sí</a:t>
            </a:r>
            <a:endParaRPr lang="en-US" sz="1000" dirty="0"/>
          </a:p>
        </p:txBody>
      </p:sp>
      <p:sp>
        <p:nvSpPr>
          <p:cNvPr id="16" name="Text 12"/>
          <p:cNvSpPr txBox="1"/>
          <p:nvPr/>
        </p:nvSpPr>
        <p:spPr>
          <a:xfrm>
            <a:off x="8112100" y="1883664"/>
            <a:ext cx="2964028" cy="466344"/>
          </a:xfrm>
          <a:prstGeom prst="rect">
            <a:avLst/>
          </a:prstGeom>
          <a:noFill/>
          <a:ln/>
        </p:spPr>
        <p:txBody>
          <a:bodyPr wrap="none" lIns="0" tIns="0" rIns="0" bIns="0" rtlCol="0" anchor="ctr"/>
          <a:lstStyle/>
          <a:p>
            <a:pPr algn="l" indent="0" marL="0">
              <a:lnSpc>
                <a:spcPts val="1625"/>
              </a:lnSpc>
              <a:buNone/>
            </a:pPr>
            <a:r>
              <a:rPr lang="en-US" sz="1300" dirty="0">
                <a:solidFill>
                  <a:srgbClr val="1B2333"/>
                </a:solidFill>
                <a:latin typeface="Consolas" pitchFamily="34" charset="0"/>
                <a:ea typeface="Consolas" pitchFamily="34" charset="-122"/>
                <a:cs typeface="Consolas" pitchFamily="34" charset="-120"/>
              </a:rPr>
              <a:t>ARCHIVO = "datos/alumnos.json"</a:t>
            </a:r>
            <a:endParaRPr lang="en-US" sz="1300" dirty="0"/>
          </a:p>
        </p:txBody>
      </p:sp>
      <p:sp>
        <p:nvSpPr>
          <p:cNvPr id="17" name="Shape 13"/>
          <p:cNvSpPr/>
          <p:nvPr/>
        </p:nvSpPr>
        <p:spPr>
          <a:xfrm>
            <a:off x="548640" y="2697480"/>
            <a:ext cx="11094415" cy="1051560"/>
          </a:xfrm>
          <a:prstGeom prst="roundRect">
            <a:avLst>
              <a:gd name="adj" fmla="val 8696"/>
            </a:avLst>
          </a:prstGeom>
          <a:solidFill>
            <a:srgbClr val="FFFFFF"/>
          </a:solidFill>
          <a:ln/>
          <a:effectLst>
            <a:outerShdw sx="100000" sy="100000" kx="0" ky="0" algn="bl" rotWithShape="0" blurRad="88900" dist="19050" dir="5400000">
              <a:srgbClr val="1B2333">
                <a:alpha val="10000"/>
              </a:srgbClr>
            </a:outerShdw>
          </a:effectLst>
        </p:spPr>
      </p:sp>
      <p:sp>
        <p:nvSpPr>
          <p:cNvPr id="18" name="Text 14"/>
          <p:cNvSpPr txBox="1"/>
          <p:nvPr/>
        </p:nvSpPr>
        <p:spPr>
          <a:xfrm>
            <a:off x="777240" y="2807208"/>
            <a:ext cx="3611880" cy="36576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Trabajar directo en main</a:t>
            </a:r>
            <a:endParaRPr lang="en-US" sz="1450" dirty="0"/>
          </a:p>
        </p:txBody>
      </p:sp>
      <p:sp>
        <p:nvSpPr>
          <p:cNvPr id="19" name="Text 15"/>
          <p:cNvSpPr txBox="1"/>
          <p:nvPr/>
        </p:nvSpPr>
        <p:spPr>
          <a:xfrm>
            <a:off x="777240" y="3172968"/>
            <a:ext cx="3611880" cy="502920"/>
          </a:xfrm>
          <a:prstGeom prst="rect">
            <a:avLst/>
          </a:prstGeom>
          <a:noFill/>
          <a:ln/>
        </p:spPr>
        <p:txBody>
          <a:bodyPr wrap="square" lIns="0" tIns="0" rIns="0" bIns="0" rtlCol="0" anchor="t"/>
          <a:lstStyle/>
          <a:p>
            <a:pPr algn="l" indent="0" marL="0">
              <a:buNone/>
            </a:pPr>
            <a:r>
              <a:rPr lang="en-US" sz="1300" dirty="0">
                <a:solidFill>
                  <a:srgbClr val="4F5A6D"/>
                </a:solidFill>
                <a:latin typeface="Segoe UI" pitchFamily="34" charset="0"/>
                <a:ea typeface="Segoe UI" pitchFamily="34" charset="-122"/>
                <a:cs typeface="Segoe UI" pitchFamily="34" charset="-120"/>
              </a:rPr>
              <a:t>Un cambio a medio hacer rompe el proyecto de todos.</a:t>
            </a:r>
            <a:endParaRPr lang="en-US" sz="1300" dirty="0"/>
          </a:p>
        </p:txBody>
      </p:sp>
      <p:sp>
        <p:nvSpPr>
          <p:cNvPr id="20" name="Shape 16"/>
          <p:cNvSpPr/>
          <p:nvPr/>
        </p:nvSpPr>
        <p:spPr>
          <a:xfrm>
            <a:off x="4526280" y="2807208"/>
            <a:ext cx="3238348" cy="832104"/>
          </a:xfrm>
          <a:prstGeom prst="roundRect">
            <a:avLst>
              <a:gd name="adj" fmla="val 8791"/>
            </a:avLst>
          </a:prstGeom>
          <a:solidFill>
            <a:srgbClr val="FBE9E9"/>
          </a:solidFill>
          <a:ln/>
        </p:spPr>
      </p:sp>
      <p:sp>
        <p:nvSpPr>
          <p:cNvPr id="21" name="Text 17"/>
          <p:cNvSpPr txBox="1"/>
          <p:nvPr/>
        </p:nvSpPr>
        <p:spPr>
          <a:xfrm>
            <a:off x="4690872" y="2862072"/>
            <a:ext cx="2964028" cy="237744"/>
          </a:xfrm>
          <a:prstGeom prst="rect">
            <a:avLst/>
          </a:prstGeom>
          <a:noFill/>
          <a:ln/>
        </p:spPr>
        <p:txBody>
          <a:bodyPr wrap="square" lIns="0" tIns="0" rIns="0" bIns="0" rtlCol="0" anchor="t"/>
          <a:lstStyle/>
          <a:p>
            <a:pPr algn="l" indent="0" marL="0">
              <a:buNone/>
            </a:pPr>
            <a:r>
              <a:rPr lang="en-US" sz="1000" b="1" dirty="0">
                <a:solidFill>
                  <a:srgbClr val="C23B3B"/>
                </a:solidFill>
                <a:latin typeface="Segoe UI" pitchFamily="34" charset="0"/>
                <a:ea typeface="Segoe UI" pitchFamily="34" charset="-122"/>
                <a:cs typeface="Segoe UI" pitchFamily="34" charset="-120"/>
              </a:rPr>
              <a:t>✗ Así no</a:t>
            </a:r>
            <a:endParaRPr lang="en-US" sz="1000" dirty="0"/>
          </a:p>
        </p:txBody>
      </p:sp>
      <p:sp>
        <p:nvSpPr>
          <p:cNvPr id="22" name="Text 18"/>
          <p:cNvSpPr txBox="1"/>
          <p:nvPr/>
        </p:nvSpPr>
        <p:spPr>
          <a:xfrm>
            <a:off x="4690872" y="3118104"/>
            <a:ext cx="2964028" cy="466344"/>
          </a:xfrm>
          <a:prstGeom prst="rect">
            <a:avLst/>
          </a:prstGeom>
          <a:noFill/>
          <a:ln/>
        </p:spPr>
        <p:txBody>
          <a:bodyPr wrap="none" lIns="0" tIns="0" rIns="0" bIns="0" rtlCol="0" anchor="ctr"/>
          <a:lstStyle/>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git commit -am "wip"</a:t>
            </a:r>
            <a:endParaRPr lang="en-US" sz="1100" dirty="0"/>
          </a:p>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git push origin main</a:t>
            </a:r>
            <a:endParaRPr lang="en-US" sz="1100" dirty="0"/>
          </a:p>
        </p:txBody>
      </p:sp>
      <p:sp>
        <p:nvSpPr>
          <p:cNvPr id="23" name="Shape 19"/>
          <p:cNvSpPr/>
          <p:nvPr/>
        </p:nvSpPr>
        <p:spPr>
          <a:xfrm>
            <a:off x="7947508" y="2807208"/>
            <a:ext cx="3238348" cy="832104"/>
          </a:xfrm>
          <a:prstGeom prst="roundRect">
            <a:avLst>
              <a:gd name="adj" fmla="val 8791"/>
            </a:avLst>
          </a:prstGeom>
          <a:solidFill>
            <a:srgbClr val="E5F4ED"/>
          </a:solidFill>
          <a:ln/>
        </p:spPr>
      </p:sp>
      <p:sp>
        <p:nvSpPr>
          <p:cNvPr id="24" name="Text 20"/>
          <p:cNvSpPr txBox="1"/>
          <p:nvPr/>
        </p:nvSpPr>
        <p:spPr>
          <a:xfrm>
            <a:off x="8112100" y="2862072"/>
            <a:ext cx="2964028" cy="237744"/>
          </a:xfrm>
          <a:prstGeom prst="rect">
            <a:avLst/>
          </a:prstGeom>
          <a:noFill/>
          <a:ln/>
        </p:spPr>
        <p:txBody>
          <a:bodyPr wrap="square" lIns="0" tIns="0" rIns="0" bIns="0" rtlCol="0" anchor="t"/>
          <a:lstStyle/>
          <a:p>
            <a:pPr algn="l" indent="0" marL="0">
              <a:buNone/>
            </a:pPr>
            <a:r>
              <a:rPr lang="en-US" sz="1000" b="1" dirty="0">
                <a:solidFill>
                  <a:srgbClr val="1E8A5F"/>
                </a:solidFill>
                <a:latin typeface="Segoe UI" pitchFamily="34" charset="0"/>
                <a:ea typeface="Segoe UI" pitchFamily="34" charset="-122"/>
                <a:cs typeface="Segoe UI" pitchFamily="34" charset="-120"/>
              </a:rPr>
              <a:t>✓ Así sí</a:t>
            </a:r>
            <a:endParaRPr lang="en-US" sz="1000" dirty="0"/>
          </a:p>
        </p:txBody>
      </p:sp>
      <p:sp>
        <p:nvSpPr>
          <p:cNvPr id="25" name="Text 21"/>
          <p:cNvSpPr txBox="1"/>
          <p:nvPr/>
        </p:nvSpPr>
        <p:spPr>
          <a:xfrm>
            <a:off x="8112100" y="3118104"/>
            <a:ext cx="2964028" cy="466344"/>
          </a:xfrm>
          <a:prstGeom prst="rect">
            <a:avLst/>
          </a:prstGeom>
          <a:noFill/>
          <a:ln/>
        </p:spPr>
        <p:txBody>
          <a:bodyPr wrap="none" lIns="0" tIns="0" rIns="0" bIns="0" rtlCol="0" anchor="ctr"/>
          <a:lstStyle/>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git switch -c feature-alta</a:t>
            </a:r>
            <a:endParaRPr lang="en-US" sz="1100" dirty="0"/>
          </a:p>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git push -u origin feature-alta</a:t>
            </a:r>
            <a:endParaRPr lang="en-US" sz="1100" dirty="0"/>
          </a:p>
        </p:txBody>
      </p:sp>
      <p:sp>
        <p:nvSpPr>
          <p:cNvPr id="26" name="Shape 22"/>
          <p:cNvSpPr/>
          <p:nvPr/>
        </p:nvSpPr>
        <p:spPr>
          <a:xfrm>
            <a:off x="548640" y="3931920"/>
            <a:ext cx="11094415" cy="1051560"/>
          </a:xfrm>
          <a:prstGeom prst="roundRect">
            <a:avLst>
              <a:gd name="adj" fmla="val 8696"/>
            </a:avLst>
          </a:prstGeom>
          <a:solidFill>
            <a:srgbClr val="FFFFFF"/>
          </a:solidFill>
          <a:ln/>
          <a:effectLst>
            <a:outerShdw sx="100000" sy="100000" kx="0" ky="0" algn="bl" rotWithShape="0" blurRad="88900" dist="19050" dir="5400000">
              <a:srgbClr val="1B2333">
                <a:alpha val="10000"/>
              </a:srgbClr>
            </a:outerShdw>
          </a:effectLst>
        </p:spPr>
      </p:sp>
      <p:sp>
        <p:nvSpPr>
          <p:cNvPr id="27" name="Text 23"/>
          <p:cNvSpPr txBox="1"/>
          <p:nvPr/>
        </p:nvSpPr>
        <p:spPr>
          <a:xfrm>
            <a:off x="777240" y="4041648"/>
            <a:ext cx="3611880" cy="36576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No hacer pull antes</a:t>
            </a:r>
            <a:endParaRPr lang="en-US" sz="1450" dirty="0"/>
          </a:p>
        </p:txBody>
      </p:sp>
      <p:sp>
        <p:nvSpPr>
          <p:cNvPr id="28" name="Text 24"/>
          <p:cNvSpPr txBox="1"/>
          <p:nvPr/>
        </p:nvSpPr>
        <p:spPr>
          <a:xfrm>
            <a:off x="777240" y="4407408"/>
            <a:ext cx="3611880" cy="502920"/>
          </a:xfrm>
          <a:prstGeom prst="rect">
            <a:avLst/>
          </a:prstGeom>
          <a:noFill/>
          <a:ln/>
        </p:spPr>
        <p:txBody>
          <a:bodyPr wrap="square" lIns="0" tIns="0" rIns="0" bIns="0" rtlCol="0" anchor="t"/>
          <a:lstStyle/>
          <a:p>
            <a:pPr algn="l" indent="0" marL="0">
              <a:buNone/>
            </a:pPr>
            <a:r>
              <a:rPr lang="en-US" sz="1300" dirty="0">
                <a:solidFill>
                  <a:srgbClr val="4F5A6D"/>
                </a:solidFill>
                <a:latin typeface="Segoe UI" pitchFamily="34" charset="0"/>
                <a:ea typeface="Segoe UI" pitchFamily="34" charset="-122"/>
                <a:cs typeface="Segoe UI" pitchFamily="34" charset="-120"/>
              </a:rPr>
              <a:t>Arrancás desde una versión vieja y chocás al subir.</a:t>
            </a:r>
            <a:endParaRPr lang="en-US" sz="1300" dirty="0"/>
          </a:p>
        </p:txBody>
      </p:sp>
      <p:sp>
        <p:nvSpPr>
          <p:cNvPr id="29" name="Shape 25"/>
          <p:cNvSpPr/>
          <p:nvPr/>
        </p:nvSpPr>
        <p:spPr>
          <a:xfrm>
            <a:off x="4526280" y="4041648"/>
            <a:ext cx="3238348" cy="832104"/>
          </a:xfrm>
          <a:prstGeom prst="roundRect">
            <a:avLst>
              <a:gd name="adj" fmla="val 8791"/>
            </a:avLst>
          </a:prstGeom>
          <a:solidFill>
            <a:srgbClr val="FBE9E9"/>
          </a:solidFill>
          <a:ln/>
        </p:spPr>
      </p:sp>
      <p:sp>
        <p:nvSpPr>
          <p:cNvPr id="30" name="Text 26"/>
          <p:cNvSpPr txBox="1"/>
          <p:nvPr/>
        </p:nvSpPr>
        <p:spPr>
          <a:xfrm>
            <a:off x="4690872" y="4096512"/>
            <a:ext cx="2964028" cy="237744"/>
          </a:xfrm>
          <a:prstGeom prst="rect">
            <a:avLst/>
          </a:prstGeom>
          <a:noFill/>
          <a:ln/>
        </p:spPr>
        <p:txBody>
          <a:bodyPr wrap="square" lIns="0" tIns="0" rIns="0" bIns="0" rtlCol="0" anchor="t"/>
          <a:lstStyle/>
          <a:p>
            <a:pPr algn="l" indent="0" marL="0">
              <a:buNone/>
            </a:pPr>
            <a:r>
              <a:rPr lang="en-US" sz="1000" b="1" dirty="0">
                <a:solidFill>
                  <a:srgbClr val="C23B3B"/>
                </a:solidFill>
                <a:latin typeface="Segoe UI" pitchFamily="34" charset="0"/>
                <a:ea typeface="Segoe UI" pitchFamily="34" charset="-122"/>
                <a:cs typeface="Segoe UI" pitchFamily="34" charset="-120"/>
              </a:rPr>
              <a:t>✗ Así no</a:t>
            </a:r>
            <a:endParaRPr lang="en-US" sz="1000" dirty="0"/>
          </a:p>
        </p:txBody>
      </p:sp>
      <p:sp>
        <p:nvSpPr>
          <p:cNvPr id="31" name="Text 27"/>
          <p:cNvSpPr txBox="1"/>
          <p:nvPr/>
        </p:nvSpPr>
        <p:spPr>
          <a:xfrm>
            <a:off x="4690872" y="4352544"/>
            <a:ext cx="2964028" cy="466344"/>
          </a:xfrm>
          <a:prstGeom prst="rect">
            <a:avLst/>
          </a:prstGeom>
          <a:noFill/>
          <a:ln/>
        </p:spPr>
        <p:txBody>
          <a:bodyPr wrap="none" lIns="0" tIns="0" rIns="0" bIns="0" rtlCol="0" anchor="ctr"/>
          <a:lstStyle/>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git push</a:t>
            </a:r>
            <a:endParaRPr lang="en-US" sz="1100" dirty="0"/>
          </a:p>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 ! [rejected]</a:t>
            </a:r>
            <a:endParaRPr lang="en-US" sz="1100" dirty="0"/>
          </a:p>
        </p:txBody>
      </p:sp>
      <p:sp>
        <p:nvSpPr>
          <p:cNvPr id="32" name="Shape 28"/>
          <p:cNvSpPr/>
          <p:nvPr/>
        </p:nvSpPr>
        <p:spPr>
          <a:xfrm>
            <a:off x="7947508" y="4041648"/>
            <a:ext cx="3238348" cy="832104"/>
          </a:xfrm>
          <a:prstGeom prst="roundRect">
            <a:avLst>
              <a:gd name="adj" fmla="val 8791"/>
            </a:avLst>
          </a:prstGeom>
          <a:solidFill>
            <a:srgbClr val="E5F4ED"/>
          </a:solidFill>
          <a:ln/>
        </p:spPr>
      </p:sp>
      <p:sp>
        <p:nvSpPr>
          <p:cNvPr id="33" name="Text 29"/>
          <p:cNvSpPr txBox="1"/>
          <p:nvPr/>
        </p:nvSpPr>
        <p:spPr>
          <a:xfrm>
            <a:off x="8112100" y="4096512"/>
            <a:ext cx="2964028" cy="237744"/>
          </a:xfrm>
          <a:prstGeom prst="rect">
            <a:avLst/>
          </a:prstGeom>
          <a:noFill/>
          <a:ln/>
        </p:spPr>
        <p:txBody>
          <a:bodyPr wrap="square" lIns="0" tIns="0" rIns="0" bIns="0" rtlCol="0" anchor="t"/>
          <a:lstStyle/>
          <a:p>
            <a:pPr algn="l" indent="0" marL="0">
              <a:buNone/>
            </a:pPr>
            <a:r>
              <a:rPr lang="en-US" sz="1000" b="1" dirty="0">
                <a:solidFill>
                  <a:srgbClr val="1E8A5F"/>
                </a:solidFill>
                <a:latin typeface="Segoe UI" pitchFamily="34" charset="0"/>
                <a:ea typeface="Segoe UI" pitchFamily="34" charset="-122"/>
                <a:cs typeface="Segoe UI" pitchFamily="34" charset="-120"/>
              </a:rPr>
              <a:t>✓ Así sí</a:t>
            </a:r>
            <a:endParaRPr lang="en-US" sz="1000" dirty="0"/>
          </a:p>
        </p:txBody>
      </p:sp>
      <p:sp>
        <p:nvSpPr>
          <p:cNvPr id="34" name="Text 30"/>
          <p:cNvSpPr txBox="1"/>
          <p:nvPr/>
        </p:nvSpPr>
        <p:spPr>
          <a:xfrm>
            <a:off x="8112100" y="4352544"/>
            <a:ext cx="2964028" cy="466344"/>
          </a:xfrm>
          <a:prstGeom prst="rect">
            <a:avLst/>
          </a:prstGeom>
          <a:noFill/>
          <a:ln/>
        </p:spPr>
        <p:txBody>
          <a:bodyPr wrap="none" lIns="0" tIns="0" rIns="0" bIns="0" rtlCol="0" anchor="ctr"/>
          <a:lstStyle/>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git pull</a:t>
            </a:r>
            <a:endParaRPr lang="en-US" sz="1100" dirty="0"/>
          </a:p>
          <a:p>
            <a:pPr algn="l" indent="0" marL="0">
              <a:lnSpc>
                <a:spcPts val="1375"/>
              </a:lnSpc>
              <a:buNone/>
            </a:pPr>
            <a:r>
              <a:rPr lang="en-US" sz="1100" dirty="0">
                <a:solidFill>
                  <a:srgbClr val="1B2333"/>
                </a:solidFill>
                <a:latin typeface="Consolas" pitchFamily="34" charset="0"/>
                <a:ea typeface="Consolas" pitchFamily="34" charset="-122"/>
                <a:cs typeface="Consolas" pitchFamily="34" charset="-120"/>
              </a:rPr>
              <a:t>git push</a:t>
            </a:r>
            <a:endParaRPr lang="en-US" sz="1100" dirty="0"/>
          </a:p>
        </p:txBody>
      </p:sp>
      <p:sp>
        <p:nvSpPr>
          <p:cNvPr id="35" name="Shape 31"/>
          <p:cNvSpPr/>
          <p:nvPr/>
        </p:nvSpPr>
        <p:spPr>
          <a:xfrm>
            <a:off x="548640" y="5166360"/>
            <a:ext cx="11094415" cy="1051560"/>
          </a:xfrm>
          <a:prstGeom prst="roundRect">
            <a:avLst>
              <a:gd name="adj" fmla="val 8696"/>
            </a:avLst>
          </a:prstGeom>
          <a:solidFill>
            <a:srgbClr val="FFFFFF"/>
          </a:solidFill>
          <a:ln/>
          <a:effectLst>
            <a:outerShdw sx="100000" sy="100000" kx="0" ky="0" algn="bl" rotWithShape="0" blurRad="88900" dist="19050" dir="5400000">
              <a:srgbClr val="1B2333">
                <a:alpha val="10000"/>
              </a:srgbClr>
            </a:outerShdw>
          </a:effectLst>
        </p:spPr>
      </p:sp>
      <p:sp>
        <p:nvSpPr>
          <p:cNvPr id="36" name="Text 32"/>
          <p:cNvSpPr txBox="1"/>
          <p:nvPr/>
        </p:nvSpPr>
        <p:spPr>
          <a:xfrm>
            <a:off x="777240" y="5276088"/>
            <a:ext cx="3611880" cy="36576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Arreglar al azar</a:t>
            </a:r>
            <a:endParaRPr lang="en-US" sz="1450" dirty="0"/>
          </a:p>
        </p:txBody>
      </p:sp>
      <p:sp>
        <p:nvSpPr>
          <p:cNvPr id="37" name="Text 33"/>
          <p:cNvSpPr txBox="1"/>
          <p:nvPr/>
        </p:nvSpPr>
        <p:spPr>
          <a:xfrm>
            <a:off x="777240" y="5641848"/>
            <a:ext cx="3611880" cy="502920"/>
          </a:xfrm>
          <a:prstGeom prst="rect">
            <a:avLst/>
          </a:prstGeom>
          <a:noFill/>
          <a:ln/>
        </p:spPr>
        <p:txBody>
          <a:bodyPr wrap="square" lIns="0" tIns="0" rIns="0" bIns="0" rtlCol="0" anchor="t"/>
          <a:lstStyle/>
          <a:p>
            <a:pPr algn="l" indent="0" marL="0">
              <a:buNone/>
            </a:pPr>
            <a:r>
              <a:rPr lang="en-US" sz="1300" dirty="0">
                <a:solidFill>
                  <a:srgbClr val="4F5A6D"/>
                </a:solidFill>
                <a:latin typeface="Segoe UI" pitchFamily="34" charset="0"/>
                <a:ea typeface="Segoe UI" pitchFamily="34" charset="-122"/>
                <a:cs typeface="Segoe UI" pitchFamily="34" charset="-120"/>
              </a:rPr>
              <a:t>Cambiar cinco cosas juntas esconde cuál era el error.</a:t>
            </a:r>
            <a:endParaRPr lang="en-US" sz="1300" dirty="0"/>
          </a:p>
        </p:txBody>
      </p:sp>
      <p:sp>
        <p:nvSpPr>
          <p:cNvPr id="38" name="Shape 34"/>
          <p:cNvSpPr/>
          <p:nvPr/>
        </p:nvSpPr>
        <p:spPr>
          <a:xfrm>
            <a:off x="4526280" y="5276088"/>
            <a:ext cx="3238348" cy="832104"/>
          </a:xfrm>
          <a:prstGeom prst="roundRect">
            <a:avLst>
              <a:gd name="adj" fmla="val 8791"/>
            </a:avLst>
          </a:prstGeom>
          <a:solidFill>
            <a:srgbClr val="FBE9E9"/>
          </a:solidFill>
          <a:ln/>
        </p:spPr>
      </p:sp>
      <p:sp>
        <p:nvSpPr>
          <p:cNvPr id="39" name="Text 35"/>
          <p:cNvSpPr txBox="1"/>
          <p:nvPr/>
        </p:nvSpPr>
        <p:spPr>
          <a:xfrm>
            <a:off x="4690872" y="5330952"/>
            <a:ext cx="2964028" cy="237744"/>
          </a:xfrm>
          <a:prstGeom prst="rect">
            <a:avLst/>
          </a:prstGeom>
          <a:noFill/>
          <a:ln/>
        </p:spPr>
        <p:txBody>
          <a:bodyPr wrap="square" lIns="0" tIns="0" rIns="0" bIns="0" rtlCol="0" anchor="t"/>
          <a:lstStyle/>
          <a:p>
            <a:pPr algn="l" indent="0" marL="0">
              <a:buNone/>
            </a:pPr>
            <a:r>
              <a:rPr lang="en-US" sz="1000" b="1" dirty="0">
                <a:solidFill>
                  <a:srgbClr val="C23B3B"/>
                </a:solidFill>
                <a:latin typeface="Segoe UI" pitchFamily="34" charset="0"/>
                <a:ea typeface="Segoe UI" pitchFamily="34" charset="-122"/>
                <a:cs typeface="Segoe UI" pitchFamily="34" charset="-120"/>
              </a:rPr>
              <a:t>✗ Así no</a:t>
            </a:r>
            <a:endParaRPr lang="en-US" sz="1000" dirty="0"/>
          </a:p>
        </p:txBody>
      </p:sp>
      <p:sp>
        <p:nvSpPr>
          <p:cNvPr id="40" name="Text 36"/>
          <p:cNvSpPr txBox="1"/>
          <p:nvPr/>
        </p:nvSpPr>
        <p:spPr>
          <a:xfrm>
            <a:off x="4690872" y="5586984"/>
            <a:ext cx="2964028" cy="466344"/>
          </a:xfrm>
          <a:prstGeom prst="rect">
            <a:avLst/>
          </a:prstGeom>
          <a:noFill/>
          <a:ln/>
        </p:spPr>
        <p:txBody>
          <a:bodyPr wrap="none" lIns="0" tIns="0" rIns="0" bIns="0" rtlCol="0" anchor="ctr"/>
          <a:lstStyle/>
          <a:p>
            <a:pPr algn="l" indent="0" marL="0">
              <a:lnSpc>
                <a:spcPts val="1625"/>
              </a:lnSpc>
              <a:buNone/>
            </a:pPr>
            <a:r>
              <a:rPr lang="en-US" sz="1300" dirty="0">
                <a:solidFill>
                  <a:srgbClr val="1B2333"/>
                </a:solidFill>
                <a:latin typeface="Consolas" pitchFamily="34" charset="0"/>
                <a:ea typeface="Consolas" pitchFamily="34" charset="-122"/>
                <a:cs typeface="Consolas" pitchFamily="34" charset="-120"/>
              </a:rPr>
              <a:t># cambio todo y pruebo</a:t>
            </a:r>
            <a:endParaRPr lang="en-US" sz="1300" dirty="0"/>
          </a:p>
        </p:txBody>
      </p:sp>
      <p:sp>
        <p:nvSpPr>
          <p:cNvPr id="41" name="Shape 37"/>
          <p:cNvSpPr/>
          <p:nvPr/>
        </p:nvSpPr>
        <p:spPr>
          <a:xfrm>
            <a:off x="7947508" y="5276088"/>
            <a:ext cx="3238348" cy="832104"/>
          </a:xfrm>
          <a:prstGeom prst="roundRect">
            <a:avLst>
              <a:gd name="adj" fmla="val 8791"/>
            </a:avLst>
          </a:prstGeom>
          <a:solidFill>
            <a:srgbClr val="E5F4ED"/>
          </a:solidFill>
          <a:ln/>
        </p:spPr>
      </p:sp>
      <p:sp>
        <p:nvSpPr>
          <p:cNvPr id="42" name="Text 38"/>
          <p:cNvSpPr txBox="1"/>
          <p:nvPr/>
        </p:nvSpPr>
        <p:spPr>
          <a:xfrm>
            <a:off x="8112100" y="5330952"/>
            <a:ext cx="2964028" cy="237744"/>
          </a:xfrm>
          <a:prstGeom prst="rect">
            <a:avLst/>
          </a:prstGeom>
          <a:noFill/>
          <a:ln/>
        </p:spPr>
        <p:txBody>
          <a:bodyPr wrap="square" lIns="0" tIns="0" rIns="0" bIns="0" rtlCol="0" anchor="t"/>
          <a:lstStyle/>
          <a:p>
            <a:pPr algn="l" indent="0" marL="0">
              <a:buNone/>
            </a:pPr>
            <a:r>
              <a:rPr lang="en-US" sz="1000" b="1" dirty="0">
                <a:solidFill>
                  <a:srgbClr val="1E8A5F"/>
                </a:solidFill>
                <a:latin typeface="Segoe UI" pitchFamily="34" charset="0"/>
                <a:ea typeface="Segoe UI" pitchFamily="34" charset="-122"/>
                <a:cs typeface="Segoe UI" pitchFamily="34" charset="-120"/>
              </a:rPr>
              <a:t>✓ Así sí</a:t>
            </a:r>
            <a:endParaRPr lang="en-US" sz="1000" dirty="0"/>
          </a:p>
        </p:txBody>
      </p:sp>
      <p:sp>
        <p:nvSpPr>
          <p:cNvPr id="43" name="Text 39"/>
          <p:cNvSpPr txBox="1"/>
          <p:nvPr/>
        </p:nvSpPr>
        <p:spPr>
          <a:xfrm>
            <a:off x="8112100" y="5586984"/>
            <a:ext cx="2964028" cy="466344"/>
          </a:xfrm>
          <a:prstGeom prst="rect">
            <a:avLst/>
          </a:prstGeom>
          <a:noFill/>
          <a:ln/>
        </p:spPr>
        <p:txBody>
          <a:bodyPr wrap="none" lIns="0" tIns="0" rIns="0" bIns="0" rtlCol="0" anchor="ctr"/>
          <a:lstStyle/>
          <a:p>
            <a:pPr algn="l" indent="0" marL="0">
              <a:lnSpc>
                <a:spcPts val="1625"/>
              </a:lnSpc>
              <a:buNone/>
            </a:pPr>
            <a:r>
              <a:rPr lang="en-US" sz="1300" dirty="0">
                <a:solidFill>
                  <a:srgbClr val="1B2333"/>
                </a:solidFill>
                <a:latin typeface="Consolas" pitchFamily="34" charset="0"/>
                <a:ea typeface="Consolas" pitchFamily="34" charset="-122"/>
                <a:cs typeface="Consolas" pitchFamily="34" charset="-120"/>
              </a:rPr>
              <a:t>print("DEBUG", n, suma)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DUDAS DE AULA</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Preguntas que seguro aparecen</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20 / 23</a:t>
            </a:r>
            <a:endParaRPr lang="en-US" sz="900" dirty="0"/>
          </a:p>
        </p:txBody>
      </p:sp>
      <p:sp>
        <p:nvSpPr>
          <p:cNvPr id="8" name="Shape 4"/>
          <p:cNvSpPr/>
          <p:nvPr/>
        </p:nvSpPr>
        <p:spPr>
          <a:xfrm>
            <a:off x="548640" y="1463040"/>
            <a:ext cx="5410048" cy="2240280"/>
          </a:xfrm>
          <a:prstGeom prst="roundRect">
            <a:avLst>
              <a:gd name="adj" fmla="val 4082"/>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691640"/>
            <a:ext cx="420624" cy="420624"/>
          </a:xfrm>
          <a:prstGeom prst="ellipse">
            <a:avLst/>
          </a:prstGeom>
          <a:solidFill>
            <a:srgbClr val="2B5B84"/>
          </a:solid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a:t>
            </a:r>
            <a:endParaRPr lang="en-US" sz="1500" dirty="0"/>
          </a:p>
        </p:txBody>
      </p:sp>
      <p:sp>
        <p:nvSpPr>
          <p:cNvPr id="10" name="Text 6"/>
          <p:cNvSpPr txBox="1"/>
          <p:nvPr/>
        </p:nvSpPr>
        <p:spPr>
          <a:xfrm>
            <a:off x="1325880" y="1627632"/>
            <a:ext cx="4449928" cy="73152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¿Qué pasa si dos editamos el mismo archivo y hacemos push?</a:t>
            </a:r>
            <a:endParaRPr lang="en-US" sz="1450" dirty="0"/>
          </a:p>
        </p:txBody>
      </p:sp>
      <p:sp>
        <p:nvSpPr>
          <p:cNvPr id="11" name="Text 7"/>
          <p:cNvSpPr txBox="1"/>
          <p:nvPr/>
        </p:nvSpPr>
        <p:spPr>
          <a:xfrm>
            <a:off x="777240" y="2423160"/>
            <a:ext cx="4998568" cy="1188720"/>
          </a:xfrm>
          <a:prstGeom prst="rect">
            <a:avLst/>
          </a:prstGeom>
          <a:noFill/>
          <a:ln/>
        </p:spPr>
        <p:txBody>
          <a:bodyPr wrap="square" lIns="0" tIns="0" rIns="0" bIns="0" rtlCol="0" anchor="t"/>
          <a:lstStyle/>
          <a:p>
            <a:pPr algn="l" indent="0" marL="0">
              <a:buNone/>
            </a:pPr>
            <a:r>
              <a:rPr lang="en-US" sz="1450" dirty="0">
                <a:solidFill>
                  <a:srgbClr val="4F5A6D"/>
                </a:solidFill>
                <a:latin typeface="Segoe UI" pitchFamily="34" charset="0"/>
                <a:ea typeface="Segoe UI" pitchFamily="34" charset="-122"/>
                <a:cs typeface="Segoe UI" pitchFamily="34" charset="-120"/>
              </a:rPr>
              <a:t>GitHub rechaza el segundo push porque le faltan los commits del primero. Se hace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git pull</a:t>
            </a:r>
            <a:pPr algn="l" indent="0" marL="0">
              <a:buNone/>
            </a:pPr>
            <a:r>
              <a:rPr lang="en-US" sz="1450" dirty="0">
                <a:solidFill>
                  <a:srgbClr val="4F5A6D"/>
                </a:solidFill>
                <a:latin typeface="Segoe UI" pitchFamily="34" charset="0"/>
                <a:ea typeface="Segoe UI" pitchFamily="34" charset="-122"/>
                <a:cs typeface="Segoe UI" pitchFamily="34" charset="-120"/>
              </a:rPr>
              <a:t>, se resuelve el conflicto si lo hay y se vuelve a hacer push. Por eso conviene coordinar quién toca qué.</a:t>
            </a:r>
            <a:endParaRPr lang="en-US" sz="1450" dirty="0"/>
          </a:p>
        </p:txBody>
      </p:sp>
      <p:sp>
        <p:nvSpPr>
          <p:cNvPr id="12" name="Shape 8"/>
          <p:cNvSpPr/>
          <p:nvPr/>
        </p:nvSpPr>
        <p:spPr>
          <a:xfrm>
            <a:off x="6233008" y="1463040"/>
            <a:ext cx="5410048" cy="2240280"/>
          </a:xfrm>
          <a:prstGeom prst="roundRect">
            <a:avLst>
              <a:gd name="adj" fmla="val 4082"/>
            </a:avLst>
          </a:prstGeom>
          <a:solidFill>
            <a:srgbClr val="FFFFFF"/>
          </a:solidFill>
          <a:ln/>
          <a:effectLst>
            <a:outerShdw sx="100000" sy="100000" kx="0" ky="0" algn="bl" rotWithShape="0" blurRad="88900" dist="19050" dir="5400000">
              <a:srgbClr val="1B2333">
                <a:alpha val="10000"/>
              </a:srgbClr>
            </a:outerShdw>
          </a:effectLst>
        </p:spPr>
      </p:sp>
      <p:sp>
        <p:nvSpPr>
          <p:cNvPr id="13" name="Text 9"/>
          <p:cNvSpPr txBox="1"/>
          <p:nvPr/>
        </p:nvSpPr>
        <p:spPr>
          <a:xfrm>
            <a:off x="6461608" y="1691640"/>
            <a:ext cx="420624" cy="420624"/>
          </a:xfrm>
          <a:prstGeom prst="ellipse">
            <a:avLst/>
          </a:prstGeom>
          <a:solidFill>
            <a:srgbClr val="2B5B84"/>
          </a:solid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a:t>
            </a:r>
            <a:endParaRPr lang="en-US" sz="1500" dirty="0"/>
          </a:p>
        </p:txBody>
      </p:sp>
      <p:sp>
        <p:nvSpPr>
          <p:cNvPr id="14" name="Text 10"/>
          <p:cNvSpPr txBox="1"/>
          <p:nvPr/>
        </p:nvSpPr>
        <p:spPr>
          <a:xfrm>
            <a:off x="7010248" y="1627632"/>
            <a:ext cx="4449928" cy="73152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¿Print de depuración o el depurador de VS Code?</a:t>
            </a:r>
            <a:endParaRPr lang="en-US" sz="1450" dirty="0"/>
          </a:p>
        </p:txBody>
      </p:sp>
      <p:sp>
        <p:nvSpPr>
          <p:cNvPr id="15" name="Text 11"/>
          <p:cNvSpPr txBox="1"/>
          <p:nvPr/>
        </p:nvSpPr>
        <p:spPr>
          <a:xfrm>
            <a:off x="6461608" y="2423160"/>
            <a:ext cx="4998568" cy="1188720"/>
          </a:xfrm>
          <a:prstGeom prst="rect">
            <a:avLst/>
          </a:prstGeom>
          <a:noFill/>
          <a:ln/>
        </p:spPr>
        <p:txBody>
          <a:bodyPr wrap="square" lIns="0" tIns="0" rIns="0" bIns="0" rtlCol="0" anchor="t"/>
          <a:lstStyle/>
          <a:p>
            <a:pPr algn="l" indent="0" marL="0">
              <a:buNone/>
            </a:pPr>
            <a:r>
              <a:rPr lang="en-US" sz="1450" dirty="0">
                <a:solidFill>
                  <a:srgbClr val="4F5A6D"/>
                </a:solidFill>
                <a:latin typeface="Segoe UI" pitchFamily="34" charset="0"/>
                <a:ea typeface="Segoe UI" pitchFamily="34" charset="-122"/>
                <a:cs typeface="Segoe UI" pitchFamily="34" charset="-120"/>
              </a:rPr>
              <a:t>Los dos sirven. El depurador pone un </a:t>
            </a:r>
            <a:pPr algn="l" indent="0" marL="0">
              <a:buNone/>
            </a:pPr>
            <a:r>
              <a:rPr lang="en-US" sz="1450" b="1" dirty="0">
                <a:solidFill>
                  <a:srgbClr val="4F5A6D"/>
                </a:solidFill>
                <a:latin typeface="Segoe UI" pitchFamily="34" charset="0"/>
                <a:ea typeface="Segoe UI" pitchFamily="34" charset="-122"/>
                <a:cs typeface="Segoe UI" pitchFamily="34" charset="-120"/>
              </a:rPr>
              <a:t>breakpoint</a:t>
            </a:r>
            <a:pPr algn="l" indent="0" marL="0">
              <a:buNone/>
            </a:pPr>
            <a:r>
              <a:rPr lang="en-US" sz="1450" dirty="0">
                <a:solidFill>
                  <a:srgbClr val="4F5A6D"/>
                </a:solidFill>
                <a:latin typeface="Segoe UI" pitchFamily="34" charset="0"/>
                <a:ea typeface="Segoe UI" pitchFamily="34" charset="-122"/>
                <a:cs typeface="Segoe UI" pitchFamily="34" charset="-120"/>
              </a:rPr>
              <a:t> (punto de pausa) y te deja ver todas las variables sin ensuciar el código. Los prints son rápidos, pero hay que borrarlos antes del commit.</a:t>
            </a:r>
            <a:endParaRPr lang="en-US" sz="1450" dirty="0"/>
          </a:p>
        </p:txBody>
      </p:sp>
      <p:sp>
        <p:nvSpPr>
          <p:cNvPr id="16" name="Shape 12"/>
          <p:cNvSpPr/>
          <p:nvPr/>
        </p:nvSpPr>
        <p:spPr>
          <a:xfrm>
            <a:off x="548640" y="3977640"/>
            <a:ext cx="5410048" cy="2240280"/>
          </a:xfrm>
          <a:prstGeom prst="roundRect">
            <a:avLst>
              <a:gd name="adj" fmla="val 4082"/>
            </a:avLst>
          </a:prstGeom>
          <a:solidFill>
            <a:srgbClr val="FFFFFF"/>
          </a:solidFill>
          <a:ln/>
          <a:effectLst>
            <a:outerShdw sx="100000" sy="100000" kx="0" ky="0" algn="bl" rotWithShape="0" blurRad="88900" dist="19050" dir="5400000">
              <a:srgbClr val="1B2333">
                <a:alpha val="10000"/>
              </a:srgbClr>
            </a:outerShdw>
          </a:effectLst>
        </p:spPr>
      </p:sp>
      <p:sp>
        <p:nvSpPr>
          <p:cNvPr id="17" name="Text 13"/>
          <p:cNvSpPr txBox="1"/>
          <p:nvPr/>
        </p:nvSpPr>
        <p:spPr>
          <a:xfrm>
            <a:off x="777240" y="4206240"/>
            <a:ext cx="420624" cy="420624"/>
          </a:xfrm>
          <a:prstGeom prst="ellipse">
            <a:avLst/>
          </a:prstGeom>
          <a:solidFill>
            <a:srgbClr val="2B5B84"/>
          </a:solid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a:t>
            </a:r>
            <a:endParaRPr lang="en-US" sz="1500" dirty="0"/>
          </a:p>
        </p:txBody>
      </p:sp>
      <p:sp>
        <p:nvSpPr>
          <p:cNvPr id="18" name="Text 14"/>
          <p:cNvSpPr txBox="1"/>
          <p:nvPr/>
        </p:nvSpPr>
        <p:spPr>
          <a:xfrm>
            <a:off x="1325880" y="4142232"/>
            <a:ext cx="4449928" cy="73152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¿Qué tipos de error existen?</a:t>
            </a:r>
            <a:endParaRPr lang="en-US" sz="1450" dirty="0"/>
          </a:p>
        </p:txBody>
      </p:sp>
      <p:sp>
        <p:nvSpPr>
          <p:cNvPr id="19" name="Text 15"/>
          <p:cNvSpPr txBox="1"/>
          <p:nvPr/>
        </p:nvSpPr>
        <p:spPr>
          <a:xfrm>
            <a:off x="777240" y="4937760"/>
            <a:ext cx="4998568" cy="1188720"/>
          </a:xfrm>
          <a:prstGeom prst="rect">
            <a:avLst/>
          </a:prstGeom>
          <a:noFill/>
          <a:ln/>
        </p:spPr>
        <p:txBody>
          <a:bodyPr wrap="square" lIns="0" tIns="0" rIns="0" bIns="0" rtlCol="0" anchor="t"/>
          <a:lstStyle/>
          <a:p>
            <a:pPr algn="l" indent="0" marL="0">
              <a:buNone/>
            </a:pPr>
            <a:r>
              <a:rPr lang="en-US" sz="1450" b="1" dirty="0">
                <a:solidFill>
                  <a:srgbClr val="4F5A6D"/>
                </a:solidFill>
                <a:latin typeface="Segoe UI" pitchFamily="34" charset="0"/>
                <a:ea typeface="Segoe UI" pitchFamily="34" charset="-122"/>
                <a:cs typeface="Segoe UI" pitchFamily="34" charset="-120"/>
              </a:rPr>
              <a:t>Sintaxis</a:t>
            </a:r>
            <a:pPr algn="l" indent="0" marL="0">
              <a:buNone/>
            </a:pPr>
            <a:r>
              <a:rPr lang="en-US" sz="1450" dirty="0">
                <a:solidFill>
                  <a:srgbClr val="4F5A6D"/>
                </a:solidFill>
                <a:latin typeface="Segoe UI" pitchFamily="34" charset="0"/>
                <a:ea typeface="Segoe UI" pitchFamily="34" charset="-122"/>
                <a:cs typeface="Segoe UI" pitchFamily="34" charset="-120"/>
              </a:rPr>
              <a:t>: el programa ni arranca. </a:t>
            </a:r>
            <a:pPr algn="l" indent="0" marL="0">
              <a:buNone/>
            </a:pPr>
            <a:r>
              <a:rPr lang="en-US" sz="1450" b="1" dirty="0">
                <a:solidFill>
                  <a:srgbClr val="4F5A6D"/>
                </a:solidFill>
                <a:latin typeface="Segoe UI" pitchFamily="34" charset="0"/>
                <a:ea typeface="Segoe UI" pitchFamily="34" charset="-122"/>
                <a:cs typeface="Segoe UI" pitchFamily="34" charset="-120"/>
              </a:rPr>
              <a:t>Ejecución</a:t>
            </a:r>
            <a:pPr algn="l" indent="0" marL="0">
              <a:buNone/>
            </a:pPr>
            <a:r>
              <a:rPr lang="en-US" sz="1450" dirty="0">
                <a:solidFill>
                  <a:srgbClr val="4F5A6D"/>
                </a:solidFill>
                <a:latin typeface="Segoe UI" pitchFamily="34" charset="0"/>
                <a:ea typeface="Segoe UI" pitchFamily="34" charset="-122"/>
                <a:cs typeface="Segoe UI" pitchFamily="34" charset="-120"/>
              </a:rPr>
              <a:t>: explota mientras corre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ZeroDivisionError</a:t>
            </a:r>
            <a:pPr algn="l" indent="0" marL="0">
              <a:buNone/>
            </a:pPr>
            <a:r>
              <a:rPr lang="en-US" sz="1450" dirty="0">
                <a:solidFill>
                  <a:srgbClr val="4F5A6D"/>
                </a:solidFill>
                <a:latin typeface="Segoe UI" pitchFamily="34" charset="0"/>
                <a:ea typeface="Segoe UI" pitchFamily="34" charset="-122"/>
                <a:cs typeface="Segoe UI" pitchFamily="34" charset="-120"/>
              </a:rPr>
              <a:t>). </a:t>
            </a:r>
            <a:pPr algn="l" indent="0" marL="0">
              <a:buNone/>
            </a:pPr>
            <a:r>
              <a:rPr lang="en-US" sz="1450" b="1" dirty="0">
                <a:solidFill>
                  <a:srgbClr val="4F5A6D"/>
                </a:solidFill>
                <a:latin typeface="Segoe UI" pitchFamily="34" charset="0"/>
                <a:ea typeface="Segoe UI" pitchFamily="34" charset="-122"/>
                <a:cs typeface="Segoe UI" pitchFamily="34" charset="-120"/>
              </a:rPr>
              <a:t>Lógico</a:t>
            </a:r>
            <a:pPr algn="l" indent="0" marL="0">
              <a:buNone/>
            </a:pPr>
            <a:r>
              <a:rPr lang="en-US" sz="1450" dirty="0">
                <a:solidFill>
                  <a:srgbClr val="4F5A6D"/>
                </a:solidFill>
                <a:latin typeface="Segoe UI" pitchFamily="34" charset="0"/>
                <a:ea typeface="Segoe UI" pitchFamily="34" charset="-122"/>
                <a:cs typeface="Segoe UI" pitchFamily="34" charset="-120"/>
              </a:rPr>
              <a:t>: corre sin quejarse pero calcula mal. Este último es el más difícil: lo encontrás con prints y trazado.</a:t>
            </a:r>
            <a:endParaRPr lang="en-US" sz="1450" dirty="0"/>
          </a:p>
        </p:txBody>
      </p:sp>
      <p:sp>
        <p:nvSpPr>
          <p:cNvPr id="20" name="Shape 16"/>
          <p:cNvSpPr/>
          <p:nvPr/>
        </p:nvSpPr>
        <p:spPr>
          <a:xfrm>
            <a:off x="6233008" y="3977640"/>
            <a:ext cx="5410048" cy="2240280"/>
          </a:xfrm>
          <a:prstGeom prst="roundRect">
            <a:avLst>
              <a:gd name="adj" fmla="val 4082"/>
            </a:avLst>
          </a:prstGeom>
          <a:solidFill>
            <a:srgbClr val="FFFFFF"/>
          </a:solidFill>
          <a:ln/>
          <a:effectLst>
            <a:outerShdw sx="100000" sy="100000" kx="0" ky="0" algn="bl" rotWithShape="0" blurRad="88900" dist="19050" dir="5400000">
              <a:srgbClr val="1B2333">
                <a:alpha val="10000"/>
              </a:srgbClr>
            </a:outerShdw>
          </a:effectLst>
        </p:spPr>
      </p:sp>
      <p:sp>
        <p:nvSpPr>
          <p:cNvPr id="21" name="Text 17"/>
          <p:cNvSpPr txBox="1"/>
          <p:nvPr/>
        </p:nvSpPr>
        <p:spPr>
          <a:xfrm>
            <a:off x="6461608" y="4206240"/>
            <a:ext cx="420624" cy="420624"/>
          </a:xfrm>
          <a:prstGeom prst="ellipse">
            <a:avLst/>
          </a:prstGeom>
          <a:solidFill>
            <a:srgbClr val="2B5B84"/>
          </a:solid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a:t>
            </a:r>
            <a:endParaRPr lang="en-US" sz="1500" dirty="0"/>
          </a:p>
        </p:txBody>
      </p:sp>
      <p:sp>
        <p:nvSpPr>
          <p:cNvPr id="22" name="Text 18"/>
          <p:cNvSpPr txBox="1"/>
          <p:nvPr/>
        </p:nvSpPr>
        <p:spPr>
          <a:xfrm>
            <a:off x="7010248" y="4142232"/>
            <a:ext cx="4449928" cy="731520"/>
          </a:xfrm>
          <a:prstGeom prst="rect">
            <a:avLst/>
          </a:prstGeom>
          <a:noFill/>
          <a:ln/>
        </p:spPr>
        <p:txBody>
          <a:bodyPr wrap="square" lIns="0" tIns="0" rIns="0" bIns="0" rtlCol="0" anchor="ctr"/>
          <a:lstStyle/>
          <a:p>
            <a:pPr algn="l" indent="0" marL="0">
              <a:buNone/>
            </a:pPr>
            <a:r>
              <a:rPr lang="en-US" sz="1450" b="1" dirty="0">
                <a:solidFill>
                  <a:srgbClr val="1B2333"/>
                </a:solidFill>
                <a:latin typeface="Segoe UI" pitchFamily="34" charset="0"/>
                <a:ea typeface="Segoe UI" pitchFamily="34" charset="-122"/>
                <a:cs typeface="Segoe UI" pitchFamily="34" charset="-120"/>
              </a:rPr>
              <a:t>¿Si refactorizo, puedo romper algo que andaba?</a:t>
            </a:r>
            <a:endParaRPr lang="en-US" sz="1450" dirty="0"/>
          </a:p>
        </p:txBody>
      </p:sp>
      <p:sp>
        <p:nvSpPr>
          <p:cNvPr id="23" name="Text 19"/>
          <p:cNvSpPr txBox="1"/>
          <p:nvPr/>
        </p:nvSpPr>
        <p:spPr>
          <a:xfrm>
            <a:off x="6461608" y="4937760"/>
            <a:ext cx="4998568" cy="1188720"/>
          </a:xfrm>
          <a:prstGeom prst="rect">
            <a:avLst/>
          </a:prstGeom>
          <a:noFill/>
          <a:ln/>
        </p:spPr>
        <p:txBody>
          <a:bodyPr wrap="square" lIns="0" tIns="0" rIns="0" bIns="0" rtlCol="0" anchor="t"/>
          <a:lstStyle/>
          <a:p>
            <a:pPr algn="l" indent="0" marL="0">
              <a:buNone/>
            </a:pPr>
            <a:r>
              <a:rPr lang="en-US" sz="1450" dirty="0">
                <a:solidFill>
                  <a:srgbClr val="4F5A6D"/>
                </a:solidFill>
                <a:latin typeface="Segoe UI" pitchFamily="34" charset="0"/>
                <a:ea typeface="Segoe UI" pitchFamily="34" charset="-122"/>
                <a:cs typeface="Segoe UI" pitchFamily="34" charset="-120"/>
              </a:rPr>
              <a:t>Sí, por eso se prueba antes y después con los mismos datos y se hace en una rama. Si algo se rompe, Git te deja volver al commit anterior.</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PRÁCTICA</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Guía de ejercicios por niveles</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21 / 23</a:t>
            </a:r>
            <a:endParaRPr lang="en-US" sz="900" dirty="0"/>
          </a:p>
        </p:txBody>
      </p:sp>
      <p:sp>
        <p:nvSpPr>
          <p:cNvPr id="8" name="Shape 4"/>
          <p:cNvSpPr/>
          <p:nvPr/>
        </p:nvSpPr>
        <p:spPr>
          <a:xfrm>
            <a:off x="548640" y="1463040"/>
            <a:ext cx="3515258" cy="3977640"/>
          </a:xfrm>
          <a:prstGeom prst="roundRect">
            <a:avLst>
              <a:gd name="adj" fmla="val 2601"/>
            </a:avLst>
          </a:prstGeom>
          <a:solidFill>
            <a:srgbClr val="FFFFFF"/>
          </a:solidFill>
          <a:ln/>
          <a:effectLst>
            <a:outerShdw sx="100000" sy="100000" kx="0" ky="0" algn="bl" rotWithShape="0" blurRad="88900" dist="19050" dir="5400000">
              <a:srgbClr val="1B2333">
                <a:alpha val="10000"/>
              </a:srgbClr>
            </a:outerShdw>
          </a:effectLst>
        </p:spPr>
      </p:sp>
      <p:sp>
        <p:nvSpPr>
          <p:cNvPr id="9" name="Text 5"/>
          <p:cNvSpPr txBox="1"/>
          <p:nvPr/>
        </p:nvSpPr>
        <p:spPr>
          <a:xfrm>
            <a:off x="777240" y="1691640"/>
            <a:ext cx="3058058" cy="420624"/>
          </a:xfrm>
          <a:prstGeom prst="roundRect">
            <a:avLst>
              <a:gd name="adj" fmla="val 50000"/>
            </a:avLst>
          </a:prstGeom>
          <a:solidFill>
            <a:srgbClr val="1E8A5F"/>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BÁSICO  ★</a:t>
            </a:r>
            <a:endParaRPr lang="en-US" sz="1250" dirty="0"/>
          </a:p>
        </p:txBody>
      </p:sp>
      <p:sp>
        <p:nvSpPr>
          <p:cNvPr id="10" name="Text 6"/>
          <p:cNvSpPr txBox="1"/>
          <p:nvPr/>
        </p:nvSpPr>
        <p:spPr>
          <a:xfrm>
            <a:off x="777240" y="2286000"/>
            <a:ext cx="3103778" cy="3063240"/>
          </a:xfrm>
          <a:prstGeom prst="rect">
            <a:avLst/>
          </a:prstGeom>
          <a:noFill/>
          <a:ln/>
        </p:spPr>
        <p:txBody>
          <a:bodyPr wrap="square" lIns="25400" tIns="25400" rIns="25400" bIns="25400" rtlCol="0" anchor="t"/>
          <a:lstStyle/>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Cada integrante: crear una rama, hacer 2 commits propios y abrir un Pull Request.</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Crear en GitHub un issue por opción del menú y asignar un responsable a cada uno.</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Completar el checklist de avance y subirlo como issue del equipo.</a:t>
            </a:r>
            <a:endParaRPr lang="en-US" sz="1500" dirty="0"/>
          </a:p>
        </p:txBody>
      </p:sp>
      <p:sp>
        <p:nvSpPr>
          <p:cNvPr id="11" name="Shape 7"/>
          <p:cNvSpPr/>
          <p:nvPr/>
        </p:nvSpPr>
        <p:spPr>
          <a:xfrm>
            <a:off x="4338218" y="1463040"/>
            <a:ext cx="3515258" cy="3977640"/>
          </a:xfrm>
          <a:prstGeom prst="roundRect">
            <a:avLst>
              <a:gd name="adj" fmla="val 2601"/>
            </a:avLst>
          </a:prstGeom>
          <a:solidFill>
            <a:srgbClr val="FFFFFF"/>
          </a:solidFill>
          <a:ln/>
          <a:effectLst>
            <a:outerShdw sx="100000" sy="100000" kx="0" ky="0" algn="bl" rotWithShape="0" blurRad="88900" dist="19050" dir="5400000">
              <a:srgbClr val="1B2333">
                <a:alpha val="10000"/>
              </a:srgbClr>
            </a:outerShdw>
          </a:effectLst>
        </p:spPr>
      </p:sp>
      <p:sp>
        <p:nvSpPr>
          <p:cNvPr id="12" name="Text 8"/>
          <p:cNvSpPr txBox="1"/>
          <p:nvPr/>
        </p:nvSpPr>
        <p:spPr>
          <a:xfrm>
            <a:off x="4566818" y="1691640"/>
            <a:ext cx="3058058" cy="420624"/>
          </a:xfrm>
          <a:prstGeom prst="roundRect">
            <a:avLst>
              <a:gd name="adj" fmla="val 50000"/>
            </a:avLst>
          </a:prstGeom>
          <a:solidFill>
            <a:srgbClr val="2B5B84"/>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INTERMEDIO  ★★</a:t>
            </a:r>
            <a:endParaRPr lang="en-US" sz="1250" dirty="0"/>
          </a:p>
        </p:txBody>
      </p:sp>
      <p:sp>
        <p:nvSpPr>
          <p:cNvPr id="13" name="Text 9"/>
          <p:cNvSpPr txBox="1"/>
          <p:nvPr/>
        </p:nvSpPr>
        <p:spPr>
          <a:xfrm>
            <a:off x="4566818" y="2286000"/>
            <a:ext cx="3103778" cy="3063240"/>
          </a:xfrm>
          <a:prstGeom prst="rect">
            <a:avLst/>
          </a:prstGeom>
          <a:noFill/>
          <a:ln/>
        </p:spPr>
        <p:txBody>
          <a:bodyPr wrap="square" lIns="25400" tIns="25400" rIns="25400" bIns="25400" rtlCol="0" anchor="t"/>
          <a:lstStyle/>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Provocar a propósito un conflicto en una rama de prueba y resolverlo siguiendo los 4 pasos.</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Refactorizar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listado()</a:t>
            </a:r>
            <a:pPr algn="l" indent="0" marL="0">
              <a:buNone/>
            </a:pPr>
            <a:r>
              <a:rPr lang="en-US" sz="1500" dirty="0">
                <a:solidFill>
                  <a:srgbClr val="1B2333"/>
                </a:solidFill>
                <a:latin typeface="Segoe UI" pitchFamily="34" charset="0"/>
                <a:ea typeface="Segoe UI" pitchFamily="34" charset="-122"/>
                <a:cs typeface="Segoe UI" pitchFamily="34" charset="-120"/>
              </a:rPr>
              <a:t> con una función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promedio()</a:t>
            </a:r>
            <a:pPr algn="l" indent="0" marL="0">
              <a:buNone/>
            </a:pPr>
            <a:r>
              <a:rPr lang="en-US" sz="1500" dirty="0">
                <a:solidFill>
                  <a:srgbClr val="1B2333"/>
                </a:solidFill>
                <a:latin typeface="Segoe UI" pitchFamily="34" charset="0"/>
                <a:ea typeface="Segoe UI" pitchFamily="34" charset="-122"/>
                <a:cs typeface="Segoe UI" pitchFamily="34" charset="-120"/>
              </a:rPr>
              <a:t> y verificar que la salida no cambia.</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Revisar el PR de un compañero y dejar 2 comentarios concretos.</a:t>
            </a:r>
            <a:endParaRPr lang="en-US" sz="1500" dirty="0"/>
          </a:p>
        </p:txBody>
      </p:sp>
      <p:sp>
        <p:nvSpPr>
          <p:cNvPr id="14" name="Shape 10"/>
          <p:cNvSpPr/>
          <p:nvPr/>
        </p:nvSpPr>
        <p:spPr>
          <a:xfrm>
            <a:off x="8127797" y="1463040"/>
            <a:ext cx="3515258" cy="3977640"/>
          </a:xfrm>
          <a:prstGeom prst="roundRect">
            <a:avLst>
              <a:gd name="adj" fmla="val 2601"/>
            </a:avLst>
          </a:prstGeom>
          <a:solidFill>
            <a:srgbClr val="FFFFFF"/>
          </a:solidFill>
          <a:ln/>
          <a:effectLst>
            <a:outerShdw sx="100000" sy="100000" kx="0" ky="0" algn="bl" rotWithShape="0" blurRad="88900" dist="19050" dir="5400000">
              <a:srgbClr val="1B2333">
                <a:alpha val="10000"/>
              </a:srgbClr>
            </a:outerShdw>
          </a:effectLst>
        </p:spPr>
      </p:sp>
      <p:sp>
        <p:nvSpPr>
          <p:cNvPr id="15" name="Text 11"/>
          <p:cNvSpPr txBox="1"/>
          <p:nvPr/>
        </p:nvSpPr>
        <p:spPr>
          <a:xfrm>
            <a:off x="8356397" y="1691640"/>
            <a:ext cx="3058058" cy="420624"/>
          </a:xfrm>
          <a:prstGeom prst="roundRect">
            <a:avLst>
              <a:gd name="adj" fmla="val 50000"/>
            </a:avLst>
          </a:prstGeom>
          <a:solidFill>
            <a:srgbClr val="6A4FC7"/>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DESAFÍO  ★★★</a:t>
            </a:r>
            <a:endParaRPr lang="en-US" sz="1250" dirty="0"/>
          </a:p>
        </p:txBody>
      </p:sp>
      <p:sp>
        <p:nvSpPr>
          <p:cNvPr id="16" name="Text 12"/>
          <p:cNvSpPr txBox="1"/>
          <p:nvPr/>
        </p:nvSpPr>
        <p:spPr>
          <a:xfrm>
            <a:off x="8356397" y="2286000"/>
            <a:ext cx="3103778" cy="3063240"/>
          </a:xfrm>
          <a:prstGeom prst="rect">
            <a:avLst/>
          </a:prstGeom>
          <a:noFill/>
          <a:ln/>
        </p:spPr>
        <p:txBody>
          <a:bodyPr wrap="square" lIns="25400" tIns="25400" rIns="25400" bIns="25400" rtlCol="0" anchor="t"/>
          <a:lstStyle/>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Encontrar con prints qué pasa si un alumno queda sin notas y proteger </a:t>
            </a:r>
            <a:pPr algn="l" indent="0" marL="0">
              <a:buNone/>
            </a:pPr>
            <a:r>
              <a:rPr lang="en-US" sz="1500" dirty="0">
                <a:solidFill>
                  <a:srgbClr val="0F4C81"/>
                </a:solidFill>
                <a:highlight>
                  <a:srgbClr val="E6EDF6"/>
                </a:highlight>
                <a:latin typeface="Consolas" pitchFamily="34" charset="0"/>
                <a:ea typeface="Consolas" pitchFamily="34" charset="-122"/>
                <a:cs typeface="Consolas" pitchFamily="34" charset="-120"/>
              </a:rPr>
              <a:t>promedio()</a:t>
            </a:r>
            <a:pPr algn="l" indent="0" marL="0">
              <a:buNone/>
            </a:pPr>
            <a:r>
              <a:rPr lang="en-US" sz="1500" dirty="0">
                <a:solidFill>
                  <a:srgbClr val="1B2333"/>
                </a:solidFill>
                <a:latin typeface="Segoe UI" pitchFamily="34" charset="0"/>
                <a:ea typeface="Segoe UI" pitchFamily="34" charset="-122"/>
                <a:cs typeface="Segoe UI" pitchFamily="34" charset="-120"/>
              </a:rPr>
              <a:t>.</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Agregar la opción "buscar alumno por nombre" en su propia rama, con issue y PR.</a:t>
            </a:r>
            <a:endParaRPr lang="en-US" sz="1500" dirty="0"/>
          </a:p>
          <a:p>
            <a:pPr algn="l" marL="203200" indent="-203200">
              <a:spcAft>
                <a:spcPts val="675"/>
              </a:spcAft>
              <a:buSzPct val="100000"/>
              <a:buChar char="•"/>
            </a:pPr>
            <a:r>
              <a:rPr lang="en-US" sz="1500" dirty="0">
                <a:solidFill>
                  <a:srgbClr val="1B2333"/>
                </a:solidFill>
                <a:latin typeface="Segoe UI" pitchFamily="34" charset="0"/>
                <a:ea typeface="Segoe UI" pitchFamily="34" charset="-122"/>
                <a:cs typeface="Segoe UI" pitchFamily="34" charset="-120"/>
              </a:rPr>
              <a:t>Leer el traceback de un error real del proyecto y explicarlo en voz alta al equipo.</a:t>
            </a:r>
            <a:endParaRPr lang="en-US" sz="1500" dirty="0"/>
          </a:p>
        </p:txBody>
      </p:sp>
      <p:sp>
        <p:nvSpPr>
          <p:cNvPr id="17" name="Shape 13"/>
          <p:cNvSpPr/>
          <p:nvPr/>
        </p:nvSpPr>
        <p:spPr>
          <a:xfrm>
            <a:off x="548640" y="5650992"/>
            <a:ext cx="11094415" cy="566928"/>
          </a:xfrm>
          <a:prstGeom prst="roundRect">
            <a:avLst>
              <a:gd name="adj" fmla="val 12903"/>
            </a:avLst>
          </a:prstGeom>
          <a:solidFill>
            <a:srgbClr val="FFF4C7"/>
          </a:solidFill>
          <a:ln/>
        </p:spPr>
      </p:sp>
      <p:sp>
        <p:nvSpPr>
          <p:cNvPr id="18" name="Text 14"/>
          <p:cNvSpPr txBox="1"/>
          <p:nvPr/>
        </p:nvSpPr>
        <p:spPr>
          <a:xfrm>
            <a:off x="694944" y="5724144"/>
            <a:ext cx="420624" cy="420624"/>
          </a:xfrm>
          <a:prstGeom prst="rect">
            <a:avLst/>
          </a:prstGeom>
          <a:noFill/>
          <a:ln/>
        </p:spPr>
        <p:txBody>
          <a:bodyPr wrap="square" lIns="0" tIns="0" rIns="0" bIns="0" rtlCol="0" anchor="ctr"/>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19" name="Text 15"/>
          <p:cNvSpPr txBox="1"/>
          <p:nvPr/>
        </p:nvSpPr>
        <p:spPr>
          <a:xfrm>
            <a:off x="1170432" y="5678424"/>
            <a:ext cx="10317175" cy="512064"/>
          </a:xfrm>
          <a:prstGeom prst="rect">
            <a:avLst/>
          </a:prstGeom>
          <a:noFill/>
          <a:ln/>
        </p:spPr>
        <p:txBody>
          <a:bodyPr wrap="square" lIns="0" tIns="0" rIns="0" bIns="0" rtlCol="0" anchor="ctr"/>
          <a:lstStyle/>
          <a:p>
            <a:pPr algn="l" indent="0" marL="0">
              <a:buNone/>
            </a:pPr>
            <a:r>
              <a:rPr lang="en-US" sz="1350" dirty="0">
                <a:solidFill>
                  <a:srgbClr val="1B2333"/>
                </a:solidFill>
                <a:latin typeface="Segoe UI" pitchFamily="34" charset="0"/>
                <a:ea typeface="Segoe UI" pitchFamily="34" charset="-122"/>
                <a:cs typeface="Segoe UI" pitchFamily="34" charset="-120"/>
              </a:rPr>
              <a:t>Archivo base: </a:t>
            </a:r>
            <a:pPr algn="l" indent="0" marL="0">
              <a:buNone/>
            </a:pPr>
            <a:r>
              <a:rPr lang="en-US" sz="1350" dirty="0">
                <a:solidFill>
                  <a:srgbClr val="0F4C81"/>
                </a:solidFill>
                <a:highlight>
                  <a:srgbClr val="E6EDF6"/>
                </a:highlight>
                <a:latin typeface="Consolas" pitchFamily="34" charset="0"/>
                <a:ea typeface="Consolas" pitchFamily="34" charset="-122"/>
                <a:cs typeface="Consolas" pitchFamily="34" charset="-120"/>
              </a:rPr>
              <a:t>Codigos/clase27_plantilla_proyecto.py</a:t>
            </a:r>
            <a:pPr algn="l" indent="0" marL="0">
              <a:buNone/>
            </a:pPr>
            <a:r>
              <a:rPr lang="en-US" sz="1350" dirty="0">
                <a:solidFill>
                  <a:srgbClr val="1B2333"/>
                </a:solidFill>
                <a:latin typeface="Segoe UI" pitchFamily="34" charset="0"/>
                <a:ea typeface="Segoe UI" pitchFamily="34" charset="-122"/>
                <a:cs typeface="Segoe UI" pitchFamily="34" charset="-120"/>
              </a:rPr>
              <a:t>. Ejecutalo desde una carpeta de trabajo: crea </a:t>
            </a:r>
            <a:pPr algn="l" indent="0" marL="0">
              <a:buNone/>
            </a:pPr>
            <a:r>
              <a:rPr lang="en-US" sz="1350" dirty="0">
                <a:solidFill>
                  <a:srgbClr val="0F4C81"/>
                </a:solidFill>
                <a:highlight>
                  <a:srgbClr val="E6EDF6"/>
                </a:highlight>
                <a:latin typeface="Consolas" pitchFamily="34" charset="0"/>
                <a:ea typeface="Consolas" pitchFamily="34" charset="-122"/>
                <a:cs typeface="Consolas" pitchFamily="34" charset="-120"/>
              </a:rPr>
              <a:t>alumnos_tp.json</a:t>
            </a:r>
            <a:pPr algn="l" indent="0" marL="0">
              <a:buNone/>
            </a:pPr>
            <a:r>
              <a:rPr lang="en-US" sz="1350" dirty="0">
                <a:solidFill>
                  <a:srgbClr val="1B2333"/>
                </a:solidFill>
                <a:latin typeface="Segoe UI" pitchFamily="34" charset="0"/>
                <a:ea typeface="Segoe UI" pitchFamily="34" charset="-122"/>
                <a:cs typeface="Segoe UI" pitchFamily="34" charset="-120"/>
              </a:rPr>
              <a:t> al dar de alta.</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algn="l" indent="0" marL="0">
              <a:buNone/>
            </a:pPr>
            <a:r>
              <a:rPr lang="en-US" sz="1100" b="1" spc="150" kern="0" dirty="0">
                <a:solidFill>
                  <a:srgbClr val="2B5B84"/>
                </a:solidFill>
                <a:latin typeface="Segoe UI" pitchFamily="34" charset="0"/>
                <a:ea typeface="Segoe UI" pitchFamily="34" charset="-122"/>
                <a:cs typeface="Segoe UI" pitchFamily="34" charset="-120"/>
              </a:rPr>
              <a:t>USO RESPONSABLE DE IA</a:t>
            </a:r>
            <a:endParaRPr lang="en-US" sz="1100" dirty="0"/>
          </a:p>
        </p:txBody>
      </p:sp>
      <p:sp>
        <p:nvSpPr>
          <p:cNvPr id="3" name="Text 1"/>
          <p:cNvSpPr txBox="1"/>
          <p:nvPr/>
        </p:nvSpPr>
        <p:spPr>
          <a:xfrm>
            <a:off x="548640" y="585216"/>
            <a:ext cx="9966960" cy="731520"/>
          </a:xfrm>
          <a:prstGeom prst="rect">
            <a:avLst/>
          </a:prstGeom>
          <a:noFill/>
          <a:ln/>
        </p:spPr>
        <p:txBody>
          <a:bodyPr wrap="square" lIns="0" tIns="0" rIns="0" bIns="0" rtlCol="0" anchor="ctr"/>
          <a:lstStyle/>
          <a:p>
            <a:pPr algn="l" indent="0" marL="0">
              <a:buNone/>
            </a:pPr>
            <a:r>
              <a:rPr lang="en-US" sz="2800" b="1" dirty="0">
                <a:solidFill>
                  <a:srgbClr val="1B2333"/>
                </a:solidFill>
                <a:latin typeface="Segoe UI" pitchFamily="34" charset="0"/>
                <a:ea typeface="Segoe UI" pitchFamily="34" charset="-122"/>
                <a:cs typeface="Segoe UI" pitchFamily="34" charset="-120"/>
              </a:rPr>
              <a:t>Cómo usar la IA en este tema</a:t>
            </a:r>
            <a:endParaRPr lang="en-US" sz="2800" dirty="0"/>
          </a:p>
        </p:txBody>
      </p:sp>
      <p:pic>
        <p:nvPicPr>
          <p:cNvPr id="4" name="Image 0" descr="C:\Users\Ricardo\AppData\Local\Temp\claude\C--Users-Ricardo-Desktop-TSDS-PROGRAMACION\7b194102-4895-4f97-b2eb-ca36d50deb56\scratchpad\build\assets\logo_isfd.png">    </p:cNvPr>
          <p:cNvPicPr>
            <a:picLocks noChangeAspect="1"/>
          </p:cNvPicPr>
          <p:nvPr/>
        </p:nvPicPr>
        <p:blipFill>
          <a:blip r:embed="rId1"/>
          <a:stretch>
            <a:fillRect/>
          </a:stretch>
        </p:blipFill>
        <p:spPr>
          <a:xfrm>
            <a:off x="10661904" y="384048"/>
            <a:ext cx="457200" cy="457200"/>
          </a:xfrm>
          <a:prstGeom prst="rect">
            <a:avLst/>
          </a:prstGeom>
        </p:spPr>
      </p:pic>
      <p:pic>
        <p:nvPicPr>
          <p:cNvPr id="5" name="Image 1" descr="C:\Users\Ricardo\AppData\Local\Temp\claude\C--Users-Ricardo-Desktop-TSDS-PROGRAMACION\7b194102-4895-4f97-b2eb-ca36d50deb56\scratchpad\build\assets\logo_tsds.png">    </p:cNvPr>
          <p:cNvPicPr>
            <a:picLocks noChangeAspect="1"/>
          </p:cNvPicPr>
          <p:nvPr/>
        </p:nvPicPr>
        <p:blipFill>
          <a:blip r:embed="rId2"/>
          <a:stretch>
            <a:fillRect/>
          </a:stretch>
        </p:blipFill>
        <p:spPr>
          <a:xfrm>
            <a:off x="11183112" y="384048"/>
            <a:ext cx="457200" cy="457200"/>
          </a:xfrm>
          <a:prstGeom prst="rect">
            <a:avLst/>
          </a:prstGeom>
        </p:spPr>
      </p:pic>
      <p:sp>
        <p:nvSpPr>
          <p:cNvPr id="6" name="Text 2"/>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A94A6"/>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7" name="Text 3"/>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A94A6"/>
                </a:solidFill>
                <a:latin typeface="Segoe UI" pitchFamily="34" charset="0"/>
                <a:ea typeface="Segoe UI" pitchFamily="34" charset="-122"/>
                <a:cs typeface="Segoe UI" pitchFamily="34" charset="-120"/>
              </a:rPr>
              <a:t>Clase 18  ·  22 / 23</a:t>
            </a:r>
            <a:endParaRPr lang="en-US" sz="900" dirty="0"/>
          </a:p>
        </p:txBody>
      </p:sp>
      <p:sp>
        <p:nvSpPr>
          <p:cNvPr id="8" name="Shape 4"/>
          <p:cNvSpPr/>
          <p:nvPr/>
        </p:nvSpPr>
        <p:spPr>
          <a:xfrm>
            <a:off x="548640" y="1463040"/>
            <a:ext cx="5364328" cy="3108960"/>
          </a:xfrm>
          <a:prstGeom prst="roundRect">
            <a:avLst>
              <a:gd name="adj" fmla="val 2941"/>
            </a:avLst>
          </a:prstGeom>
          <a:solidFill>
            <a:srgbClr val="E5F4ED"/>
          </a:solidFill>
          <a:ln/>
        </p:spPr>
      </p:sp>
      <p:sp>
        <p:nvSpPr>
          <p:cNvPr id="9" name="Text 5"/>
          <p:cNvSpPr txBox="1"/>
          <p:nvPr/>
        </p:nvSpPr>
        <p:spPr>
          <a:xfrm>
            <a:off x="777240" y="1691640"/>
            <a:ext cx="4907128" cy="420624"/>
          </a:xfrm>
          <a:prstGeom prst="roundRect">
            <a:avLst>
              <a:gd name="adj" fmla="val 50000"/>
            </a:avLst>
          </a:prstGeom>
          <a:solidFill>
            <a:srgbClr val="1E8A5F"/>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  Sí: la IA como tutor</a:t>
            </a:r>
            <a:endParaRPr lang="en-US" sz="1250" dirty="0"/>
          </a:p>
        </p:txBody>
      </p:sp>
      <p:sp>
        <p:nvSpPr>
          <p:cNvPr id="10" name="Text 6"/>
          <p:cNvSpPr txBox="1"/>
          <p:nvPr/>
        </p:nvSpPr>
        <p:spPr>
          <a:xfrm>
            <a:off x="777240" y="2286000"/>
            <a:ext cx="4952848" cy="2194560"/>
          </a:xfrm>
          <a:prstGeom prst="rect">
            <a:avLst/>
          </a:prstGeom>
          <a:noFill/>
          <a:ln/>
        </p:spPr>
        <p:txBody>
          <a:bodyPr wrap="square" lIns="25400" tIns="25400" rIns="25400" bIns="25400" rtlCol="0" anchor="t"/>
          <a:lstStyle/>
          <a:p>
            <a:pPr algn="l" marL="203200" indent="-203200">
              <a:spcAft>
                <a:spcPts val="653"/>
              </a:spcAft>
              <a:buSzPct val="100000"/>
              <a:buChar char="•"/>
            </a:pPr>
            <a:r>
              <a:rPr lang="en-US" sz="1450" dirty="0">
                <a:solidFill>
                  <a:srgbClr val="1B2333"/>
                </a:solidFill>
                <a:latin typeface="Segoe UI" pitchFamily="34" charset="0"/>
                <a:ea typeface="Segoe UI" pitchFamily="34" charset="-122"/>
                <a:cs typeface="Segoe UI" pitchFamily="34" charset="-120"/>
              </a:rPr>
              <a:t>Pegarle un conflicto con sus marcadores y pedir que te explique qué cambió cada rama.</a:t>
            </a:r>
            <a:endParaRPr lang="en-US" sz="1450" dirty="0"/>
          </a:p>
          <a:p>
            <a:pPr algn="l" marL="203200" indent="-203200">
              <a:spcAft>
                <a:spcPts val="653"/>
              </a:spcAft>
              <a:buSzPct val="100000"/>
              <a:buChar char="•"/>
            </a:pPr>
            <a:r>
              <a:rPr lang="en-US" sz="1450" dirty="0">
                <a:solidFill>
                  <a:srgbClr val="1B2333"/>
                </a:solidFill>
                <a:latin typeface="Segoe UI" pitchFamily="34" charset="0"/>
                <a:ea typeface="Segoe UI" pitchFamily="34" charset="-122"/>
                <a:cs typeface="Segoe UI" pitchFamily="34" charset="-120"/>
              </a:rPr>
              <a:t>Pegarle un traceback y pedir que te enseñe a leerlo, no que te arregle el código.</a:t>
            </a:r>
            <a:endParaRPr lang="en-US" sz="1450" dirty="0"/>
          </a:p>
          <a:p>
            <a:pPr algn="l" marL="203200" indent="-203200">
              <a:spcAft>
                <a:spcPts val="653"/>
              </a:spcAft>
              <a:buSzPct val="100000"/>
              <a:buChar char="•"/>
            </a:pPr>
            <a:r>
              <a:rPr lang="en-US" sz="1450" dirty="0">
                <a:solidFill>
                  <a:srgbClr val="1B2333"/>
                </a:solidFill>
                <a:latin typeface="Segoe UI" pitchFamily="34" charset="0"/>
                <a:ea typeface="Segoe UI" pitchFamily="34" charset="-122"/>
                <a:cs typeface="Segoe UI" pitchFamily="34" charset="-120"/>
              </a:rPr>
              <a:t>Pedirle ideas para redactar la descripción de un Pull Request.</a:t>
            </a:r>
            <a:endParaRPr lang="en-US" sz="1450" dirty="0"/>
          </a:p>
        </p:txBody>
      </p:sp>
      <p:sp>
        <p:nvSpPr>
          <p:cNvPr id="11" name="Shape 7"/>
          <p:cNvSpPr/>
          <p:nvPr/>
        </p:nvSpPr>
        <p:spPr>
          <a:xfrm>
            <a:off x="6278728" y="1463040"/>
            <a:ext cx="5364328" cy="3108960"/>
          </a:xfrm>
          <a:prstGeom prst="roundRect">
            <a:avLst>
              <a:gd name="adj" fmla="val 2941"/>
            </a:avLst>
          </a:prstGeom>
          <a:solidFill>
            <a:srgbClr val="FBE9E9"/>
          </a:solidFill>
          <a:ln/>
        </p:spPr>
      </p:sp>
      <p:sp>
        <p:nvSpPr>
          <p:cNvPr id="12" name="Text 8"/>
          <p:cNvSpPr txBox="1"/>
          <p:nvPr/>
        </p:nvSpPr>
        <p:spPr>
          <a:xfrm>
            <a:off x="6507328" y="1691640"/>
            <a:ext cx="4907128" cy="420624"/>
          </a:xfrm>
          <a:prstGeom prst="roundRect">
            <a:avLst>
              <a:gd name="adj" fmla="val 50000"/>
            </a:avLst>
          </a:prstGeom>
          <a:solidFill>
            <a:srgbClr val="C23B3B"/>
          </a:solidFill>
          <a:ln/>
        </p:spPr>
        <p:txBody>
          <a:bodyPr wrap="square" lIns="0" tIns="0" rIns="0" bIns="0" rtlCol="0" anchor="ctr"/>
          <a:lstStyle/>
          <a:p>
            <a:pPr algn="ctr" indent="0" marL="0">
              <a:buNone/>
            </a:pPr>
            <a:r>
              <a:rPr lang="en-US" sz="1250" b="1" spc="100" kern="0" dirty="0">
                <a:solidFill>
                  <a:srgbClr val="FFFFFF"/>
                </a:solidFill>
                <a:latin typeface="Segoe UI" pitchFamily="34" charset="0"/>
                <a:ea typeface="Segoe UI" pitchFamily="34" charset="-122"/>
                <a:cs typeface="Segoe UI" pitchFamily="34" charset="-120"/>
              </a:rPr>
              <a:t>✗  No: la IA como atajo</a:t>
            </a:r>
            <a:endParaRPr lang="en-US" sz="1250" dirty="0"/>
          </a:p>
        </p:txBody>
      </p:sp>
      <p:sp>
        <p:nvSpPr>
          <p:cNvPr id="13" name="Text 9"/>
          <p:cNvSpPr txBox="1"/>
          <p:nvPr/>
        </p:nvSpPr>
        <p:spPr>
          <a:xfrm>
            <a:off x="6507328" y="2286000"/>
            <a:ext cx="4952848" cy="2194560"/>
          </a:xfrm>
          <a:prstGeom prst="rect">
            <a:avLst/>
          </a:prstGeom>
          <a:noFill/>
          <a:ln/>
        </p:spPr>
        <p:txBody>
          <a:bodyPr wrap="square" lIns="25400" tIns="25400" rIns="25400" bIns="25400" rtlCol="0" anchor="t"/>
          <a:lstStyle/>
          <a:p>
            <a:pPr algn="l" marL="203200" indent="-203200">
              <a:spcAft>
                <a:spcPts val="653"/>
              </a:spcAft>
              <a:buSzPct val="100000"/>
              <a:buChar char="•"/>
            </a:pPr>
            <a:r>
              <a:rPr lang="en-US" sz="1450" dirty="0">
                <a:solidFill>
                  <a:srgbClr val="1B2333"/>
                </a:solidFill>
                <a:latin typeface="Segoe UI" pitchFamily="34" charset="0"/>
                <a:ea typeface="Segoe UI" pitchFamily="34" charset="-122"/>
                <a:cs typeface="Segoe UI" pitchFamily="34" charset="-120"/>
              </a:rPr>
              <a:t>Resolver un conflicto borrando el código de tu compañero sin consultarle.</a:t>
            </a:r>
            <a:endParaRPr lang="en-US" sz="1450" dirty="0"/>
          </a:p>
          <a:p>
            <a:pPr algn="l" marL="203200" indent="-203200">
              <a:spcAft>
                <a:spcPts val="653"/>
              </a:spcAft>
              <a:buSzPct val="100000"/>
              <a:buChar char="•"/>
            </a:pPr>
            <a:r>
              <a:rPr lang="en-US" sz="1450" dirty="0">
                <a:solidFill>
                  <a:srgbClr val="1B2333"/>
                </a:solidFill>
                <a:latin typeface="Segoe UI" pitchFamily="34" charset="0"/>
                <a:ea typeface="Segoe UI" pitchFamily="34" charset="-122"/>
                <a:cs typeface="Segoe UI" pitchFamily="34" charset="-120"/>
              </a:rPr>
              <a:t>Generar funciones enteras que nadie del equipo puede explicar en el coloquio.</a:t>
            </a:r>
            <a:endParaRPr lang="en-US" sz="1450" dirty="0"/>
          </a:p>
          <a:p>
            <a:pPr algn="l" marL="203200" indent="-203200">
              <a:spcAft>
                <a:spcPts val="653"/>
              </a:spcAft>
              <a:buSzPct val="100000"/>
              <a:buChar char="•"/>
            </a:pPr>
            <a:r>
              <a:rPr lang="en-US" sz="1450" dirty="0">
                <a:solidFill>
                  <a:srgbClr val="1B2333"/>
                </a:solidFill>
                <a:latin typeface="Segoe UI" pitchFamily="34" charset="0"/>
                <a:ea typeface="Segoe UI" pitchFamily="34" charset="-122"/>
                <a:cs typeface="Segoe UI" pitchFamily="34" charset="-120"/>
              </a:rPr>
              <a:t>Pegar comandos de Git que no entendés (como </a:t>
            </a:r>
            <a:pPr algn="l" indent="0" marL="0">
              <a:buNone/>
            </a:pPr>
            <a:r>
              <a:rPr lang="en-US" sz="1450" dirty="0">
                <a:solidFill>
                  <a:srgbClr val="0F4C81"/>
                </a:solidFill>
                <a:highlight>
                  <a:srgbClr val="E6EDF6"/>
                </a:highlight>
                <a:latin typeface="Consolas" pitchFamily="34" charset="0"/>
                <a:ea typeface="Consolas" pitchFamily="34" charset="-122"/>
                <a:cs typeface="Consolas" pitchFamily="34" charset="-120"/>
              </a:rPr>
              <a:t>--force</a:t>
            </a:r>
            <a:pPr algn="l" indent="0" marL="0">
              <a:buNone/>
            </a:pPr>
            <a:r>
              <a:rPr lang="en-US" sz="1450" dirty="0">
                <a:solidFill>
                  <a:srgbClr val="1B2333"/>
                </a:solidFill>
                <a:latin typeface="Segoe UI" pitchFamily="34" charset="0"/>
                <a:ea typeface="Segoe UI" pitchFamily="34" charset="-122"/>
                <a:cs typeface="Segoe UI" pitchFamily="34" charset="-120"/>
              </a:rPr>
              <a:t>) sin saber qué hacen.</a:t>
            </a:r>
            <a:endParaRPr lang="en-US" sz="1450" dirty="0"/>
          </a:p>
        </p:txBody>
      </p:sp>
      <p:sp>
        <p:nvSpPr>
          <p:cNvPr id="14" name="Shape 10"/>
          <p:cNvSpPr/>
          <p:nvPr/>
        </p:nvSpPr>
        <p:spPr>
          <a:xfrm>
            <a:off x="548640" y="4846320"/>
            <a:ext cx="11094415" cy="1371600"/>
          </a:xfrm>
          <a:prstGeom prst="roundRect">
            <a:avLst>
              <a:gd name="adj" fmla="val 6667"/>
            </a:avLst>
          </a:prstGeom>
          <a:solidFill>
            <a:srgbClr val="0B1220"/>
          </a:solidFill>
          <a:ln/>
        </p:spPr>
      </p:sp>
      <p:sp>
        <p:nvSpPr>
          <p:cNvPr id="15" name="Text 11"/>
          <p:cNvSpPr txBox="1"/>
          <p:nvPr/>
        </p:nvSpPr>
        <p:spPr>
          <a:xfrm>
            <a:off x="804672" y="5074920"/>
            <a:ext cx="502920" cy="502920"/>
          </a:xfrm>
          <a:prstGeom prst="rect">
            <a:avLst/>
          </a:prstGeom>
          <a:noFill/>
          <a:ln/>
        </p:spPr>
        <p:txBody>
          <a:bodyPr wrap="square" lIns="0" tIns="0" rIns="0" bIns="0" rtlCol="0" anchor="t"/>
          <a:lstStyle/>
          <a:p>
            <a:pPr algn="l" indent="0" marL="0">
              <a:buNone/>
            </a:pPr>
            <a:r>
              <a:rPr lang="en-US" sz="2200" dirty="0">
                <a:solidFill>
                  <a:srgbClr val="1B2333"/>
                </a:solidFill>
                <a:latin typeface="Segoe UI Emoji" pitchFamily="34" charset="0"/>
                <a:ea typeface="Segoe UI Emoji" pitchFamily="34" charset="-122"/>
                <a:cs typeface="Segoe UI Emoji" pitchFamily="34" charset="-120"/>
              </a:rPr>
              <a:t>🤖</a:t>
            </a:r>
            <a:endParaRPr lang="en-US" sz="2200" dirty="0"/>
          </a:p>
        </p:txBody>
      </p:sp>
      <p:sp>
        <p:nvSpPr>
          <p:cNvPr id="16" name="Text 12"/>
          <p:cNvSpPr txBox="1"/>
          <p:nvPr/>
        </p:nvSpPr>
        <p:spPr>
          <a:xfrm>
            <a:off x="1463040" y="5001768"/>
            <a:ext cx="4572000" cy="274320"/>
          </a:xfrm>
          <a:prstGeom prst="rect">
            <a:avLst/>
          </a:prstGeom>
          <a:noFill/>
          <a:ln/>
        </p:spPr>
        <p:txBody>
          <a:bodyPr wrap="square" lIns="0" tIns="0" rIns="0" bIns="0" rtlCol="0" anchor="t"/>
          <a:lstStyle/>
          <a:p>
            <a:pPr algn="l" indent="0" marL="0">
              <a:buNone/>
            </a:pPr>
            <a:r>
              <a:rPr lang="en-US" sz="1050" b="1" spc="150" kern="0" dirty="0">
                <a:solidFill>
                  <a:srgbClr val="FFD43B"/>
                </a:solidFill>
                <a:latin typeface="Segoe UI" pitchFamily="34" charset="0"/>
                <a:ea typeface="Segoe UI" pitchFamily="34" charset="-122"/>
                <a:cs typeface="Segoe UI" pitchFamily="34" charset="-120"/>
              </a:rPr>
              <a:t>PROMPT SUGERIDO</a:t>
            </a:r>
            <a:endParaRPr lang="en-US" sz="1050" dirty="0"/>
          </a:p>
        </p:txBody>
      </p:sp>
      <p:sp>
        <p:nvSpPr>
          <p:cNvPr id="17" name="Text 13"/>
          <p:cNvSpPr txBox="1"/>
          <p:nvPr/>
        </p:nvSpPr>
        <p:spPr>
          <a:xfrm>
            <a:off x="1463040" y="5276088"/>
            <a:ext cx="9905695" cy="841248"/>
          </a:xfrm>
          <a:prstGeom prst="rect">
            <a:avLst/>
          </a:prstGeom>
          <a:noFill/>
          <a:ln/>
        </p:spPr>
        <p:txBody>
          <a:bodyPr wrap="square" lIns="0" tIns="0" rIns="0" bIns="0" rtlCol="0" anchor="t"/>
          <a:lstStyle/>
          <a:p>
            <a:pPr algn="l" indent="0" marL="0">
              <a:buNone/>
            </a:pPr>
            <a:r>
              <a:rPr lang="en-US" sz="1450" i="1" dirty="0">
                <a:solidFill>
                  <a:srgbClr val="FFFFFF"/>
                </a:solidFill>
                <a:latin typeface="Segoe UI" pitchFamily="34" charset="0"/>
                <a:ea typeface="Segoe UI" pitchFamily="34" charset="-122"/>
                <a:cs typeface="Segoe UI" pitchFamily="34" charset="-120"/>
              </a:rPr>
              <a:t>“Git me dio un conflicto de merge en proyecto.py entre main y mi rama feature-carpeta. Te pego el fragmento con los marcadores. Explicame qué versión es cada una y qué comandos tengo que ejecutar para terminar el merge, sin decidir por mí cuál dejar.”</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822960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Segoe UI" pitchFamily="34" charset="0"/>
                <a:ea typeface="Segoe UI" pitchFamily="34" charset="-122"/>
                <a:cs typeface="Segoe UI" pitchFamily="34" charset="-120"/>
              </a:rPr>
              <a:t>Cierre de la clase</a:t>
            </a:r>
            <a:endParaRPr lang="en-US" sz="3200" dirty="0"/>
          </a:p>
        </p:txBody>
      </p:sp>
      <p:sp>
        <p:nvSpPr>
          <p:cNvPr id="3" name="Text 1"/>
          <p:cNvSpPr txBox="1"/>
          <p:nvPr/>
        </p:nvSpPr>
        <p:spPr>
          <a:xfrm>
            <a:off x="548640" y="1371600"/>
            <a:ext cx="5486400" cy="274320"/>
          </a:xfrm>
          <a:prstGeom prst="rect">
            <a:avLst/>
          </a:prstGeom>
          <a:noFill/>
          <a:ln/>
        </p:spPr>
        <p:txBody>
          <a:bodyPr wrap="square" lIns="0" tIns="0" rIns="0" bIns="0" rtlCol="0" anchor="t"/>
          <a:lstStyle/>
          <a:p>
            <a:pPr algn="l" indent="0" marL="0">
              <a:buNone/>
            </a:pPr>
            <a:r>
              <a:rPr lang="en-US" sz="1150" b="1" spc="150" kern="0" dirty="0">
                <a:solidFill>
                  <a:srgbClr val="FFD43B"/>
                </a:solidFill>
                <a:latin typeface="Segoe UI" pitchFamily="34" charset="0"/>
                <a:ea typeface="Segoe UI" pitchFamily="34" charset="-122"/>
                <a:cs typeface="Segoe UI" pitchFamily="34" charset="-120"/>
              </a:rPr>
              <a:t>PARA LLEVAR</a:t>
            </a:r>
            <a:endParaRPr lang="en-US" sz="1150" dirty="0"/>
          </a:p>
        </p:txBody>
      </p:sp>
      <p:sp>
        <p:nvSpPr>
          <p:cNvPr id="4" name="Text 2"/>
          <p:cNvSpPr txBox="1"/>
          <p:nvPr/>
        </p:nvSpPr>
        <p:spPr>
          <a:xfrm>
            <a:off x="548640" y="1801368"/>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1</a:t>
            </a:r>
            <a:endParaRPr lang="en-US" sz="1150" dirty="0"/>
          </a:p>
        </p:txBody>
      </p:sp>
      <p:sp>
        <p:nvSpPr>
          <p:cNvPr id="5" name="Text 3"/>
          <p:cNvSpPr txBox="1"/>
          <p:nvPr/>
        </p:nvSpPr>
        <p:spPr>
          <a:xfrm>
            <a:off x="1005840" y="1783080"/>
            <a:ext cx="5650992" cy="609600"/>
          </a:xfrm>
          <a:prstGeom prst="rect">
            <a:avLst/>
          </a:prstGeom>
          <a:noFill/>
          <a:ln/>
        </p:spPr>
        <p:txBody>
          <a:bodyPr wrap="square" lIns="12700" tIns="12700" rIns="12700" bIns="12700" rtlCol="0" anchor="t"/>
          <a:lstStyle/>
          <a:p>
            <a:pPr algn="l" indent="0" marL="0">
              <a:buNone/>
            </a:pPr>
            <a:r>
              <a:rPr lang="en-US" sz="1700" dirty="0">
                <a:solidFill>
                  <a:srgbClr val="FFFFFF"/>
                </a:solidFill>
                <a:latin typeface="Segoe UI" pitchFamily="34" charset="0"/>
                <a:ea typeface="Segoe UI" pitchFamily="34" charset="-122"/>
                <a:cs typeface="Segoe UI" pitchFamily="34" charset="-120"/>
              </a:rPr>
              <a:t>Un repo compartido, </a:t>
            </a:r>
            <a:pPr algn="l" indent="0" marL="0">
              <a:buNone/>
            </a:pPr>
            <a:r>
              <a:rPr lang="en-US" sz="1700" dirty="0">
                <a:solidFill>
                  <a:srgbClr val="FFD43B"/>
                </a:solidFill>
                <a:latin typeface="Consolas" pitchFamily="34" charset="0"/>
                <a:ea typeface="Consolas" pitchFamily="34" charset="-122"/>
                <a:cs typeface="Consolas" pitchFamily="34" charset="-120"/>
              </a:rPr>
              <a:t>main</a:t>
            </a:r>
            <a:pPr algn="l" indent="0" marL="0">
              <a:buNone/>
            </a:pPr>
            <a:r>
              <a:rPr lang="en-US" sz="1700" dirty="0">
                <a:solidFill>
                  <a:srgbClr val="FFFFFF"/>
                </a:solidFill>
                <a:latin typeface="Segoe UI" pitchFamily="34" charset="0"/>
                <a:ea typeface="Segoe UI" pitchFamily="34" charset="-122"/>
                <a:cs typeface="Segoe UI" pitchFamily="34" charset="-120"/>
              </a:rPr>
              <a:t> siempre estable y cada tarea en su </a:t>
            </a:r>
            <a:pPr algn="l" indent="0" marL="0">
              <a:buNone/>
            </a:pPr>
            <a:r>
              <a:rPr lang="en-US" sz="1700" b="1" dirty="0">
                <a:solidFill>
                  <a:srgbClr val="FFFFFF"/>
                </a:solidFill>
                <a:latin typeface="Segoe UI" pitchFamily="34" charset="0"/>
                <a:ea typeface="Segoe UI" pitchFamily="34" charset="-122"/>
                <a:cs typeface="Segoe UI" pitchFamily="34" charset="-120"/>
              </a:rPr>
              <a:t>rama</a:t>
            </a:r>
            <a:pPr algn="l" indent="0" marL="0">
              <a:buNone/>
            </a:pPr>
            <a:r>
              <a:rPr lang="en-US" sz="1700" dirty="0">
                <a:solidFill>
                  <a:srgbClr val="FFFFFF"/>
                </a:solidFill>
                <a:latin typeface="Segoe UI" pitchFamily="34" charset="0"/>
                <a:ea typeface="Segoe UI" pitchFamily="34" charset="-122"/>
                <a:cs typeface="Segoe UI" pitchFamily="34" charset="-120"/>
              </a:rPr>
              <a:t>.</a:t>
            </a:r>
            <a:endParaRPr lang="en-US" sz="1700" dirty="0"/>
          </a:p>
        </p:txBody>
      </p:sp>
      <p:sp>
        <p:nvSpPr>
          <p:cNvPr id="6" name="Text 4"/>
          <p:cNvSpPr txBox="1"/>
          <p:nvPr/>
        </p:nvSpPr>
        <p:spPr>
          <a:xfrm>
            <a:off x="548640" y="2593848"/>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2</a:t>
            </a:r>
            <a:endParaRPr lang="en-US" sz="1150" dirty="0"/>
          </a:p>
        </p:txBody>
      </p:sp>
      <p:sp>
        <p:nvSpPr>
          <p:cNvPr id="7" name="Text 5"/>
          <p:cNvSpPr txBox="1"/>
          <p:nvPr/>
        </p:nvSpPr>
        <p:spPr>
          <a:xfrm>
            <a:off x="1005840" y="2575560"/>
            <a:ext cx="5650992" cy="609600"/>
          </a:xfrm>
          <a:prstGeom prst="rect">
            <a:avLst/>
          </a:prstGeom>
          <a:noFill/>
          <a:ln/>
        </p:spPr>
        <p:txBody>
          <a:bodyPr wrap="square" lIns="12700" tIns="12700" rIns="12700" bIns="12700" rtlCol="0" anchor="t"/>
          <a:lstStyle/>
          <a:p>
            <a:pPr algn="l" indent="0" marL="0">
              <a:buNone/>
            </a:pPr>
            <a:r>
              <a:rPr lang="en-US" sz="1700" dirty="0">
                <a:solidFill>
                  <a:srgbClr val="FFFFFF"/>
                </a:solidFill>
                <a:latin typeface="Segoe UI" pitchFamily="34" charset="0"/>
                <a:ea typeface="Segoe UI" pitchFamily="34" charset="-122"/>
                <a:cs typeface="Segoe UI" pitchFamily="34" charset="-120"/>
              </a:rPr>
              <a:t>Flujo del equipo: branch → commit → push → Pull Request → merge.</a:t>
            </a:r>
            <a:endParaRPr lang="en-US" sz="1700" dirty="0"/>
          </a:p>
        </p:txBody>
      </p:sp>
      <p:sp>
        <p:nvSpPr>
          <p:cNvPr id="8" name="Text 6"/>
          <p:cNvSpPr txBox="1"/>
          <p:nvPr/>
        </p:nvSpPr>
        <p:spPr>
          <a:xfrm>
            <a:off x="548640" y="3386328"/>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3</a:t>
            </a:r>
            <a:endParaRPr lang="en-US" sz="1150" dirty="0"/>
          </a:p>
        </p:txBody>
      </p:sp>
      <p:sp>
        <p:nvSpPr>
          <p:cNvPr id="9" name="Text 7"/>
          <p:cNvSpPr txBox="1"/>
          <p:nvPr/>
        </p:nvSpPr>
        <p:spPr>
          <a:xfrm>
            <a:off x="1005840" y="3368040"/>
            <a:ext cx="5650992" cy="609600"/>
          </a:xfrm>
          <a:prstGeom prst="rect">
            <a:avLst/>
          </a:prstGeom>
          <a:noFill/>
          <a:ln/>
        </p:spPr>
        <p:txBody>
          <a:bodyPr wrap="square" lIns="12700" tIns="12700" rIns="12700" bIns="12700" rtlCol="0" anchor="t"/>
          <a:lstStyle/>
          <a:p>
            <a:pPr algn="l" indent="0" marL="0">
              <a:buNone/>
            </a:pPr>
            <a:r>
              <a:rPr lang="en-US" sz="1700" dirty="0">
                <a:solidFill>
                  <a:srgbClr val="FFFFFF"/>
                </a:solidFill>
                <a:latin typeface="Segoe UI" pitchFamily="34" charset="0"/>
                <a:ea typeface="Segoe UI" pitchFamily="34" charset="-122"/>
                <a:cs typeface="Segoe UI" pitchFamily="34" charset="-120"/>
              </a:rPr>
              <a:t>Un conflicto es una pregunta de Git: decidir, borrar marcadores, probar y commitear.</a:t>
            </a:r>
            <a:endParaRPr lang="en-US" sz="1700" dirty="0"/>
          </a:p>
        </p:txBody>
      </p:sp>
      <p:sp>
        <p:nvSpPr>
          <p:cNvPr id="10" name="Text 8"/>
          <p:cNvSpPr txBox="1"/>
          <p:nvPr/>
        </p:nvSpPr>
        <p:spPr>
          <a:xfrm>
            <a:off x="548640" y="4178808"/>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4</a:t>
            </a:r>
            <a:endParaRPr lang="en-US" sz="1150" dirty="0"/>
          </a:p>
        </p:txBody>
      </p:sp>
      <p:sp>
        <p:nvSpPr>
          <p:cNvPr id="11" name="Text 9"/>
          <p:cNvSpPr txBox="1"/>
          <p:nvPr/>
        </p:nvSpPr>
        <p:spPr>
          <a:xfrm>
            <a:off x="1005840" y="4160520"/>
            <a:ext cx="5650992" cy="609600"/>
          </a:xfrm>
          <a:prstGeom prst="rect">
            <a:avLst/>
          </a:prstGeom>
          <a:noFill/>
          <a:ln/>
        </p:spPr>
        <p:txBody>
          <a:bodyPr wrap="square" lIns="12700" tIns="12700" rIns="12700" bIns="12700" rtlCol="0" anchor="t"/>
          <a:lstStyle/>
          <a:p>
            <a:pPr algn="l" indent="0" marL="0">
              <a:buNone/>
            </a:pPr>
            <a:r>
              <a:rPr lang="en-US" sz="1700" dirty="0">
                <a:solidFill>
                  <a:srgbClr val="FFFFFF"/>
                </a:solidFill>
                <a:latin typeface="Segoe UI" pitchFamily="34" charset="0"/>
                <a:ea typeface="Segoe UI" pitchFamily="34" charset="-122"/>
                <a:cs typeface="Segoe UI" pitchFamily="34" charset="-120"/>
              </a:rPr>
              <a:t>Depurar con método: reproducir, mirar variables y leer el traceback desde abajo.</a:t>
            </a:r>
            <a:endParaRPr lang="en-US" sz="1700" dirty="0"/>
          </a:p>
        </p:txBody>
      </p:sp>
      <p:sp>
        <p:nvSpPr>
          <p:cNvPr id="12" name="Text 10"/>
          <p:cNvSpPr txBox="1"/>
          <p:nvPr/>
        </p:nvSpPr>
        <p:spPr>
          <a:xfrm>
            <a:off x="548640" y="4971288"/>
            <a:ext cx="310896" cy="310896"/>
          </a:xfrm>
          <a:prstGeom prst="ellipse">
            <a:avLst/>
          </a:prstGeom>
          <a:solidFill>
            <a:srgbClr val="FFD43B"/>
          </a:solidFill>
          <a:ln/>
        </p:spPr>
        <p:txBody>
          <a:bodyPr wrap="square" lIns="0" tIns="0" rIns="0" bIns="0" rtlCol="0" anchor="ctr"/>
          <a:lstStyle/>
          <a:p>
            <a:pPr algn="ctr" indent="0" marL="0">
              <a:buNone/>
            </a:pPr>
            <a:r>
              <a:rPr lang="en-US" sz="1150" b="1" dirty="0">
                <a:solidFill>
                  <a:srgbClr val="0B1220"/>
                </a:solidFill>
                <a:latin typeface="Segoe UI" pitchFamily="34" charset="0"/>
                <a:ea typeface="Segoe UI" pitchFamily="34" charset="-122"/>
                <a:cs typeface="Segoe UI" pitchFamily="34" charset="-120"/>
              </a:rPr>
              <a:t>5</a:t>
            </a:r>
            <a:endParaRPr lang="en-US" sz="1150" dirty="0"/>
          </a:p>
        </p:txBody>
      </p:sp>
      <p:sp>
        <p:nvSpPr>
          <p:cNvPr id="13" name="Text 11"/>
          <p:cNvSpPr txBox="1"/>
          <p:nvPr/>
        </p:nvSpPr>
        <p:spPr>
          <a:xfrm>
            <a:off x="1005840" y="4953000"/>
            <a:ext cx="5650992" cy="609600"/>
          </a:xfrm>
          <a:prstGeom prst="rect">
            <a:avLst/>
          </a:prstGeom>
          <a:noFill/>
          <a:ln/>
        </p:spPr>
        <p:txBody>
          <a:bodyPr wrap="square" lIns="12700" tIns="12700" rIns="12700" bIns="12700" rtlCol="0" anchor="t"/>
          <a:lstStyle/>
          <a:p>
            <a:pPr algn="l" indent="0" marL="0">
              <a:buNone/>
            </a:pPr>
            <a:r>
              <a:rPr lang="en-US" sz="1700" dirty="0">
                <a:solidFill>
                  <a:srgbClr val="FFFFFF"/>
                </a:solidFill>
                <a:latin typeface="Segoe UI" pitchFamily="34" charset="0"/>
                <a:ea typeface="Segoe UI" pitchFamily="34" charset="-122"/>
                <a:cs typeface="Segoe UI" pitchFamily="34" charset="-120"/>
              </a:rPr>
              <a:t>Refactorizar es mejorar el código sin cambiar el resultado.</a:t>
            </a:r>
            <a:endParaRPr lang="en-US" sz="1700" dirty="0"/>
          </a:p>
        </p:txBody>
      </p:sp>
      <p:sp>
        <p:nvSpPr>
          <p:cNvPr id="14" name="Shape 12"/>
          <p:cNvSpPr/>
          <p:nvPr/>
        </p:nvSpPr>
        <p:spPr>
          <a:xfrm>
            <a:off x="7086600" y="1371600"/>
            <a:ext cx="4556455" cy="1417320"/>
          </a:xfrm>
          <a:prstGeom prst="roundRect">
            <a:avLst>
              <a:gd name="adj" fmla="val 6452"/>
            </a:avLst>
          </a:prstGeom>
          <a:solidFill>
            <a:srgbClr val="16213A"/>
          </a:solidFill>
          <a:ln w="9525">
            <a:solidFill>
              <a:srgbClr val="2A3A5E"/>
            </a:solidFill>
            <a:prstDash val="solid"/>
          </a:ln>
        </p:spPr>
      </p:sp>
      <p:sp>
        <p:nvSpPr>
          <p:cNvPr id="15" name="Text 13"/>
          <p:cNvSpPr txBox="1"/>
          <p:nvPr/>
        </p:nvSpPr>
        <p:spPr>
          <a:xfrm>
            <a:off x="7287768" y="1517904"/>
            <a:ext cx="411480" cy="411480"/>
          </a:xfrm>
          <a:prstGeom prst="rect">
            <a:avLst/>
          </a:prstGeom>
          <a:noFill/>
          <a:ln/>
        </p:spPr>
        <p:txBody>
          <a:bodyPr wrap="square" lIns="0" tIns="0" rIns="0" bIns="0" rtlCol="0" anchor="t"/>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16" name="Text 14"/>
          <p:cNvSpPr txBox="1"/>
          <p:nvPr/>
        </p:nvSpPr>
        <p:spPr>
          <a:xfrm>
            <a:off x="7772400" y="1517904"/>
            <a:ext cx="3642055" cy="384048"/>
          </a:xfrm>
          <a:prstGeom prst="rect">
            <a:avLst/>
          </a:prstGeom>
          <a:noFill/>
          <a:ln/>
        </p:spPr>
        <p:txBody>
          <a:bodyPr wrap="square" lIns="0" tIns="0" rIns="0" bIns="0" rtlCol="0" anchor="ctr"/>
          <a:lstStyle/>
          <a:p>
            <a:pPr algn="l" indent="0" marL="0">
              <a:buNone/>
            </a:pPr>
            <a:r>
              <a:rPr lang="en-US" sz="1350" b="1" dirty="0">
                <a:solidFill>
                  <a:srgbClr val="FFD43B"/>
                </a:solidFill>
                <a:latin typeface="Segoe UI" pitchFamily="34" charset="0"/>
                <a:ea typeface="Segoe UI" pitchFamily="34" charset="-122"/>
                <a:cs typeface="Segoe UI" pitchFamily="34" charset="-120"/>
              </a:rPr>
              <a:t>Tarea</a:t>
            </a:r>
            <a:endParaRPr lang="en-US" sz="1350" dirty="0"/>
          </a:p>
        </p:txBody>
      </p:sp>
      <p:sp>
        <p:nvSpPr>
          <p:cNvPr id="17" name="Text 15"/>
          <p:cNvSpPr txBox="1"/>
          <p:nvPr/>
        </p:nvSpPr>
        <p:spPr>
          <a:xfrm>
            <a:off x="7315200" y="1975104"/>
            <a:ext cx="4144975" cy="731520"/>
          </a:xfrm>
          <a:prstGeom prst="rect">
            <a:avLst/>
          </a:prstGeom>
          <a:noFill/>
          <a:ln/>
        </p:spPr>
        <p:txBody>
          <a:bodyPr wrap="square" lIns="0" tIns="0" rIns="0" bIns="0" rtlCol="0" anchor="t"/>
          <a:lstStyle/>
          <a:p>
            <a:pPr algn="l" indent="0" marL="0">
              <a:spcAft>
                <a:spcPts val="400"/>
              </a:spcAft>
              <a:buNone/>
            </a:pPr>
            <a:r>
              <a:rPr lang="en-US" sz="1350" dirty="0">
                <a:solidFill>
                  <a:srgbClr val="FFFFFF"/>
                </a:solidFill>
                <a:latin typeface="Segoe UI" pitchFamily="34" charset="0"/>
                <a:ea typeface="Segoe UI" pitchFamily="34" charset="-122"/>
                <a:cs typeface="Segoe UI" pitchFamily="34" charset="-120"/>
              </a:rPr>
              <a:t>Tener todas las opciones del menú integradas en </a:t>
            </a:r>
            <a:pPr algn="l" indent="0" marL="0">
              <a:buNone/>
            </a:pPr>
            <a:r>
              <a:rPr lang="en-US" sz="1350" dirty="0">
                <a:solidFill>
                  <a:srgbClr val="FFD43B"/>
                </a:solidFill>
                <a:latin typeface="Consolas" pitchFamily="34" charset="0"/>
                <a:ea typeface="Consolas" pitchFamily="34" charset="-122"/>
                <a:cs typeface="Consolas" pitchFamily="34" charset="-120"/>
              </a:rPr>
              <a:t>main</a:t>
            </a:r>
            <a:pPr algn="l" indent="0" marL="0">
              <a:buNone/>
            </a:pPr>
            <a:r>
              <a:rPr lang="en-US" sz="1350" dirty="0">
                <a:solidFill>
                  <a:srgbClr val="FFFFFF"/>
                </a:solidFill>
                <a:latin typeface="Segoe UI" pitchFamily="34" charset="0"/>
                <a:ea typeface="Segoe UI" pitchFamily="34" charset="-122"/>
                <a:cs typeface="Segoe UI" pitchFamily="34" charset="-120"/>
              </a:rPr>
              <a:t> por Pull Request, con issues cerrados y el checklist completo.</a:t>
            </a:r>
            <a:endParaRPr lang="en-US" sz="1350" dirty="0"/>
          </a:p>
        </p:txBody>
      </p:sp>
      <p:sp>
        <p:nvSpPr>
          <p:cNvPr id="18" name="Shape 16"/>
          <p:cNvSpPr/>
          <p:nvPr/>
        </p:nvSpPr>
        <p:spPr>
          <a:xfrm>
            <a:off x="7086600" y="2971800"/>
            <a:ext cx="4556455" cy="1600200"/>
          </a:xfrm>
          <a:prstGeom prst="roundRect">
            <a:avLst>
              <a:gd name="adj" fmla="val 5714"/>
            </a:avLst>
          </a:prstGeom>
          <a:solidFill>
            <a:srgbClr val="16213A"/>
          </a:solidFill>
          <a:ln w="9525">
            <a:solidFill>
              <a:srgbClr val="2A3A5E"/>
            </a:solidFill>
            <a:prstDash val="solid"/>
          </a:ln>
        </p:spPr>
      </p:sp>
      <p:sp>
        <p:nvSpPr>
          <p:cNvPr id="19" name="Text 17"/>
          <p:cNvSpPr txBox="1"/>
          <p:nvPr/>
        </p:nvSpPr>
        <p:spPr>
          <a:xfrm>
            <a:off x="7287768" y="3118104"/>
            <a:ext cx="411480" cy="411480"/>
          </a:xfrm>
          <a:prstGeom prst="rect">
            <a:avLst/>
          </a:prstGeom>
          <a:noFill/>
          <a:ln/>
        </p:spPr>
        <p:txBody>
          <a:bodyPr wrap="square" lIns="0" tIns="0" rIns="0" bIns="0" rtlCol="0" anchor="t"/>
          <a:lstStyle/>
          <a:p>
            <a:pPr algn="l" indent="0" marL="0">
              <a:buNone/>
            </a:pPr>
            <a:r>
              <a:rPr lang="en-US" sz="1600" dirty="0">
                <a:solidFill>
                  <a:srgbClr val="1B2333"/>
                </a:solidFill>
                <a:latin typeface="Segoe UI Emoji" pitchFamily="34" charset="0"/>
                <a:ea typeface="Segoe UI Emoji" pitchFamily="34" charset="-122"/>
                <a:cs typeface="Segoe UI Emoji" pitchFamily="34" charset="-120"/>
              </a:rPr>
              <a:t>📖</a:t>
            </a:r>
            <a:endParaRPr lang="en-US" sz="1600" dirty="0"/>
          </a:p>
        </p:txBody>
      </p:sp>
      <p:sp>
        <p:nvSpPr>
          <p:cNvPr id="20" name="Text 18"/>
          <p:cNvSpPr txBox="1"/>
          <p:nvPr/>
        </p:nvSpPr>
        <p:spPr>
          <a:xfrm>
            <a:off x="7772400" y="3118104"/>
            <a:ext cx="3642055" cy="384048"/>
          </a:xfrm>
          <a:prstGeom prst="rect">
            <a:avLst/>
          </a:prstGeom>
          <a:noFill/>
          <a:ln/>
        </p:spPr>
        <p:txBody>
          <a:bodyPr wrap="square" lIns="0" tIns="0" rIns="0" bIns="0" rtlCol="0" anchor="ctr"/>
          <a:lstStyle/>
          <a:p>
            <a:pPr algn="l" indent="0" marL="0">
              <a:buNone/>
            </a:pPr>
            <a:r>
              <a:rPr lang="en-US" sz="1350" b="1" dirty="0">
                <a:solidFill>
                  <a:srgbClr val="FFD43B"/>
                </a:solidFill>
                <a:latin typeface="Segoe UI" pitchFamily="34" charset="0"/>
                <a:ea typeface="Segoe UI" pitchFamily="34" charset="-122"/>
                <a:cs typeface="Segoe UI" pitchFamily="34" charset="-120"/>
              </a:rPr>
              <a:t>Para leer y repasar</a:t>
            </a:r>
            <a:endParaRPr lang="en-US" sz="1350" dirty="0"/>
          </a:p>
        </p:txBody>
      </p:sp>
      <p:sp>
        <p:nvSpPr>
          <p:cNvPr id="21" name="Text 19"/>
          <p:cNvSpPr txBox="1"/>
          <p:nvPr/>
        </p:nvSpPr>
        <p:spPr>
          <a:xfrm>
            <a:off x="7315200" y="3575304"/>
            <a:ext cx="4144975" cy="914400"/>
          </a:xfrm>
          <a:prstGeom prst="rect">
            <a:avLst/>
          </a:prstGeom>
          <a:noFill/>
          <a:ln/>
        </p:spPr>
        <p:txBody>
          <a:bodyPr wrap="square" lIns="0" tIns="0" rIns="0" bIns="0" rtlCol="0" anchor="t"/>
          <a:lstStyle/>
          <a:p>
            <a:pPr algn="l" marL="203200" indent="-203200">
              <a:spcAft>
                <a:spcPts val="400"/>
              </a:spcAft>
              <a:buSzPct val="100000"/>
              <a:buChar char="•"/>
            </a:pPr>
            <a:r>
              <a:rPr lang="en-US" sz="1000" dirty="0">
                <a:solidFill>
                  <a:srgbClr val="FFFFFF"/>
                </a:solidFill>
                <a:latin typeface="Segoe UI" pitchFamily="34" charset="0"/>
                <a:ea typeface="Segoe UI" pitchFamily="34" charset="-122"/>
                <a:cs typeface="Segoe UI" pitchFamily="34" charset="-120"/>
              </a:rPr>
              <a:t>Pro Git (git-scm.com/book/es): cap. 3 «Ramificaciones en Git».</a:t>
            </a:r>
            <a:endParaRPr lang="en-US" sz="1000" dirty="0"/>
          </a:p>
          <a:p>
            <a:pPr algn="l" marL="203200" indent="-203200">
              <a:spcAft>
                <a:spcPts val="400"/>
              </a:spcAft>
              <a:buSzPct val="100000"/>
              <a:buChar char="•"/>
            </a:pPr>
            <a:r>
              <a:rPr lang="en-US" sz="1000" dirty="0">
                <a:solidFill>
                  <a:srgbClr val="FFFFFF"/>
                </a:solidFill>
                <a:latin typeface="Segoe UI" pitchFamily="34" charset="0"/>
                <a:ea typeface="Segoe UI" pitchFamily="34" charset="-122"/>
                <a:cs typeface="Segoe UI" pitchFamily="34" charset="-120"/>
              </a:rPr>
              <a:t>Python para todos: cap. «Excepciones» para repasar tracebacks.</a:t>
            </a:r>
            <a:endParaRPr lang="en-US" sz="1000" dirty="0"/>
          </a:p>
          <a:p>
            <a:pPr algn="l" marL="203200" indent="-203200">
              <a:spcAft>
                <a:spcPts val="400"/>
              </a:spcAft>
              <a:buSzPct val="100000"/>
              <a:buChar char="•"/>
            </a:pPr>
            <a:r>
              <a:rPr lang="en-US" sz="1000" dirty="0">
                <a:solidFill>
                  <a:srgbClr val="FFFFFF"/>
                </a:solidFill>
                <a:latin typeface="Segoe UI" pitchFamily="34" charset="0"/>
                <a:ea typeface="Segoe UI" pitchFamily="34" charset="-122"/>
                <a:cs typeface="Segoe UI" pitchFamily="34" charset="-120"/>
              </a:rPr>
              <a:t>Código: clase27_plantilla_proyecto.py.</a:t>
            </a:r>
            <a:endParaRPr lang="en-US" sz="1000" dirty="0"/>
          </a:p>
        </p:txBody>
      </p:sp>
      <p:sp>
        <p:nvSpPr>
          <p:cNvPr id="22" name="Shape 20"/>
          <p:cNvSpPr/>
          <p:nvPr/>
        </p:nvSpPr>
        <p:spPr>
          <a:xfrm>
            <a:off x="7086600" y="4754880"/>
            <a:ext cx="4556455" cy="1417320"/>
          </a:xfrm>
          <a:prstGeom prst="roundRect">
            <a:avLst>
              <a:gd name="adj" fmla="val 6452"/>
            </a:avLst>
          </a:prstGeom>
          <a:solidFill>
            <a:srgbClr val="FFD43B"/>
          </a:solidFill>
          <a:ln/>
        </p:spPr>
      </p:sp>
      <p:sp>
        <p:nvSpPr>
          <p:cNvPr id="23" name="Text 21"/>
          <p:cNvSpPr txBox="1"/>
          <p:nvPr/>
        </p:nvSpPr>
        <p:spPr>
          <a:xfrm>
            <a:off x="7360920" y="4901184"/>
            <a:ext cx="4007815" cy="274320"/>
          </a:xfrm>
          <a:prstGeom prst="rect">
            <a:avLst/>
          </a:prstGeom>
          <a:noFill/>
          <a:ln/>
        </p:spPr>
        <p:txBody>
          <a:bodyPr wrap="square" lIns="0" tIns="0" rIns="0" bIns="0" rtlCol="0" anchor="t"/>
          <a:lstStyle/>
          <a:p>
            <a:pPr algn="l" indent="0" marL="0">
              <a:buNone/>
            </a:pPr>
            <a:r>
              <a:rPr lang="en-US" sz="1100" b="1" spc="150" kern="0" dirty="0">
                <a:solidFill>
                  <a:srgbClr val="0B1220"/>
                </a:solidFill>
                <a:latin typeface="Segoe UI" pitchFamily="34" charset="0"/>
                <a:ea typeface="Segoe UI" pitchFamily="34" charset="-122"/>
                <a:cs typeface="Segoe UI" pitchFamily="34" charset="-120"/>
              </a:rPr>
              <a:t>PRÓXIMA CLASE  ·  CLASE 19</a:t>
            </a:r>
            <a:endParaRPr lang="en-US" sz="1100" dirty="0"/>
          </a:p>
        </p:txBody>
      </p:sp>
      <p:sp>
        <p:nvSpPr>
          <p:cNvPr id="24" name="Text 22"/>
          <p:cNvSpPr txBox="1"/>
          <p:nvPr/>
        </p:nvSpPr>
        <p:spPr>
          <a:xfrm>
            <a:off x="7360920" y="5212080"/>
            <a:ext cx="4007815" cy="868680"/>
          </a:xfrm>
          <a:prstGeom prst="rect">
            <a:avLst/>
          </a:prstGeom>
          <a:noFill/>
          <a:ln/>
        </p:spPr>
        <p:txBody>
          <a:bodyPr wrap="square" lIns="0" tIns="0" rIns="0" bIns="0" rtlCol="0" anchor="t"/>
          <a:lstStyle/>
          <a:p>
            <a:pPr algn="l" indent="0" marL="0">
              <a:buNone/>
            </a:pPr>
            <a:r>
              <a:rPr lang="en-US" sz="1900" b="1" dirty="0">
                <a:solidFill>
                  <a:srgbClr val="0B1220"/>
                </a:solidFill>
                <a:latin typeface="Segoe UI" pitchFamily="34" charset="0"/>
                <a:ea typeface="Segoe UI" pitchFamily="34" charset="-122"/>
                <a:cs typeface="Segoe UI" pitchFamily="34" charset="-120"/>
              </a:rPr>
              <a:t>Entrega del TP integrador y coloquio de defensa</a:t>
            </a:r>
            <a:endParaRPr lang="en-US" sz="1900" dirty="0"/>
          </a:p>
        </p:txBody>
      </p:sp>
      <p:sp>
        <p:nvSpPr>
          <p:cNvPr id="25" name="Text 23"/>
          <p:cNvSpPr txBox="1"/>
          <p:nvPr/>
        </p:nvSpPr>
        <p:spPr>
          <a:xfrm>
            <a:off x="548640" y="6446520"/>
            <a:ext cx="7315200" cy="256032"/>
          </a:xfrm>
          <a:prstGeom prst="rect">
            <a:avLst/>
          </a:prstGeom>
          <a:noFill/>
          <a:ln/>
        </p:spPr>
        <p:txBody>
          <a:bodyPr wrap="square" lIns="0" tIns="0" rIns="0" bIns="0" rtlCol="0" anchor="t"/>
          <a:lstStyle/>
          <a:p>
            <a:pPr algn="l" indent="0" marL="0">
              <a:buNone/>
            </a:pPr>
            <a:r>
              <a:rPr lang="en-US" sz="900" dirty="0">
                <a:solidFill>
                  <a:srgbClr val="8FA3C4"/>
                </a:solidFill>
                <a:latin typeface="Segoe UI" pitchFamily="34" charset="0"/>
                <a:ea typeface="Segoe UI" pitchFamily="34" charset="-122"/>
                <a:cs typeface="Segoe UI" pitchFamily="34" charset="-120"/>
              </a:rPr>
              <a:t>ISFD “Juan García de Cossio”  ·  TSDS  ·  Programación (1er año)</a:t>
            </a:r>
            <a:endParaRPr lang="en-US" sz="900" dirty="0"/>
          </a:p>
        </p:txBody>
      </p:sp>
      <p:sp>
        <p:nvSpPr>
          <p:cNvPr id="26" name="Text 24"/>
          <p:cNvSpPr txBox="1"/>
          <p:nvPr/>
        </p:nvSpPr>
        <p:spPr>
          <a:xfrm>
            <a:off x="8899855" y="6446520"/>
            <a:ext cx="2743200" cy="256032"/>
          </a:xfrm>
          <a:prstGeom prst="rect">
            <a:avLst/>
          </a:prstGeom>
          <a:noFill/>
          <a:ln/>
        </p:spPr>
        <p:txBody>
          <a:bodyPr wrap="square" lIns="0" tIns="0" rIns="0" bIns="0" rtlCol="0" anchor="t"/>
          <a:lstStyle/>
          <a:p>
            <a:pPr algn="r" indent="0" marL="0">
              <a:buNone/>
            </a:pPr>
            <a:r>
              <a:rPr lang="en-US" sz="900" dirty="0">
                <a:solidFill>
                  <a:srgbClr val="8FA3C4"/>
                </a:solidFill>
                <a:latin typeface="Segoe UI" pitchFamily="34" charset="0"/>
                <a:ea typeface="Segoe UI" pitchFamily="34" charset="-122"/>
                <a:cs typeface="Segoe UI" pitchFamily="34" charset="-120"/>
              </a:rPr>
              <a:t>Clase 18  ·  23 / 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ISFD Juan García de Cossio · TSDS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18 - Desarrollo del proyecto en equipo con Git y GitHub</dc:title>
  <dc:subject>PptxGenJS Presentation</dc:subject>
  <dc:creator>Prof. Ricardo Fernández</dc:creator>
  <cp:lastModifiedBy>Prof. Ricardo Fernández</cp:lastModifiedBy>
  <cp:revision>1</cp:revision>
  <dcterms:created xsi:type="dcterms:W3CDTF">2026-09-14T09:55:37Z</dcterms:created>
  <dcterms:modified xsi:type="dcterms:W3CDTF">2026-09-14T09:55:37Z</dcterms:modified>
</cp:coreProperties>
</file>