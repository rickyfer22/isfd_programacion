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2331720" cy="420624"/>
          </a:xfrm>
          <a:prstGeom prst="roundRect">
            <a:avLst>
              <a:gd name="adj" fmla="val 50000"/>
            </a:avLst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DE 20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9875520" y="438912"/>
            <a:ext cx="176479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48" y="512064"/>
            <a:ext cx="731520" cy="73152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9064" y="512064"/>
            <a:ext cx="731520" cy="731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25880"/>
            <a:ext cx="6675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Módulos, biblioteca estándar y control de versiones con Git</a:t>
            </a:r>
            <a:endParaRPr lang="en-US" sz="4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566160"/>
            <a:ext cx="6492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código que ya escribieron otros, ordenar el propio en funciones y módulos, y guardar la historia del proyecto con Git.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Unidad 3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760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Instituto Superior de Formación Docente “Juan García de Cossio”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0716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Tecnicatura Superior en Desarrollo de Software  ·  Cátedra de Programación (1er año)  ·  Prof. Ricardo Fernández  ·  Ciclo 2026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589520" y="1463040"/>
            <a:ext cx="4050792" cy="4023360"/>
          </a:xfrm>
          <a:prstGeom prst="roundRect">
            <a:avLst>
              <a:gd name="adj" fmla="val 2727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845552" y="16642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TERMINAR VAS A PODER…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7845552" y="21671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8302752" y="2148840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Explicar qué es un módulo y usar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... import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845552" y="2816352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8302752" y="2798064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Aprovechar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biblioteca estándar.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845552" y="3465576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8302752" y="3447288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Refactorizar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 programa en funciones sin cambiar lo que hace.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4114800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8302752" y="4096512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Entender las tres zonas de Git: trabajo, staging y commit.</a:t>
            </a:r>
            <a:endParaRPr lang="en-US" sz="1350" dirty="0"/>
          </a:p>
        </p:txBody>
      </p:sp>
      <p:sp>
        <p:nvSpPr>
          <p:cNvPr id="21" name="Text 17"/>
          <p:cNvSpPr txBox="1"/>
          <p:nvPr/>
        </p:nvSpPr>
        <p:spPr>
          <a:xfrm>
            <a:off x="7845552" y="4764024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8302752" y="4745736"/>
            <a:ext cx="3136392" cy="5029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buenos mensajes.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HOJA DE RUTA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vamos a hacer hoy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207008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9" name="Text 5"/>
          <p:cNvSpPr txBox="1"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son y las formas de importarlos.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3425891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2767523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67523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Biblioteca estándar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2767523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herramientas que ya vienen con Python.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5644774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4986406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986406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Refactorizar</a:t>
            </a:r>
            <a:endParaRPr lang="en-US" sz="1550" dirty="0"/>
          </a:p>
        </p:txBody>
      </p:sp>
      <p:sp>
        <p:nvSpPr>
          <p:cNvPr id="19" name="Text 15"/>
          <p:cNvSpPr txBox="1"/>
          <p:nvPr/>
        </p:nvSpPr>
        <p:spPr>
          <a:xfrm>
            <a:off x="4986406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Ordenar el código en funciones y módulos, paso a paso.</a:t>
            </a:r>
            <a:endParaRPr lang="en-US" sz="1550" dirty="0"/>
          </a:p>
        </p:txBody>
      </p:sp>
      <p:sp>
        <p:nvSpPr>
          <p:cNvPr id="20" name="Shape 16"/>
          <p:cNvSpPr/>
          <p:nvPr/>
        </p:nvSpPr>
        <p:spPr>
          <a:xfrm>
            <a:off x="7863657" y="2066544"/>
            <a:ext cx="1469075" cy="0"/>
          </a:xfrm>
          <a:prstGeom prst="line">
            <a:avLst/>
          </a:prstGeom>
          <a:noFill/>
          <a:ln w="19050">
            <a:solidFill>
              <a:srgbClr val="B9C6D8"/>
            </a:solidFill>
            <a:prstDash val="dash"/>
          </a:ln>
        </p:spPr>
      </p:sp>
      <p:sp>
        <p:nvSpPr>
          <p:cNvPr id="21" name="Text 17"/>
          <p:cNvSpPr txBox="1"/>
          <p:nvPr/>
        </p:nvSpPr>
        <p:spPr>
          <a:xfrm>
            <a:off x="7205289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205289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versiones</a:t>
            </a:r>
            <a:endParaRPr lang="en-US" sz="1550" dirty="0"/>
          </a:p>
        </p:txBody>
      </p:sp>
      <p:sp>
        <p:nvSpPr>
          <p:cNvPr id="23" name="Text 19"/>
          <p:cNvSpPr txBox="1"/>
          <p:nvPr/>
        </p:nvSpPr>
        <p:spPr>
          <a:xfrm>
            <a:off x="7205289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qué guardar la historia de un proyecto.</a:t>
            </a:r>
            <a:endParaRPr lang="en-US" sz="1550" dirty="0"/>
          </a:p>
        </p:txBody>
      </p:sp>
      <p:sp>
        <p:nvSpPr>
          <p:cNvPr id="24" name="Text 20"/>
          <p:cNvSpPr txBox="1"/>
          <p:nvPr/>
        </p:nvSpPr>
        <p:spPr>
          <a:xfrm>
            <a:off x="9424172" y="1783080"/>
            <a:ext cx="566928" cy="566928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9424172" y="2496312"/>
            <a:ext cx="20360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endParaRPr lang="en-US" sz="1550" dirty="0"/>
          </a:p>
        </p:txBody>
      </p:sp>
      <p:sp>
        <p:nvSpPr>
          <p:cNvPr id="26" name="Text 22"/>
          <p:cNvSpPr txBox="1"/>
          <p:nvPr/>
        </p:nvSpPr>
        <p:spPr>
          <a:xfrm>
            <a:off x="9424172" y="2880360"/>
            <a:ext cx="199028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tres zonas y los comandos básicos.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5405"/>
            </a:avLst>
          </a:prstGeom>
          <a:solidFill>
            <a:srgbClr val="E7EFF8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0467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000" dirty="0"/>
          </a:p>
        </p:txBody>
      </p:sp>
      <p:sp>
        <p:nvSpPr>
          <p:cNvPr id="29" name="Text 25"/>
          <p:cNvSpPr txBox="1"/>
          <p:nvPr/>
        </p:nvSpPr>
        <p:spPr>
          <a:xfrm>
            <a:off x="1371600" y="4709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Repaso de la clase anterior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1371600" y="5056632"/>
            <a:ext cx="9997135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clase pasada aprendimos a definir funciones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distinguir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 usar valores por defecto y argumentos por nombre, y vimos que las variables locales mueren al terminar la llamada. Hoy juntamos funciones en archivos y los guardamos con historia.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Módulos y biblioteca estándar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hace falta programar una raíz cuadrada ni un sorteo: Python ya los trae probados por millones de personas.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un módulo?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módulo es un archivo .py con funciones y variables que podés usar desde otro programa con import.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Cualquier archivo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 módulo. Python además trae cientos listos: la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biblioteca estándar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(viene instalada, no hay que descargar nada).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1081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192524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carga el módulo y te da acceso a lo que tiene adentro escribiendo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adelante: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math.sqrt(144)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8722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853940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qué?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Reutilización a gran escala: no reescribís lo que ya existe y está probado, y tu programa queda más corto.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5336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515356"/>
            <a:ext cx="5879592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explorar qué hay en un módulo: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dir(math)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lista sus nombres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help(math.sqrt)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explica una función.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🧰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una caja de herramientas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fabricás un destornillador cada vez que tenés que ajustar un tornillo: abrís la caja y lo sacás.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abrir la caja;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tomar esa herramienta en particular.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importar.py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2087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4160520"/>
            <a:ext cx="379902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(math.pi)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3.141592653589793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COMPARATIVO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Formas de importar y cuándo usar cada una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5 / 25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58992"/>
                <a:gridCol w="2200545"/>
                <a:gridCol w="3300818"/>
                <a:gridCol w="29340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Cómo se usa después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Ventaja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Cuidado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import math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math.sqrt(9)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Siempre se ve de qué módulo viene cada cosa. La opción recomendada.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Hay que escribir el prefijo cada vez.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math import sqrt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sqrt(9)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Más corto si usás mucho una sola función.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 tenés otra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sqrt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propia, una pisa a la otra.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import math as m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m.sqrt(9)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apodo corto para módulos de nombre largo.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Usá apodos conocidos: si inventás, nadie entiende.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from math import *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sqrt(9)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...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Ninguna real.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⚠️ Evitar: trae todos los nombres sin avisar y puede pisar los tuyos.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van </a:t>
            </a:r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arriba de todo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del archivo: así, quien lee sabe desde el principio qué herramientas usa el programa.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ESPACIOS DE NOMBRES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el prefijo math. adelante?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6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módulo tiene su propio espacio de nombres: el prefijo evita que sus nombres choquen con los tuyos.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8001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</a:t>
            </a:r>
            <a:pPr algn="l" indent="0" marL="0">
              <a:buNone/>
            </a:pPr>
            <a:r>
              <a:rPr lang="en-US" sz="15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espacio de nombres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"lugar" donde vive un nombre.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significa "la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está dentro de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".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25653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4238244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vos también creás una función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 hay conflicto: la tuya es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la del módulo es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94842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930140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la misma idea del ámbito de las funciones: nombres separados para que las partes de un programa no se pisen.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64032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622036"/>
            <a:ext cx="5879592" cy="563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*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el prefijo desaparece y las dos </a:t>
            </a:r>
            <a:pPr algn="l" indent="0" marL="0">
              <a:buNone/>
            </a:pPr>
            <a:r>
              <a:rPr lang="en-US" sz="15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buNone/>
            </a:pPr>
            <a:r>
              <a:rPr lang="en-US" sz="15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compiten: gana la última que se definió.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los apellidos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curso hay dos "Juan". Si decís "Juan" nadie sabe a quién llamás; si decís "Juan Pérez" y "Juan Gómez", no hay confusión. El módulo funciona como el apellido de la función.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655064"/>
          </a:xfrm>
          <a:prstGeom prst="roundRect">
            <a:avLst>
              <a:gd name="adj" fmla="val 552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nombres.py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93548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7764780" y="4160520"/>
            <a:ext cx="3814267" cy="1088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 versión"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math.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 versión 4.0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REFERENCIA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Biblioteca estándar: math, random y datetime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7 / 25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7030"/>
                <a:gridCol w="3759265"/>
                <a:gridCol w="2383924"/>
                <a:gridCol w="3484197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Módulo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Expresión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Resultado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 qué sirve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math.sqrt(144)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Raíz cuadrada. Siempre devuelve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math.ceil(3.2)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math.floor(3.8)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/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Redondear hacia arriba (techo) o hacia abajo (piso).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math.pi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3.141592653589793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Constante para áreas y perímetros de círculos.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random.randint(1, 6)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 entero del 1 al 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Tirar un dado.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Incluye los dos extremos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a diferencia de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range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random.choice(["piedra", "papel"])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uno de la lista al azar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Elegir un elemento de una secuencia.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date.today().year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año actual, ej.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Fecha del sistema: el programa sirve el año que viene sin tocarlo.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datetime.now().strftime("%d/%m/%Y")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ej. 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14/09/2026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Fecha con formato día/mes/año para mostrar.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 importan así: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date, datetime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RANDOM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random: azar que se puede repetir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genera números que parecen al azar, pero salen de una fórmula: con la misma semilla se repiten.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computadora no tira dados: usa un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generador pseudoaleatorio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una fórmula que produce una secuencia que parece azar.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punto de partida de esa fórmula es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semilla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(seed). Si no la fijás, Python usa algo que cambia siempre, como la hora.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random.seed(1)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 secuencia arranca igual cada vez: muy útil para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 programa y obtener siempre el mismo resultado.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juegos y sorteos alcanza. Para contraseñas y seguridad existe otro módulo: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secrets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011680"/>
          </a:xfrm>
          <a:prstGeom prst="roundRect">
            <a:avLst>
              <a:gd name="adj" fmla="val 5455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🎰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 bolillero predecible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Imaginá un bolillero que, si lo girás desde la misma posición y con la misma fuerza, saca las bolillas en el mismo orden. La semilla es esa posición inicial: cambiala y el orden cambia.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703320"/>
            <a:ext cx="4327855" cy="1435608"/>
          </a:xfrm>
          <a:prstGeom prst="roundRect">
            <a:avLst>
              <a:gd name="adj" fmla="val 6369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84962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84962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84962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75818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semilla.py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4160520"/>
            <a:ext cx="1744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29" name="Text 25"/>
          <p:cNvSpPr txBox="1"/>
          <p:nvPr/>
        </p:nvSpPr>
        <p:spPr>
          <a:xfrm>
            <a:off x="7745730" y="4160520"/>
            <a:ext cx="3833317" cy="868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(random.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(random.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ts val="1063"/>
              </a:lnSpc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7315200" y="5321808"/>
            <a:ext cx="432785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413248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705856"/>
            <a:ext cx="400781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clase16_taller_modularizacion.py: math y datetime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9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clase16_taller_modularizacion.py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6974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endParaRPr lang="en-US" sz="1050" dirty="0"/>
          </a:p>
          <a:p>
            <a:pPr algn="r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074420" y="1920240"/>
            <a:ext cx="613105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math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random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datetime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date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math: funciones matematicas ya escritas por otros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(math.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144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math.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math.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floor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sqrt = raiz cuadrada, ceil = techo (redondea arriba), floor = piso (abajo).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¿Por que usarlas y no escribir mi propia raiz? Reutilizacion: probada por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millones de usuarios. No reescribas lo que la biblioteca resuelve.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datetime: edad a partir del anio de nacimiento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anio = 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"Año de nacimiento: 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f"Tienes aprox. {date.today().year - anio} años"</a:t>
            </a:r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L42–44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los imports juntos al principio. De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sólo se trae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L47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Raíz, techo y piso en una línea: funciones que no hace falta programar.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L49–50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la biblioteca es reutilizar código probado por millones de personas.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412851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L71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4110228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date.today().year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pregunta la fecha al sistema operativo.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5102352"/>
            <a:ext cx="4007815" cy="1115568"/>
          </a:xfrm>
          <a:prstGeom prst="roundRect">
            <a:avLst>
              <a:gd name="adj" fmla="val 8197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5193792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486400"/>
            <a:ext cx="3687775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12.0 4 3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Año de nacimiento: 2006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Tienes aprox. 20 años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clase16_taller_modularizacion.py: adivinar un número al azar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407408"/>
          </a:xfrm>
          <a:prstGeom prst="roundRect">
            <a:avLst>
              <a:gd name="adj" fmla="val 2075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clase16_taller_modularizacion.py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33070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</a:t>
            </a:r>
            <a:endParaRPr lang="en-US" sz="1450" dirty="0"/>
          </a:p>
          <a:p>
            <a:pPr algn="r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1135380" y="1920240"/>
            <a:ext cx="6070092" cy="3840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random: el juego de adivinanza con numero aleatorio real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secreto = random.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intentos =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intento =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"Adiviná (1-100): "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intentos +=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intento &lt; secreto: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mayor"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intento &gt; secreto: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 menor"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f"¡Acertaste en {intentos} intentos!"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813"/>
              </a:lnSpc>
              <a:buNone/>
            </a:pPr>
            <a:r>
              <a:rPr lang="en-US" sz="14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L53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número secreto cambia en cada ejecución: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incluye el 1 y el 100.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29514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L55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276856"/>
            <a:ext cx="3139135" cy="6858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el ciclo termina por un suceso (acertar), no por una cuenta.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1089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L57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090672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Contador de intentos, como en la Unidad 2.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72465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L62–64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706368"/>
            <a:ext cx="3139135" cy="4876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acertar se informa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algn="l" indent="0" marL="0">
              <a:buNone/>
            </a:pPr>
            <a:r>
              <a:rPr lang="en-US" sz="13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corta el ciclo.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635240" y="4443984"/>
            <a:ext cx="4007815" cy="1773936"/>
          </a:xfrm>
          <a:prstGeom prst="roundRect">
            <a:avLst>
              <a:gd name="adj" fmla="val 5155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4535424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4828032"/>
            <a:ext cx="3687775" cy="1316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Adiviná (1-100): 50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menor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Adiviná (1-100): 25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mayor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Adiviná (1-100): 37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¡Acertaste en 3 intentos!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Refactorizar: ordenar el código en funciones y módulos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programa que funciona es el comienzo. Un programa que se entiende y se puede cambiar es el objetivo.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REFACTORIZAR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refactorizar?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Refactorizar es reorganizar el código para que sea más claro, sin cambiar lo que el programa hace.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fuera, el programa se comporta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mismas entradas, mismas salidas. Lo que cambia es cómo está escrito por dentro.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típico: extraer bloques a funciones con nombre, eliminar repeticiones y cambiar nombres poco claros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x1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total_ventas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hace en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pasos chicos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cambio → pruebo → cambio → pruebo. Si cambiás todo junto y falla, no sabés qué lo rompió.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26694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24865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red de seguridad profesional son los tests automáticos (2do año). Hoy: ejecutar y comparar la salida a mano después de cada paso.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423160"/>
          </a:xfrm>
          <a:prstGeom prst="roundRect">
            <a:avLst>
              <a:gd name="adj" fmla="val 4528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👕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ordenar el placard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Después de ordenar tenés exactamente la misma ropa, pero ahora encontrás todo rápido y sabés dónde guardar lo nuevo. Si lo hacés estante por estante, nunca perdés nada en el camino.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Refactorizar paso a paso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Detectar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Buscá un bloque que se repite o que puedas describir con un nombre: "extraer dinero".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3070784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3" name="Shape 9"/>
          <p:cNvSpPr/>
          <p:nvPr/>
        </p:nvSpPr>
        <p:spPr>
          <a:xfrm>
            <a:off x="3436544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3665144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241216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Extraer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665144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Pasalo a una función. Lo que usa entra por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parámetros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lo que calcula sale con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3619424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756584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extraer</a:t>
            </a:r>
            <a:pPr algn="l" indent="0" marL="0">
              <a:lnSpc>
                <a:spcPts val="1188"/>
              </a:lnSpc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(saldo, monto):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95868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0" name="Shape 16"/>
          <p:cNvSpPr/>
          <p:nvPr/>
        </p:nvSpPr>
        <p:spPr>
          <a:xfrm>
            <a:off x="6324448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55304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129120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Reemplazar y probar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6553048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Donde estaba el bloque, poné la llamada. Ejecutá con los mismos datos: la salida tiene que ser igual.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507328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644488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=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extraer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(saldo, 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pPr algn="l" indent="0" marL="0">
              <a:lnSpc>
                <a:spcPts val="1125"/>
              </a:lnSpc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846591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7" name="Shape 23"/>
          <p:cNvSpPr/>
          <p:nvPr/>
        </p:nvSpPr>
        <p:spPr>
          <a:xfrm>
            <a:off x="9212351" y="1463040"/>
            <a:ext cx="2430704" cy="3977640"/>
          </a:xfrm>
          <a:prstGeom prst="roundRect">
            <a:avLst>
              <a:gd name="adj" fmla="val 3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9440951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10017023" y="1664208"/>
            <a:ext cx="1470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Mover a un módulo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9440951" y="233172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Cuando hay varias funciones del mismo tema, llevalas a su propio archivo e importalo.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9395231" y="4617720"/>
            <a:ext cx="2064944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9532391" y="4754880"/>
            <a:ext cx="1882064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cajero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5" name="Text 31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en el paso 3 la salida cambió,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sigas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volvé atrás y revisá ese único cambio.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DEL TALLER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clase16_taller_modularizacion.py: el cajero en funciones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720840" cy="4754880"/>
          </a:xfrm>
          <a:prstGeom prst="roundRect">
            <a:avLst>
              <a:gd name="adj" fmla="val 1923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31520" y="160934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" y="160934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1" name="Shape 7"/>
          <p:cNvSpPr/>
          <p:nvPr/>
        </p:nvSpPr>
        <p:spPr>
          <a:xfrm>
            <a:off x="1097280" y="160934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325880" y="1517904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clase16_taller_modularizacion.py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58368" y="1920240"/>
            <a:ext cx="277368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</a:t>
            </a:r>
            <a:endParaRPr lang="en-US" sz="1100" dirty="0"/>
          </a:p>
          <a:p>
            <a:pPr algn="r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082040" y="1920240"/>
            <a:ext cx="6123432" cy="4187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Refactorizacion del cajero en funciones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SALDO_INICIAL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100000.0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constante: MAYUSCULAS por convencion (PEP 8)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(saldo, monto):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saldo + monto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(saldo, monto):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monto &gt; saldo: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"Saldo insuficiente"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saldo         </a:t>
            </a:r>
            <a:pPr algn="l" indent="0" marL="0">
              <a:lnSpc>
                <a:spcPts val="1375"/>
              </a:lnSpc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devuelve el saldo INTACTO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saldo - monto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= SALDO_INICIAL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depositar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(saldo,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=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extraer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(saldo, 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200000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f"Saldo final: ${saldo:.2f}"</a:t>
            </a:r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635240" y="148132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L76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8503920" y="1463040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Constante en MAYÚSCULAS (convención PEP 8): un valor que no cambia.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7635240" y="236372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L78–79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8503920" y="2345436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operación es una función que recibe el saldo y devuelve el nuevo.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324612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L82–84</a:t>
            </a:r>
            <a:endParaRPr lang="en-US" sz="950" dirty="0"/>
          </a:p>
        </p:txBody>
      </p:sp>
      <p:sp>
        <p:nvSpPr>
          <p:cNvPr id="20" name="Text 16"/>
          <p:cNvSpPr txBox="1"/>
          <p:nvPr/>
        </p:nvSpPr>
        <p:spPr>
          <a:xfrm>
            <a:off x="8503920" y="3227832"/>
            <a:ext cx="3139135" cy="5334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no alcanza, avisa y devuelve el saldo </a:t>
            </a:r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intacto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3907536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7EF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L88–89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8503920" y="3889248"/>
            <a:ext cx="3139135" cy="7543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Patrón "recibir y devolver":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saldo = f(saldo, ...)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Se ve por dónde viaja el dato.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7635240" y="5321808"/>
            <a:ext cx="4007815" cy="896112"/>
          </a:xfrm>
          <a:prstGeom prst="roundRect">
            <a:avLst>
              <a:gd name="adj" fmla="val 10204"/>
            </a:avLst>
          </a:prstGeom>
          <a:solidFill>
            <a:srgbClr val="010409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18120" y="5413248"/>
            <a:ext cx="36420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7818120" y="5705856"/>
            <a:ext cx="368777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insuficiente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Saldo final: $105000.00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MÓDULOS PROPIOS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tu propio módulo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15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guardás funciones en un archivo, cualquier otro programa de la misma carpeta puede importarlas por su nombre.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Creás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calculos.py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tus funciones. En otro archivo de la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misma carpeta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escribís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calculos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(sin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usan con prefijo, igual que la biblioteca estándar: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calculos.iva(1000)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 importar, Python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ejecuta el archivo entero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una vez. Por eso un módulo debería tener sólo definiciones, sin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ni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sueltos.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nombres tu archivo como un módulo de Python (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): tu archivo tapa al original y el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trae el tuyo.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1813560"/>
          </a:xfrm>
          <a:prstGeom prst="roundRect">
            <a:avLst>
              <a:gd name="adj" fmla="val 6050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tus apuntes por materia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vez de un cuaderno único con todo mezclado, tenés una carpeta por materia. Cuando estudiás Programación, abrís esa carpeta y usás lo que necesitás.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7315200" y="3505200"/>
            <a:ext cx="4327855" cy="1853184"/>
          </a:xfrm>
          <a:prstGeom prst="roundRect">
            <a:avLst>
              <a:gd name="adj" fmla="val 4934"/>
            </a:avLst>
          </a:prstGeom>
          <a:solidFill>
            <a:srgbClr val="0D1117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498080" y="3651504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5" name="Shape 21"/>
          <p:cNvSpPr/>
          <p:nvPr/>
        </p:nvSpPr>
        <p:spPr>
          <a:xfrm>
            <a:off x="7680960" y="3651504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6" name="Shape 22"/>
          <p:cNvSpPr/>
          <p:nvPr/>
        </p:nvSpPr>
        <p:spPr>
          <a:xfrm>
            <a:off x="7863840" y="3651504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092440" y="356006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 archivos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424928" y="3962400"/>
            <a:ext cx="208788" cy="128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  <a:p>
            <a:pPr algn="r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7780020" y="3962400"/>
            <a:ext cx="3799027" cy="1286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archivo calculos.py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iva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(monto):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monto *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0.21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archivo main.py (misma carpeta)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calculos</a:t>
            </a:r>
            <a:endParaRPr lang="en-US" sz="1300" dirty="0"/>
          </a:p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(calculos.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iva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315200" y="5541264"/>
            <a:ext cx="4327855" cy="676656"/>
          </a:xfrm>
          <a:prstGeom prst="roundRect">
            <a:avLst>
              <a:gd name="adj" fmla="val 13514"/>
            </a:avLst>
          </a:prstGeom>
          <a:solidFill>
            <a:srgbClr val="010409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498080" y="5632704"/>
            <a:ext cx="39620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6E76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 EN CONSOLA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7498080" y="5925312"/>
            <a:ext cx="400781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210.0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versiones con Git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7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Nunca más "tp_final_v2_FINAL_ahora_si.py": cada cambio queda guardado con fecha, autor y motivo.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TEORÍA · GIT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es el control de versiones y para qué sirve?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17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6355080" cy="1188720"/>
          </a:xfrm>
          <a:prstGeom prst="roundRect">
            <a:avLst>
              <a:gd name="adj" fmla="val 7692"/>
            </a:avLst>
          </a:prstGeom>
          <a:solidFill>
            <a:srgbClr val="E7EFF8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1600200"/>
            <a:ext cx="5806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sistema de control de versiones guarda la historia completa de un proyecto: cada cambio, quién lo hizo, cuándo y por qué.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926080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A PASO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328416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3310128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problema: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copias como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tp_v2_final_definitivo.py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dicen qué cambió, ocupan lugar y en equipo terminan pisándose.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74592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1005840" y="3956304"/>
            <a:ext cx="5879592" cy="5181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guarda "fotos" del proyecto llamadas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commits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Cada una tiene fecha, autor y un mensaje que explica el cambio.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620768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602480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Podés volver a cualquier foto anterior ("ayer funcionaba"), ver quién cambió cada línea y trabajar varias personas a la vez.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480304"/>
            <a:ext cx="310896" cy="310896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1005840" y="5462016"/>
            <a:ext cx="5879592" cy="731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programa, funciona en tu compu y sin internet. </a:t>
            </a:r>
            <a:pPr algn="l" indent="0" marL="0">
              <a:buNone/>
            </a:pPr>
            <a:r>
              <a:rPr lang="en-US" sz="1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una web donde se suben los repositorios para compartirlos y tener respaldo.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7315200" y="1463040"/>
            <a:ext cx="4327855" cy="2423160"/>
          </a:xfrm>
          <a:prstGeom prst="roundRect">
            <a:avLst>
              <a:gd name="adj" fmla="val 4528"/>
            </a:avLst>
          </a:prstGeom>
          <a:solidFill>
            <a:srgbClr val="FFF4C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54380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🎮</a:t>
            </a:r>
            <a:endParaRPr lang="en-US" sz="20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0" y="1682496"/>
            <a:ext cx="3322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A5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guardar partida en un juego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571232" y="2194560"/>
            <a:ext cx="38249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del jefe final guardás la partida. Si te va mal, volvés a ese punto sin empezar de cero. Cada commit es un punto de guardado con una etiqueta que dice qué lograste hasta ahí.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TRES ZONAS DE GIT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tus archivos a la historia: trabajo, staging y commit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18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353312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Directorio de trabajo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carpeta con los archivos que editás en VS Code. Git ve los cambios, pero todavía no los guardó.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31520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033418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15" name="Shape 11"/>
          <p:cNvSpPr/>
          <p:nvPr/>
        </p:nvSpPr>
        <p:spPr>
          <a:xfrm>
            <a:off x="4399178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4627778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203850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Staging (preparación)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27778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Elegís </a:t>
            </a:r>
            <a:pPr algn="l" indent="0" marL="0">
              <a:buNone/>
            </a:pPr>
            <a:r>
              <a:rPr lang="en-US" sz="1700" b="1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cambios van a entrar en la próxima foto. Podés cambiar 5 archivos y preparar sólo 2.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4582058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4719218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app.py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883957" y="3296412"/>
            <a:ext cx="274320" cy="310896"/>
          </a:xfrm>
          <a:prstGeom prst="rightArrow">
            <a:avLst/>
          </a:prstGeom>
          <a:solidFill>
            <a:srgbClr val="FFD43B"/>
          </a:solidFill>
          <a:ln/>
        </p:spPr>
      </p:sp>
      <p:sp>
        <p:nvSpPr>
          <p:cNvPr id="22" name="Shape 18"/>
          <p:cNvSpPr/>
          <p:nvPr/>
        </p:nvSpPr>
        <p:spPr>
          <a:xfrm>
            <a:off x="8249717" y="1463040"/>
            <a:ext cx="3393338" cy="397764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8478317" y="1691640"/>
            <a:ext cx="457200" cy="457200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054389" y="1664208"/>
            <a:ext cx="243321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Repositorio (commit)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478317" y="2331720"/>
            <a:ext cx="298185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toma la foto con un mensaje y queda guardada para siempre en la carpeta oculta </a:t>
            </a:r>
            <a:pPr algn="l" indent="0" marL="0">
              <a:buNone/>
            </a:pPr>
            <a:r>
              <a:rPr lang="en-US" sz="17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.git</a:t>
            </a:r>
            <a:pPr algn="l" indent="0" marL="0">
              <a:buNone/>
            </a:pPr>
            <a:r>
              <a:rPr lang="en-US" sz="17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26" name="Shape 22"/>
          <p:cNvSpPr/>
          <p:nvPr/>
        </p:nvSpPr>
        <p:spPr>
          <a:xfrm>
            <a:off x="8432597" y="4617720"/>
            <a:ext cx="3027578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569757" y="4754880"/>
            <a:ext cx="2844698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</a:t>
            </a:r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"Agrega menú"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30" name="Text 2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una foto grupal: primero acomodás a quiénes salen (add) y después sacás la foto (commit). El que no se acomodó, no sale.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CUADRO DE COMANDOS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comandos básicos de Git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19 / 25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484197"/>
                <a:gridCol w="4401090"/>
                <a:gridCol w="3209128"/>
              </a:tblGrid>
              <a:tr h="350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Comando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hace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que vas a ver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B8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config --global user.name "Ana"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Una vez por compu: tu nombre (y con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user.email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tu email) queda en cada commit.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Nada: se guarda en silencio.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init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Convierte la carpeta actual en repositorio: crea la carpeta oculta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.git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Initialized empty Git repository in ...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status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Muestra qué archivos cambiaron y en qué zona está cada uno. Usalo todo el tiempo.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Untracked files: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nothing to commit, working tree clean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app.py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 / 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add 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Pasa un archivo (o todos los cambios de la carpeta) al staging.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Nada;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status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lo muestra listo para el commit.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commit -m "mensaje"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Toma la foto de lo que está en staging, con ese mensaje.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[main (root-commit) 717b0fc] Agrega programa de saludo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log --oneline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Muestra la historia: un commit por línea, del más nuevo al más viejo.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717b0fc Agrega programa de saludo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git diff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Muestra línea por línea qué cambiaste y todavía no agregaste.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Líneas con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(quitadas) 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4C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3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(agregadas).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código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717b0fc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es el identificador del commit: en tu compu va a ser otro.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3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algn="l" indent="0" marL="0">
              <a:buNone/>
            </a:pPr>
            <a:r>
              <a:rPr lang="en-US" sz="13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necesitan internet.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Mensajes de commit: la documentación de cada cambio</a:t>
            </a:r>
            <a:endParaRPr lang="en-US" sz="24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20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Mensajes que no sirven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asd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cambios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arreglo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ahora sí funciona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 final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Mensajes que explican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Agrega validación de nota entre 0 y 10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Extrae función extraer() del cajero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Corrige división por cero en el promedio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Verbo en presente, qué cambió y dónde, en una línea corta.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commit por cambio lógico: no mezclar arreglos distintos en una foto.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Pensá el mensaje para vos dentro de tres meses: tiene que decirte qué hace ese commit sin abrir el código.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OJO AQUÍ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Errores frecuentes y cómo corregirlos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21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5727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Importar todo con *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193852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Trae nombres sin avisar y puede pisar los tuyos.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26280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90872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4690872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math import *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47508" y="157276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112100" y="162763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8112100" y="188366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269748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777240" y="28072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randint igual que range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317296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sí incluye el último número;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26280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690872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4690872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random.randint(1, 7)  # dado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7947508" y="280720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112100" y="286207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112100" y="311810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random.randint(1, 6)  # dado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39319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777240" y="40416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Llamar random.py al archivo</a:t>
            </a:r>
            <a:endParaRPr lang="en-US" sz="1450" dirty="0"/>
          </a:p>
        </p:txBody>
      </p:sp>
      <p:sp>
        <p:nvSpPr>
          <p:cNvPr id="28" name="Text 24"/>
          <p:cNvSpPr txBox="1"/>
          <p:nvPr/>
        </p:nvSpPr>
        <p:spPr>
          <a:xfrm>
            <a:off x="777240" y="44074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 archivo tapa al módulo real y </a:t>
            </a:r>
            <a:pPr algn="l" indent="0" marL="0">
              <a:buNone/>
            </a:pPr>
            <a:r>
              <a:rPr lang="en-US" sz="13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randint</a:t>
            </a:r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deja de existir.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526280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90872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4690872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random.py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7947508" y="404164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8112100" y="409651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8112100" y="435254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juego_dados.py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48640" y="516636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77240" y="527608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sin add</a:t>
            </a:r>
            <a:endParaRPr lang="en-US" sz="1450" dirty="0"/>
          </a:p>
        </p:txBody>
      </p:sp>
      <p:sp>
        <p:nvSpPr>
          <p:cNvPr id="37" name="Text 33"/>
          <p:cNvSpPr txBox="1"/>
          <p:nvPr/>
        </p:nvSpPr>
        <p:spPr>
          <a:xfrm>
            <a:off x="777240" y="564184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cambios no están en staging: no entran en la foto.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26280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FBE9E9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4690872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3B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Así no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690872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"Agrega menú"</a:t>
            </a:r>
            <a:endParaRPr lang="en-US" sz="1300" dirty="0"/>
          </a:p>
        </p:txBody>
      </p:sp>
      <p:sp>
        <p:nvSpPr>
          <p:cNvPr id="41" name="Shape 37"/>
          <p:cNvSpPr/>
          <p:nvPr/>
        </p:nvSpPr>
        <p:spPr>
          <a:xfrm>
            <a:off x="7947508" y="5276088"/>
            <a:ext cx="3238348" cy="832104"/>
          </a:xfrm>
          <a:prstGeom prst="roundRect">
            <a:avLst>
              <a:gd name="adj" fmla="val 8791"/>
            </a:avLst>
          </a:prstGeom>
          <a:solidFill>
            <a:srgbClr val="E5F4ED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8112100" y="5330952"/>
            <a:ext cx="2964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8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Así sí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8112100" y="5586984"/>
            <a:ext cx="296402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menu.py</a:t>
            </a:r>
            <a:endParaRPr lang="en-US" sz="1100" dirty="0"/>
          </a:p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B2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"Agrega menú"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DUDAS DE AULA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que seguro aparecen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22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¿Git necesita internet?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No.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init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funcionan en tu compu. Internet hace falta sólo para subir o bajar cambios de GitHub (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233008" y="14630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461608" y="16916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7010248" y="16276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pasa si hago commit sin add?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responde que no hay nada para guardar. Atajo: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-am "mensaje"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agrega y guarda los archivos que Git ya venía siguiendo (no los nuevos).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777240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1325880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¿random es realmente aleatorio?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777240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No: es pseudoaleatorio, sale de una fórmula que depende de una semilla. Para juegos alcanza; para contraseñas se usa el módulo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secrets</a:t>
            </a:r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6233008" y="3977640"/>
            <a:ext cx="5410048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461608" y="4206240"/>
            <a:ext cx="420624" cy="420624"/>
          </a:xfrm>
          <a:prstGeom prst="ellipse">
            <a:avLst/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7010248" y="4142232"/>
            <a:ext cx="4449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¿Por qué Git y no copias en carpetas?</a:t>
            </a:r>
            <a:endParaRPr lang="en-US" sz="1450" dirty="0"/>
          </a:p>
        </p:txBody>
      </p:sp>
      <p:sp>
        <p:nvSpPr>
          <p:cNvPr id="23" name="Text 19"/>
          <p:cNvSpPr txBox="1"/>
          <p:nvPr/>
        </p:nvSpPr>
        <p:spPr>
          <a:xfrm>
            <a:off x="6461608" y="4937760"/>
            <a:ext cx="4998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dirty="0">
                <a:solidFill>
                  <a:srgbClr val="4F5A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copias no dicen qué cambió ni por qué, y no permiten volver a un punto exacto. Git guarda sólo las diferencias, con mensaje, fecha y autor.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PRÁCTICA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Guía de ejercicios por niveles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23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BÁSICO  ★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Calcular el área de un círculo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math.pi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mostrarla con 2 decimales.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Simular 5 tiradas de dado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random.randint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 un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 repositorio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hacer tu primer commit de un ejercicio.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338218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66818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2B5B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INTERMEDIO  ★★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validaciones.py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dos funciones e importarlo desde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Refactorizar el cajero de la clase 10 en funciones y comprobar que la salida no cambia.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Hacer 3 commits con mensajes claros y revisarlos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27797" y="1463040"/>
            <a:ext cx="3515258" cy="3977640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19050" dir="5400000">
              <a:srgbClr val="1B2333">
                <a:alpha val="10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56397" y="1691640"/>
            <a:ext cx="3058058" cy="420624"/>
          </a:xfrm>
          <a:prstGeom prst="roundRect">
            <a:avLst>
              <a:gd name="adj" fmla="val 50000"/>
            </a:avLst>
          </a:prstGeom>
          <a:solidFill>
            <a:srgbClr val="6A4FC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DESAFÍO  ★★★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356397" y="2286000"/>
            <a:ext cx="3103778" cy="3063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Juego piedra, papel o tijera contra la compu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random.choice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marcador.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Calcular cuántos días faltan para tu cumpleaños con </a:t>
            </a:r>
            <a:pPr algn="l" indent="0" marL="0">
              <a:buNone/>
            </a:pPr>
            <a:r>
              <a:rPr lang="en-US" sz="15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algn="l" indent="0" marL="0">
              <a:buNone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  <a:p>
            <a:pPr algn="l" marL="203200" indent="-203200">
              <a:spcAft>
                <a:spcPts val="675"/>
              </a:spcAft>
              <a:buSzPct val="100000"/>
              <a:buChar char="•"/>
            </a:pPr>
            <a:r>
              <a:rPr lang="en-US" sz="15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una cuenta en GitHub y subir tus ejercicios de la Unidad 3.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48640" y="565099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4C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94944" y="5724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170432" y="5678424"/>
            <a:ext cx="10317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Archivo base: </a:t>
            </a:r>
            <a:pPr algn="l" indent="0" marL="0">
              <a:buNone/>
            </a:pPr>
            <a:r>
              <a:rPr lang="en-US" sz="140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Codigos/clase16_taller_modularizacion.py</a:t>
            </a:r>
            <a:pPr algn="l" indent="0" marL="0">
              <a:buNone/>
            </a:pPr>
            <a:r>
              <a:rPr lang="en-US" sz="140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Hacé un commit después de cada ejercicio terminado.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B5B8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RESPONSABLE DE 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85216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usar la IA en este tema</a:t>
            </a:r>
            <a:endParaRPr lang="en-US" sz="2800" dirty="0"/>
          </a:p>
        </p:txBody>
      </p:sp>
      <p:pic>
        <p:nvPicPr>
          <p:cNvPr id="4" name="Image 0" descr="C:\Users\Ricardo\AppData\Local\Temp\claude\C--Users-Ricardo-Desktop-TSDS-PROGRAMACION\7b194102-4895-4f97-b2eb-ca36d50deb56\scratchpad\build\assets\logo_isf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4" y="384048"/>
            <a:ext cx="457200" cy="457200"/>
          </a:xfrm>
          <a:prstGeom prst="rect">
            <a:avLst/>
          </a:prstGeom>
        </p:spPr>
      </p:pic>
      <p:pic>
        <p:nvPicPr>
          <p:cNvPr id="5" name="Image 1" descr="C:\Users\Ricardo\AppData\Local\Temp\claude\C--Users-Ricardo-Desktop-TSDS-PROGRAMACION\7b194102-4895-4f97-b2eb-ca36d50deb56\scratchpad\build\assets\logo_ts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3112" y="384048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24 / 25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48640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E5F4ED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77240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1E8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Sí: la IA como tutor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Preguntarle qué módulo de la biblioteca estándar resuelve un problema, sin instalar nada externo.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Pegarle un mensaje de Git como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fatal: not a git repository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pedir que te explique la causa.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Pedirle que mejore un mensaje de commit que escribiste vos.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278728" y="1463040"/>
            <a:ext cx="5364328" cy="3108960"/>
          </a:xfrm>
          <a:prstGeom prst="roundRect">
            <a:avLst>
              <a:gd name="adj" fmla="val 2941"/>
            </a:avLst>
          </a:prstGeom>
          <a:solidFill>
            <a:srgbClr val="FBE9E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07328" y="1691640"/>
            <a:ext cx="4907128" cy="420624"/>
          </a:xfrm>
          <a:prstGeom prst="roundRect">
            <a:avLst>
              <a:gd name="adj" fmla="val 50000"/>
            </a:avLst>
          </a:prstGeom>
          <a:solidFill>
            <a:srgbClr val="C23B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No: la IA como atajo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07328" y="2286000"/>
            <a:ext cx="4952848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Copiar comandos con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--force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-f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pueden borrar historia, tuya o de tu equipo.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librerías externas para algo que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 </a:t>
            </a:r>
            <a:pPr algn="l" indent="0" marL="0">
              <a:buNone/>
            </a:pPr>
            <a:r>
              <a:rPr lang="en-US" sz="1450" dirty="0">
                <a:solidFill>
                  <a:srgbClr val="0F4C81"/>
                </a:solidFill>
                <a:highlight>
                  <a:srgbClr val="E6ED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</a:t>
            </a:r>
            <a:pPr algn="l" indent="0" marL="0">
              <a:buNone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ya resuelven.</a:t>
            </a:r>
            <a:endParaRPr lang="en-US" sz="1450" dirty="0"/>
          </a:p>
          <a:p>
            <a:pPr algn="l" marL="203200" indent="-203200">
              <a:spcAft>
                <a:spcPts val="653"/>
              </a:spcAft>
              <a:buSzPct val="100000"/>
              <a:buChar char="•"/>
            </a:pPr>
            <a:r>
              <a:rPr lang="en-US" sz="1450" dirty="0">
                <a:solidFill>
                  <a:srgbClr val="1B2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Subir a GitHub archivos con contraseñas o claves.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548640" y="484632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0B122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4672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1463040" y="5001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SUGERIDO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463040" y="5276088"/>
            <a:ext cx="990569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“Estoy aprendiendo Git. Explicame con una analogía la diferencia entre el directorio de trabajo, el staging y un commit, y decime qué muestra git status en cada caso. No uses comandos avanzados como branch o rebase.”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Cierre de la clase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LLEVAR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0136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78308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módulo es un archivo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.py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reutilizable;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 trae con su prefijo.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9384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7556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biblioteca estándar ya resuelve matemática, azar y fechas: usala.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632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804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Refactorizar es ordenar sin cambiar el comportamiento, en pasos chicos.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7880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16052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Git: editás, preparás con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guardás la foto con </a:t>
            </a:r>
            <a:pPr algn="l" indent="0" marL="0">
              <a:buNone/>
            </a:pPr>
            <a:r>
              <a:rPr lang="en-US" sz="1700" dirty="0">
                <a:solidFill>
                  <a:srgbClr val="FFD4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971288"/>
            <a:ext cx="310896" cy="310896"/>
          </a:xfrm>
          <a:prstGeom prst="ellipse">
            <a:avLst/>
          </a:prstGeom>
          <a:solidFill>
            <a:srgbClr val="FFD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953000"/>
            <a:ext cx="5650992" cy="6096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buen mensaje de commit dice qué cambió y por qué.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086600" y="137160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7768" y="1517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🏠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15179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Tarea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0" y="1975104"/>
            <a:ext cx="41449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Tener un repositorio Git con los ejercicios de la Unidad 3, con al menos 5 commits de mensajes claros.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86600" y="2971800"/>
            <a:ext cx="4556455" cy="1600200"/>
          </a:xfrm>
          <a:prstGeom prst="roundRect">
            <a:avLst>
              <a:gd name="adj" fmla="val 5714"/>
            </a:avLst>
          </a:prstGeom>
          <a:solidFill>
            <a:srgbClr val="16213A"/>
          </a:solidFill>
          <a:ln w="9525">
            <a:solidFill>
              <a:srgbClr val="2A3A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87768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333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118104"/>
            <a:ext cx="3642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leer y repasar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575304"/>
            <a:ext cx="41449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para todos (R. González Duque): cap. 11 «Módulos y paquetes», pp. 71–76.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Git (git-scm.com/book/es): cap. 2 «Fundamentos de Git».</a:t>
            </a:r>
            <a:endParaRPr lang="en-US" sz="1000" dirty="0"/>
          </a:p>
          <a:p>
            <a:pPr algn="l" marL="203200" indent="-2032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Código: clase16_taller_modularizacion.py.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86600" y="4754880"/>
            <a:ext cx="4556455" cy="1417320"/>
          </a:xfrm>
          <a:prstGeom prst="roundRect">
            <a:avLst>
              <a:gd name="adj" fmla="val 6452"/>
            </a:avLst>
          </a:prstGeom>
          <a:solidFill>
            <a:srgbClr val="FFD4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60920" y="4901184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PRÓXIMA CLASE  ·  CLASE 10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5212080"/>
            <a:ext cx="4007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22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Cadenas de caracteres y procesamiento de texto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ISFD “Juan García de Cossio”  ·  TSDS  ·  Programación (1er año)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99855" y="6446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C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Clase 09  ·  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ISFD Juan García de Cossio · TSDS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09 - Módulos, biblioteca estándar y control de versiones con Git</dc:title>
  <dc:subject>PptxGenJS Presentation</dc:subject>
  <dc:creator>Prof. Ricardo Fernández</dc:creator>
  <cp:lastModifiedBy>Prof. Ricardo Fernández</cp:lastModifiedBy>
  <cp:revision>1</cp:revision>
  <dcterms:created xsi:type="dcterms:W3CDTF">2026-09-14T09:55:37Z</dcterms:created>
  <dcterms:modified xsi:type="dcterms:W3CDTF">2026-09-14T09:55:37Z</dcterms:modified>
</cp:coreProperties>
</file>